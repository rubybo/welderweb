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3" r:id="rId9"/>
    <p:sldId id="262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17" autoAdjust="0"/>
  </p:normalViewPr>
  <p:slideViewPr>
    <p:cSldViewPr>
      <p:cViewPr>
        <p:scale>
          <a:sx n="100" d="100"/>
          <a:sy n="100" d="100"/>
        </p:scale>
        <p:origin x="-516" y="1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4878-39EC-4F2C-86FF-DFEB459D50AA}" type="datetimeFigureOut">
              <a:rPr lang="ru-RU" smtClean="0"/>
              <a:pPr/>
              <a:t>26.05.2024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A5F04-70AF-4036-A351-8A0859AC58A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4878-39EC-4F2C-86FF-DFEB459D50AA}" type="datetimeFigureOut">
              <a:rPr lang="ru-RU" smtClean="0"/>
              <a:pPr/>
              <a:t>26.05.2024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A5F04-70AF-4036-A351-8A0859AC58A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4878-39EC-4F2C-86FF-DFEB459D50AA}" type="datetimeFigureOut">
              <a:rPr lang="ru-RU" smtClean="0"/>
              <a:pPr/>
              <a:t>26.05.2024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FBA5F04-70AF-4036-A351-8A0859AC58A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4878-39EC-4F2C-86FF-DFEB459D50AA}" type="datetimeFigureOut">
              <a:rPr lang="ru-RU" smtClean="0"/>
              <a:pPr/>
              <a:t>26.05.2024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A5F04-70AF-4036-A351-8A0859AC58A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4878-39EC-4F2C-86FF-DFEB459D50AA}" type="datetimeFigureOut">
              <a:rPr lang="ru-RU" smtClean="0"/>
              <a:pPr/>
              <a:t>26.05.2024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A5F04-70AF-4036-A351-8A0859AC58A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4878-39EC-4F2C-86FF-DFEB459D50AA}" type="datetimeFigureOut">
              <a:rPr lang="ru-RU" smtClean="0"/>
              <a:pPr/>
              <a:t>26.05.2024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A5F04-70AF-4036-A351-8A0859AC58A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4878-39EC-4F2C-86FF-DFEB459D50AA}" type="datetimeFigureOut">
              <a:rPr lang="ru-RU" smtClean="0"/>
              <a:pPr/>
              <a:t>26.05.2024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A5F04-70AF-4036-A351-8A0859AC58A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4878-39EC-4F2C-86FF-DFEB459D50AA}" type="datetimeFigureOut">
              <a:rPr lang="ru-RU" smtClean="0"/>
              <a:pPr/>
              <a:t>26.05.2024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A5F04-70AF-4036-A351-8A0859AC58A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4878-39EC-4F2C-86FF-DFEB459D50AA}" type="datetimeFigureOut">
              <a:rPr lang="ru-RU" smtClean="0"/>
              <a:pPr/>
              <a:t>26.05.2024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A5F04-70AF-4036-A351-8A0859AC58A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4878-39EC-4F2C-86FF-DFEB459D50AA}" type="datetimeFigureOut">
              <a:rPr lang="ru-RU" smtClean="0"/>
              <a:pPr/>
              <a:t>26.05.2024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A5F04-70AF-4036-A351-8A0859AC58A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14878-39EC-4F2C-86FF-DFEB459D50AA}" type="datetimeFigureOut">
              <a:rPr lang="ru-RU" smtClean="0"/>
              <a:pPr/>
              <a:t>26.05.2024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A5F04-70AF-4036-A351-8A0859AC58A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0514878-39EC-4F2C-86FF-DFEB459D50AA}" type="datetimeFigureOut">
              <a:rPr lang="ru-RU" smtClean="0"/>
              <a:pPr/>
              <a:t>26.05.2024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FBA5F04-70AF-4036-A351-8A0859AC58A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15616" y="2636912"/>
            <a:ext cx="7577558" cy="2088232"/>
          </a:xfrm>
          <a:ln>
            <a:solidFill>
              <a:schemeClr val="tx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r>
              <a:rPr lang="ru-RU" sz="4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Технология сварки под флюсом и оборудование для неё</a:t>
            </a:r>
            <a:endParaRPr lang="ru-RU" sz="4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363612" y="260648"/>
            <a:ext cx="648072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Сварка под флюсом </a:t>
            </a:r>
            <a:r>
              <a:rPr lang="ru-RU" sz="2000" b="1" i="1" dirty="0">
                <a:solidFill>
                  <a:srgbClr val="002060"/>
                </a:solidFill>
              </a:rPr>
              <a:t>– </a:t>
            </a:r>
            <a:r>
              <a:rPr lang="ru-RU" sz="2000" b="1" dirty="0">
                <a:solidFill>
                  <a:srgbClr val="002060"/>
                </a:solidFill>
              </a:rPr>
              <a:t>это дуговая сварка, при которой дуга горит под слоем </a:t>
            </a:r>
            <a:r>
              <a:rPr lang="ru-RU" sz="2000" b="1" dirty="0" smtClean="0">
                <a:solidFill>
                  <a:srgbClr val="002060"/>
                </a:solidFill>
              </a:rPr>
              <a:t>сварочного </a:t>
            </a:r>
            <a:r>
              <a:rPr lang="ru-RU" sz="2000" b="1" dirty="0">
                <a:solidFill>
                  <a:srgbClr val="002060"/>
                </a:solidFill>
              </a:rPr>
              <a:t>флюса, обеспечивающего защиту сварочной ванны от контакта с </a:t>
            </a:r>
            <a:r>
              <a:rPr lang="ru-RU" sz="2000" b="1" dirty="0" smtClean="0">
                <a:solidFill>
                  <a:srgbClr val="002060"/>
                </a:solidFill>
              </a:rPr>
              <a:t>воздухом</a:t>
            </a:r>
            <a:endParaRPr lang="ru-RU" sz="2000" b="1" dirty="0"/>
          </a:p>
        </p:txBody>
      </p:sp>
      <p:pic>
        <p:nvPicPr>
          <p:cNvPr id="1026" name="Picture 2" descr="http://atl-met.ru/sites/default/files/svarkaflus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995" y="1700808"/>
            <a:ext cx="4159109" cy="23394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028" name="Picture 4" descr="http://promsvarka.by/assets/gallery/STATYI/Submerged-Arc-Welding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797152"/>
            <a:ext cx="4547659" cy="17053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3" name="Прямоугольник 2"/>
          <p:cNvSpPr/>
          <p:nvPr/>
        </p:nvSpPr>
        <p:spPr>
          <a:xfrm>
            <a:off x="5747988" y="1844824"/>
            <a:ext cx="30963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Сварка под флюсом является одним из основных способов выполнения сварочных работ в промышленности и строительстве. </a:t>
            </a:r>
            <a:endParaRPr lang="ru-RU" dirty="0" smtClean="0">
              <a:solidFill>
                <a:srgbClr val="002060"/>
              </a:solidFill>
            </a:endParaRPr>
          </a:p>
          <a:p>
            <a:pPr algn="ctr"/>
            <a:r>
              <a:rPr lang="ru-RU" dirty="0">
                <a:solidFill>
                  <a:srgbClr val="002060"/>
                </a:solidFill>
              </a:rPr>
              <a:t>Она существенно  изменила технологию изготовления сварных изделий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71600" y="4759984"/>
            <a:ext cx="33478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Для получения качественных сварных швов взамен электродных покрытий применяют гранулированное вещество, называемое </a:t>
            </a:r>
            <a:r>
              <a:rPr lang="ru-RU" b="1" dirty="0">
                <a:solidFill>
                  <a:srgbClr val="FF0000"/>
                </a:solidFill>
              </a:rPr>
              <a:t>флюсом</a:t>
            </a:r>
          </a:p>
        </p:txBody>
      </p:sp>
    </p:spTree>
    <p:extLst>
      <p:ext uri="{BB962C8B-B14F-4D97-AF65-F5344CB8AC3E}">
        <p14:creationId xmlns:p14="http://schemas.microsoft.com/office/powerpoint/2010/main" val="2521128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7624" y="5013176"/>
            <a:ext cx="7844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i="1" dirty="0" smtClean="0">
                <a:solidFill>
                  <a:srgbClr val="002060"/>
                </a:solidFill>
              </a:rPr>
              <a:t> </a:t>
            </a:r>
            <a:r>
              <a:rPr lang="ru-RU" dirty="0" smtClean="0">
                <a:solidFill>
                  <a:srgbClr val="002060"/>
                </a:solidFill>
              </a:rPr>
              <a:t>Автоматическая сварка под флюсом производится при помощи автоматической установки ( сварочная головка или сварочный трактор ). Эта установка подает электродную проволоку и флюс в зону сварки, перемещает дугу вдоль свариваемого шва и поддерживает её горение</a:t>
            </a:r>
            <a:endParaRPr lang="ru-RU" i="1" dirty="0">
              <a:solidFill>
                <a:srgbClr val="00206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92906" y="188640"/>
            <a:ext cx="68042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002060"/>
                </a:solidFill>
              </a:rPr>
              <a:t>По </a:t>
            </a:r>
            <a:r>
              <a:rPr lang="ru-RU" sz="2000" dirty="0">
                <a:solidFill>
                  <a:srgbClr val="FF0000"/>
                </a:solidFill>
              </a:rPr>
              <a:t>степени механизации процесса </a:t>
            </a:r>
            <a:r>
              <a:rPr lang="ru-RU" sz="2000" dirty="0">
                <a:solidFill>
                  <a:srgbClr val="002060"/>
                </a:solidFill>
              </a:rPr>
              <a:t>различают:</a:t>
            </a:r>
          </a:p>
          <a:p>
            <a:pPr algn="ctr"/>
            <a:r>
              <a:rPr lang="ru-RU" sz="2000" dirty="0">
                <a:solidFill>
                  <a:srgbClr val="002060"/>
                </a:solidFill>
              </a:rPr>
              <a:t> - автоматическую сварку под флюсом;</a:t>
            </a:r>
          </a:p>
          <a:p>
            <a:pPr algn="ctr"/>
            <a:r>
              <a:rPr lang="ru-RU" sz="2000" dirty="0">
                <a:solidFill>
                  <a:srgbClr val="002060"/>
                </a:solidFill>
              </a:rPr>
              <a:t> - механизированную сварку под флюсом.</a:t>
            </a:r>
            <a:endParaRPr lang="ru-RU" sz="2000" dirty="0"/>
          </a:p>
        </p:txBody>
      </p:sp>
      <p:pic>
        <p:nvPicPr>
          <p:cNvPr id="2050" name="Picture 2" descr="http://camcebemacter.ru/wp-content/uploads/2016/10/Flu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141" y="1052736"/>
            <a:ext cx="4118447" cy="29405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stroy-plys.ru/uploads/posts/2015-02/thumbs/1423066780_svarka-pod-flyusom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52" y="1988840"/>
            <a:ext cx="4032447" cy="30243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57290" y="5857892"/>
            <a:ext cx="678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Принципиальная схема автоматической сварки под флюсом</a:t>
            </a:r>
            <a:endParaRPr lang="ru-RU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 descr="http://stolz.su/images/industrix/spravka/spravka-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10" y="476672"/>
            <a:ext cx="8060137" cy="51152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71604" y="142852"/>
            <a:ext cx="67151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Преимущества автоматической сварки под флюсом: </a:t>
            </a:r>
            <a:endParaRPr lang="ru-RU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57290" y="1142984"/>
            <a:ext cx="71683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 Высокая производительность, превышающая ручную сварку в 5-10 раз.</a:t>
            </a:r>
          </a:p>
          <a:p>
            <a:pPr algn="just"/>
            <a:r>
              <a:rPr lang="ru-RU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ru-RU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 Высокое </a:t>
            </a:r>
            <a:r>
              <a:rPr lang="ru-RU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качество сварного шва вследствие защиты металла сварочной ванны расплавленным шлаком от кислорода и азота </a:t>
            </a:r>
            <a:r>
              <a:rPr lang="ru-RU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воздуха</a:t>
            </a:r>
          </a:p>
          <a:p>
            <a:pPr algn="just"/>
            <a:r>
              <a:rPr lang="ru-RU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 Экономия </a:t>
            </a:r>
            <a:r>
              <a:rPr lang="ru-RU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электроэнергии за счет более полного использования </a:t>
            </a:r>
            <a:r>
              <a:rPr lang="ru-RU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теплоты дуги </a:t>
            </a:r>
            <a:r>
              <a:rPr lang="ru-RU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 сравнению с ручной сваркой. </a:t>
            </a:r>
            <a:r>
              <a:rPr lang="ru-RU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just"/>
            <a:r>
              <a:rPr lang="ru-RU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  При автоматической сварке условия труда значительно лучше , чем  при ручной</a:t>
            </a:r>
            <a:endParaRPr lang="ru-RU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28794" y="4572008"/>
            <a:ext cx="60205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 smtClean="0">
                <a:solidFill>
                  <a:srgbClr val="FF0000"/>
                </a:solidFill>
              </a:rPr>
              <a:t>Недостатки автоматической сварки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00166" y="5143512"/>
            <a:ext cx="69294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Ограниченная маневренность сварочных автоматов.</a:t>
            </a:r>
            <a:br>
              <a:rPr lang="ru-RU" sz="2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sz="2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Производство сварки главным образом в нижнем положении.</a:t>
            </a:r>
            <a:endParaRPr lang="ru-RU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14480" y="214290"/>
            <a:ext cx="6851104" cy="1143000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FF0000"/>
                </a:solidFill>
                <a:latin typeface="+mn-lt"/>
              </a:rPr>
              <a:t>Оборудование для автоматической сварки</a:t>
            </a:r>
            <a:endParaRPr lang="ru-RU" sz="3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428736"/>
            <a:ext cx="7830612" cy="470916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sz="1400" dirty="0" smtClean="0">
                <a:solidFill>
                  <a:srgbClr val="002060"/>
                </a:solidFill>
              </a:rPr>
              <a:t/>
            </a:r>
            <a:br>
              <a:rPr lang="ru-RU" sz="1400" dirty="0" smtClean="0">
                <a:solidFill>
                  <a:srgbClr val="002060"/>
                </a:solidFill>
              </a:rPr>
            </a:br>
            <a:r>
              <a:rPr lang="ru-RU" sz="1800" dirty="0" smtClean="0">
                <a:solidFill>
                  <a:srgbClr val="002060"/>
                </a:solidFill>
              </a:rPr>
              <a:t>Применяются </a:t>
            </a:r>
            <a:r>
              <a:rPr lang="ru-RU" sz="1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два вида автоматического оборудования</a:t>
            </a:r>
            <a:r>
              <a:rPr lang="ru-RU" sz="1800" dirty="0" smtClean="0">
                <a:solidFill>
                  <a:srgbClr val="002060"/>
                </a:solidFill>
              </a:rPr>
              <a:t>: подвесные (неподвижные и самоходные) головки и сварочные тракторы. </a:t>
            </a:r>
          </a:p>
          <a:p>
            <a:pPr algn="just"/>
            <a:r>
              <a:rPr lang="ru-RU" sz="1800" dirty="0" smtClean="0">
                <a:solidFill>
                  <a:srgbClr val="002060"/>
                </a:solidFill>
              </a:rPr>
              <a:t>Они производят следующие операции: возбуждение дуги, непрерывную подачу в зону дуги электродной проволоки и флюса в процессе сварки, перемещение сварочной дуги вдоль свариваемого шва, гашение дуги в конце сварки</a:t>
            </a:r>
          </a:p>
          <a:p>
            <a:pPr algn="just"/>
            <a:r>
              <a:rPr lang="ru-RU" sz="1800" dirty="0" smtClean="0">
                <a:solidFill>
                  <a:srgbClr val="002060"/>
                </a:solidFill>
              </a:rPr>
              <a:t/>
            </a:r>
            <a:br>
              <a:rPr lang="ru-RU" sz="1800" dirty="0" smtClean="0">
                <a:solidFill>
                  <a:srgbClr val="002060"/>
                </a:solidFill>
              </a:rPr>
            </a:br>
            <a:r>
              <a:rPr lang="ru-RU" sz="1800" dirty="0" smtClean="0">
                <a:solidFill>
                  <a:srgbClr val="002060"/>
                </a:solidFill>
              </a:rPr>
              <a:t/>
            </a:r>
            <a:br>
              <a:rPr lang="ru-RU" sz="1800" dirty="0" smtClean="0">
                <a:solidFill>
                  <a:srgbClr val="002060"/>
                </a:solidFill>
              </a:rPr>
            </a:br>
            <a:r>
              <a:rPr lang="ru-RU" sz="1800" b="1" dirty="0" smtClean="0">
                <a:solidFill>
                  <a:srgbClr val="002060"/>
                </a:solidFill>
              </a:rPr>
              <a:t>К автоматам с переменной скоростью подачи</a:t>
            </a:r>
            <a:r>
              <a:rPr lang="ru-RU" sz="1800" dirty="0" smtClean="0">
                <a:solidFill>
                  <a:srgbClr val="002060"/>
                </a:solidFill>
              </a:rPr>
              <a:t>, у которых скорость подачи электродной проволоки плавно изменяется в зависимости от напряжения сварочной дуги, относится трактор </a:t>
            </a:r>
            <a:r>
              <a:rPr lang="ru-RU" sz="1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типа АДС-1000-2 завода «Электрик»</a:t>
            </a:r>
            <a:r>
              <a:rPr lang="ru-RU" sz="1800" dirty="0" smtClean="0">
                <a:solidFill>
                  <a:srgbClr val="002060"/>
                </a:solidFill>
              </a:rPr>
              <a:t> (рисунок 1). </a:t>
            </a:r>
          </a:p>
          <a:p>
            <a:pPr algn="just"/>
            <a:r>
              <a:rPr lang="ru-RU" sz="1800" dirty="0" smtClean="0">
                <a:solidFill>
                  <a:srgbClr val="002060"/>
                </a:solidFill>
              </a:rPr>
              <a:t>Он имеет два двигателя для подачи проволоки и его передвижения, что усложняет и утяжеляет конструкцию, но делает ее более универсальной. Трактор АДС 1000-2 рассчитан на сварку электродной проволокой диаметром 3-6 мм силой Тока до 1200 А. Скорость сварки равна 15-70 м/ч. Применяется обычно для сварки под флюсом переменным током. В качестве источника питания может использоваться трансформатор ТСД-1000-3. Без флюса и электродной проволоки масса трактора около 60 кг.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hello_html_m274a55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332656"/>
            <a:ext cx="7397622" cy="47149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6171" y="5280010"/>
            <a:ext cx="794377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   Рисунок 1 -  Сварочный трактор АДС-1000-2: </a:t>
            </a:r>
            <a:br>
              <a:rPr lang="ru-RU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1400" dirty="0" smtClean="0">
                <a:solidFill>
                  <a:srgbClr val="002060"/>
                </a:solidFill>
              </a:rPr>
              <a:t>1 — самоходная каретка;</a:t>
            </a:r>
          </a:p>
          <a:p>
            <a:r>
              <a:rPr lang="ru-RU" sz="1400" dirty="0" smtClean="0">
                <a:solidFill>
                  <a:srgbClr val="002060"/>
                </a:solidFill>
              </a:rPr>
              <a:t>2 — электродвигатель для передвижения автомата; З — пульт управления с кассетой для проволоки; </a:t>
            </a:r>
            <a:br>
              <a:rPr lang="ru-RU" sz="1400" dirty="0" smtClean="0">
                <a:solidFill>
                  <a:srgbClr val="002060"/>
                </a:solidFill>
              </a:rPr>
            </a:br>
            <a:r>
              <a:rPr lang="ru-RU" sz="1400" dirty="0" smtClean="0">
                <a:solidFill>
                  <a:srgbClr val="002060"/>
                </a:solidFill>
              </a:rPr>
              <a:t>4 — электродная проволока;  5 — электродвигатель механизма подачи проволоки; </a:t>
            </a:r>
            <a:br>
              <a:rPr lang="ru-RU" sz="1400" dirty="0" smtClean="0">
                <a:solidFill>
                  <a:srgbClr val="002060"/>
                </a:solidFill>
              </a:rPr>
            </a:br>
            <a:r>
              <a:rPr lang="ru-RU" sz="1400" dirty="0" smtClean="0">
                <a:solidFill>
                  <a:srgbClr val="002060"/>
                </a:solidFill>
              </a:rPr>
              <a:t>6 — бункер для флюса; 7— механизм подачи проволоки.</a:t>
            </a:r>
          </a:p>
          <a:p>
            <a:r>
              <a:rPr lang="ru-RU" sz="1400" dirty="0" smtClean="0">
                <a:solidFill>
                  <a:srgbClr val="002060"/>
                </a:solidFill>
              </a:rPr>
              <a:t/>
            </a:r>
            <a:br>
              <a:rPr lang="ru-RU" sz="1400" dirty="0" smtClean="0">
                <a:solidFill>
                  <a:srgbClr val="002060"/>
                </a:solidFill>
              </a:rPr>
            </a:br>
            <a:endParaRPr lang="ru-RU" sz="1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hello_html_1fc26e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53890"/>
            <a:ext cx="4000528" cy="58579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052" y="6143644"/>
            <a:ext cx="4366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Рисунок 2. Сварочный автомат типа АБС</a:t>
            </a:r>
            <a:endParaRPr lang="ru-RU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52688" y="332656"/>
            <a:ext cx="463979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002060"/>
                </a:solidFill>
              </a:rPr>
              <a:t>Автомат (рисунок 2) смонтирован из трех узлов (комплектов).</a:t>
            </a:r>
          </a:p>
          <a:p>
            <a:pPr algn="ctr"/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Комплект А </a:t>
            </a:r>
            <a:r>
              <a:rPr lang="ru-RU" dirty="0" smtClean="0">
                <a:solidFill>
                  <a:srgbClr val="002060"/>
                </a:solidFill>
              </a:rPr>
              <a:t>представляет собой подвесную сварочную головку, состоящую из подающего механизма </a:t>
            </a:r>
            <a:r>
              <a:rPr lang="ru-RU" i="1" dirty="0" smtClean="0">
                <a:solidFill>
                  <a:srgbClr val="002060"/>
                </a:solidFill>
              </a:rPr>
              <a:t>3 </a:t>
            </a:r>
            <a:r>
              <a:rPr lang="ru-RU" dirty="0" smtClean="0">
                <a:solidFill>
                  <a:srgbClr val="002060"/>
                </a:solidFill>
              </a:rPr>
              <a:t>, мундштука </a:t>
            </a:r>
            <a:r>
              <a:rPr lang="ru-RU" i="1" dirty="0" smtClean="0">
                <a:solidFill>
                  <a:srgbClr val="002060"/>
                </a:solidFill>
              </a:rPr>
              <a:t>1</a:t>
            </a:r>
            <a:r>
              <a:rPr lang="ru-RU" dirty="0" smtClean="0">
                <a:solidFill>
                  <a:srgbClr val="002060"/>
                </a:solidFill>
              </a:rPr>
              <a:t> с правильным устройством </a:t>
            </a:r>
            <a:r>
              <a:rPr lang="ru-RU" i="1" dirty="0" smtClean="0">
                <a:solidFill>
                  <a:srgbClr val="002060"/>
                </a:solidFill>
              </a:rPr>
              <a:t>2</a:t>
            </a:r>
            <a:r>
              <a:rPr lang="ru-RU" dirty="0" smtClean="0">
                <a:solidFill>
                  <a:srgbClr val="002060"/>
                </a:solidFill>
              </a:rPr>
              <a:t>, пульта управления </a:t>
            </a:r>
            <a:r>
              <a:rPr lang="ru-RU" i="1" dirty="0" smtClean="0">
                <a:solidFill>
                  <a:srgbClr val="002060"/>
                </a:solidFill>
              </a:rPr>
              <a:t>4</a:t>
            </a:r>
            <a:r>
              <a:rPr lang="ru-RU" dirty="0" smtClean="0">
                <a:solidFill>
                  <a:srgbClr val="002060"/>
                </a:solidFill>
              </a:rPr>
              <a:t> и механизма для направления движения головки по шву. Сменными шестернями механизма подачи регулируется скорость подачи проволоки в пределах 28,5-225 м/ч.</a:t>
            </a:r>
          </a:p>
          <a:p>
            <a:pPr algn="ctr"/>
            <a:r>
              <a:rPr lang="ru-RU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Комплект </a:t>
            </a:r>
            <a:r>
              <a:rPr lang="ru-RU" dirty="0" smtClean="0">
                <a:solidFill>
                  <a:srgbClr val="002060"/>
                </a:solidFill>
              </a:rPr>
              <a:t>Б состоит из подъемного механизма для подвески и вертикального подъема сварочной головки, </a:t>
            </a:r>
            <a:r>
              <a:rPr lang="ru-RU" dirty="0" err="1" smtClean="0">
                <a:solidFill>
                  <a:srgbClr val="002060"/>
                </a:solidFill>
              </a:rPr>
              <a:t>флюсоаппаратуры</a:t>
            </a:r>
            <a:r>
              <a:rPr lang="ru-RU" dirty="0" smtClean="0">
                <a:solidFill>
                  <a:srgbClr val="002060"/>
                </a:solidFill>
              </a:rPr>
              <a:t> </a:t>
            </a:r>
            <a:r>
              <a:rPr lang="ru-RU" i="1" dirty="0" smtClean="0">
                <a:solidFill>
                  <a:srgbClr val="002060"/>
                </a:solidFill>
              </a:rPr>
              <a:t>6 </a:t>
            </a:r>
            <a:r>
              <a:rPr lang="ru-RU" dirty="0" smtClean="0">
                <a:solidFill>
                  <a:srgbClr val="002060"/>
                </a:solidFill>
              </a:rPr>
              <a:t>и катушки </a:t>
            </a:r>
            <a:r>
              <a:rPr lang="ru-RU" i="1" dirty="0" smtClean="0">
                <a:solidFill>
                  <a:srgbClr val="002060"/>
                </a:solidFill>
              </a:rPr>
              <a:t>5</a:t>
            </a:r>
            <a:r>
              <a:rPr lang="ru-RU" dirty="0" smtClean="0">
                <a:solidFill>
                  <a:srgbClr val="002060"/>
                </a:solidFill>
              </a:rPr>
              <a:t> для электродной проволоки.</a:t>
            </a:r>
          </a:p>
          <a:p>
            <a:pPr algn="ctr"/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Комплект С </a:t>
            </a:r>
            <a:r>
              <a:rPr lang="ru-RU" dirty="0" smtClean="0">
                <a:solidFill>
                  <a:srgbClr val="002060"/>
                </a:solidFill>
              </a:rPr>
              <a:t>самоходная тележка велосипедного типа для передвижения автомата по двум швеллерам, лежащим в одной вертикальной плоскости.</a:t>
            </a:r>
            <a:endParaRPr lang="ru-RU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31640" y="1484784"/>
            <a:ext cx="76438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solidFill>
                  <a:srgbClr val="002060"/>
                </a:solidFill>
              </a:rPr>
              <a:t>Автомат снабжен шкафом управления, который может использоваться при сварке на переменном и постоянном токе.</a:t>
            </a:r>
          </a:p>
          <a:p>
            <a:pPr algn="ctr"/>
            <a:r>
              <a:rPr lang="ru-RU" sz="2400" dirty="0" smtClean="0">
                <a:solidFill>
                  <a:srgbClr val="002060"/>
                </a:solidFill>
              </a:rPr>
              <a:t/>
            </a:r>
            <a:br>
              <a:rPr lang="ru-RU" sz="2400" dirty="0" smtClean="0">
                <a:solidFill>
                  <a:srgbClr val="002060"/>
                </a:solidFill>
              </a:rPr>
            </a:br>
            <a:r>
              <a:rPr lang="ru-RU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Автомат АБС </a:t>
            </a:r>
            <a:r>
              <a:rPr lang="ru-RU" sz="2400" dirty="0" smtClean="0">
                <a:solidFill>
                  <a:srgbClr val="002060"/>
                </a:solidFill>
              </a:rPr>
              <a:t>может быть использован в различных вариантах. Например, при сварке кольцевых швов цилиндрических конструкций или наплавке тел вращения автомат может не перемещаться и потребность в узле С отпадает.</a:t>
            </a:r>
            <a:endParaRPr lang="ru-RU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_1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273993"/>
            <a:ext cx="5103483" cy="4419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576" y="5013176"/>
            <a:ext cx="82879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Рисунок 3 - Сварочный трактор ТС-17М</a:t>
            </a:r>
            <a:r>
              <a:rPr lang="ru-RU" sz="1600" dirty="0" smtClean="0">
                <a:solidFill>
                  <a:srgbClr val="002060"/>
                </a:solidFill>
              </a:rPr>
              <a:t>: </a:t>
            </a:r>
            <a:r>
              <a:rPr lang="ru-RU" sz="1600" dirty="0" smtClean="0">
                <a:solidFill>
                  <a:srgbClr val="FF0000"/>
                </a:solidFill>
              </a:rPr>
              <a:t>1</a:t>
            </a:r>
            <a:r>
              <a:rPr lang="ru-RU" sz="1600" dirty="0" smtClean="0">
                <a:solidFill>
                  <a:srgbClr val="002060"/>
                </a:solidFill>
              </a:rPr>
              <a:t> – направляющие колёса; </a:t>
            </a:r>
            <a:r>
              <a:rPr lang="ru-RU" sz="1600" dirty="0" smtClean="0">
                <a:solidFill>
                  <a:srgbClr val="FF0000"/>
                </a:solidFill>
              </a:rPr>
              <a:t>2</a:t>
            </a:r>
            <a:r>
              <a:rPr lang="ru-RU" sz="1600" dirty="0" smtClean="0">
                <a:solidFill>
                  <a:srgbClr val="002060"/>
                </a:solidFill>
              </a:rPr>
              <a:t> – электродвигатель для подачи электродной проволоки и передвижения трактора; </a:t>
            </a:r>
            <a:r>
              <a:rPr lang="ru-RU" sz="1600" dirty="0" smtClean="0">
                <a:solidFill>
                  <a:srgbClr val="FF0000"/>
                </a:solidFill>
              </a:rPr>
              <a:t>3</a:t>
            </a:r>
            <a:r>
              <a:rPr lang="ru-RU" sz="1600" dirty="0" smtClean="0">
                <a:solidFill>
                  <a:srgbClr val="002060"/>
                </a:solidFill>
              </a:rPr>
              <a:t> – ведущие колёса; </a:t>
            </a:r>
            <a:r>
              <a:rPr lang="ru-RU" sz="1600" dirty="0" smtClean="0">
                <a:solidFill>
                  <a:srgbClr val="FF0000"/>
                </a:solidFill>
              </a:rPr>
              <a:t>4</a:t>
            </a:r>
            <a:r>
              <a:rPr lang="ru-RU" sz="1600" dirty="0" smtClean="0">
                <a:solidFill>
                  <a:srgbClr val="002060"/>
                </a:solidFill>
              </a:rPr>
              <a:t> – пульт с кнопками управления; </a:t>
            </a:r>
            <a:r>
              <a:rPr lang="ru-RU" sz="1600" dirty="0" smtClean="0">
                <a:solidFill>
                  <a:srgbClr val="FF0000"/>
                </a:solidFill>
              </a:rPr>
              <a:t>5</a:t>
            </a:r>
            <a:r>
              <a:rPr lang="ru-RU" sz="1600" dirty="0" smtClean="0">
                <a:solidFill>
                  <a:srgbClr val="002060"/>
                </a:solidFill>
              </a:rPr>
              <a:t> – кассета с электродной проволокой; </a:t>
            </a:r>
            <a:r>
              <a:rPr lang="ru-RU" sz="1600" dirty="0" smtClean="0">
                <a:solidFill>
                  <a:srgbClr val="FF0000"/>
                </a:solidFill>
              </a:rPr>
              <a:t>6 </a:t>
            </a:r>
            <a:r>
              <a:rPr lang="ru-RU" sz="1600" dirty="0" smtClean="0">
                <a:solidFill>
                  <a:srgbClr val="002060"/>
                </a:solidFill>
              </a:rPr>
              <a:t>– электроизмерительный прибор; </a:t>
            </a:r>
            <a:r>
              <a:rPr lang="ru-RU" sz="1600" dirty="0" smtClean="0">
                <a:solidFill>
                  <a:srgbClr val="FF0000"/>
                </a:solidFill>
              </a:rPr>
              <a:t>7</a:t>
            </a:r>
            <a:r>
              <a:rPr lang="ru-RU" sz="1600" dirty="0" smtClean="0">
                <a:solidFill>
                  <a:srgbClr val="002060"/>
                </a:solidFill>
              </a:rPr>
              <a:t> – электродная проволока; </a:t>
            </a:r>
            <a:r>
              <a:rPr lang="ru-RU" sz="1600" dirty="0" smtClean="0">
                <a:solidFill>
                  <a:srgbClr val="FF0000"/>
                </a:solidFill>
              </a:rPr>
              <a:t>8</a:t>
            </a:r>
            <a:r>
              <a:rPr lang="ru-RU" sz="1600" dirty="0" smtClean="0">
                <a:solidFill>
                  <a:srgbClr val="002060"/>
                </a:solidFill>
              </a:rPr>
              <a:t> – бункер для флюса; </a:t>
            </a:r>
            <a:r>
              <a:rPr lang="ru-RU" sz="1600" dirty="0" smtClean="0">
                <a:solidFill>
                  <a:srgbClr val="FF0000"/>
                </a:solidFill>
              </a:rPr>
              <a:t>9</a:t>
            </a:r>
            <a:r>
              <a:rPr lang="ru-RU" sz="1600" dirty="0" smtClean="0">
                <a:solidFill>
                  <a:srgbClr val="002060"/>
                </a:solidFill>
              </a:rPr>
              <a:t> – механизм подачи проволоки; </a:t>
            </a:r>
            <a:r>
              <a:rPr lang="ru-RU" sz="1600" dirty="0" smtClean="0">
                <a:solidFill>
                  <a:srgbClr val="FF0000"/>
                </a:solidFill>
              </a:rPr>
              <a:t>10</a:t>
            </a:r>
            <a:r>
              <a:rPr lang="ru-RU" sz="1600" dirty="0" smtClean="0">
                <a:solidFill>
                  <a:srgbClr val="002060"/>
                </a:solidFill>
              </a:rPr>
              <a:t> – мундштук. </a:t>
            </a:r>
            <a:endParaRPr lang="ru-RU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209249" y="116632"/>
            <a:ext cx="67860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Техническая характеристика сварочных тракторов</a:t>
            </a:r>
            <a:endParaRPr lang="ru-RU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472" y="5357826"/>
            <a:ext cx="7929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 smtClean="0">
                <a:solidFill>
                  <a:srgbClr val="002060"/>
                </a:solidFill>
              </a:rPr>
              <a:t>   Примечание. </a:t>
            </a:r>
            <a:r>
              <a:rPr lang="ru-RU" sz="1600" dirty="0" smtClean="0">
                <a:solidFill>
                  <a:srgbClr val="002060"/>
                </a:solidFill>
              </a:rPr>
              <a:t>За исключением автомата типа АДС-1000-2, все приведенные в </a:t>
            </a:r>
            <a:br>
              <a:rPr lang="ru-RU" sz="1600" dirty="0" smtClean="0">
                <a:solidFill>
                  <a:srgbClr val="002060"/>
                </a:solidFill>
              </a:rPr>
            </a:br>
            <a:r>
              <a:rPr lang="ru-RU" sz="1600" dirty="0" smtClean="0">
                <a:solidFill>
                  <a:srgbClr val="002060"/>
                </a:solidFill>
              </a:rPr>
              <a:t> таблице сварочные автоматы имеют постоянную скорость подачи электродной </a:t>
            </a:r>
            <a:br>
              <a:rPr lang="ru-RU" sz="1600" dirty="0" smtClean="0">
                <a:solidFill>
                  <a:srgbClr val="002060"/>
                </a:solidFill>
              </a:rPr>
            </a:br>
            <a:r>
              <a:rPr lang="ru-RU" sz="1600" dirty="0" smtClean="0">
                <a:solidFill>
                  <a:srgbClr val="002060"/>
                </a:solidFill>
              </a:rPr>
              <a:t>проволоки.</a:t>
            </a:r>
            <a:endParaRPr lang="ru-RU" sz="1600" b="1" dirty="0">
              <a:solidFill>
                <a:srgbClr val="002060"/>
              </a:solidFill>
            </a:endParaRPr>
          </a:p>
        </p:txBody>
      </p:sp>
      <p:pic>
        <p:nvPicPr>
          <p:cNvPr id="4098" name="Picture 2" descr="http://stroim-domik.ru/new_site/img/3682742132/_123.png"/>
          <p:cNvPicPr>
            <a:picLocks noChangeAspect="1" noChangeArrowheads="1"/>
          </p:cNvPicPr>
          <p:nvPr/>
        </p:nvPicPr>
        <p:blipFill>
          <a:blip r:embed="rId3">
            <a:lum bright="-10000"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42" y="967772"/>
            <a:ext cx="7170287" cy="4252722"/>
          </a:xfrm>
          <a:prstGeom prst="rect">
            <a:avLst/>
          </a:prstGeom>
          <a:ln>
            <a:solidFill>
              <a:schemeClr val="bg1">
                <a:lumMod val="95000"/>
                <a:lumOff val="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hello_html_490bfd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836711"/>
            <a:ext cx="3163145" cy="4655939"/>
          </a:xfrm>
          <a:prstGeom prst="rect">
            <a:avLst/>
          </a:prstGeom>
        </p:spPr>
      </p:pic>
      <p:pic>
        <p:nvPicPr>
          <p:cNvPr id="3" name="Рисунок 2" descr="hello_html_e82a0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857" y="1614850"/>
            <a:ext cx="4001143" cy="20730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59632" y="5518973"/>
            <a:ext cx="3939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002060"/>
                </a:solidFill>
              </a:rPr>
              <a:t>Рисунок 4 - Стенд для сварки кольцевых швов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80112" y="3922762"/>
            <a:ext cx="3384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rgbClr val="002060"/>
                </a:solidFill>
              </a:rPr>
              <a:t>Рисунок 5 - </a:t>
            </a:r>
            <a:r>
              <a:rPr lang="ru-RU" dirty="0" err="1" smtClean="0">
                <a:solidFill>
                  <a:srgbClr val="002060"/>
                </a:solidFill>
              </a:rPr>
              <a:t>Флюсоременная</a:t>
            </a:r>
            <a:r>
              <a:rPr lang="ru-RU" dirty="0" smtClean="0">
                <a:solidFill>
                  <a:srgbClr val="002060"/>
                </a:solidFill>
              </a:rPr>
              <a:t> подушка </a:t>
            </a:r>
            <a:r>
              <a:rPr lang="ru-RU" b="1" dirty="0" smtClean="0">
                <a:solidFill>
                  <a:srgbClr val="002060"/>
                </a:solidFill>
              </a:rPr>
              <a:t> </a:t>
            </a:r>
            <a:endParaRPr lang="ru-RU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Официальная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211</TotalTime>
  <Words>317</Words>
  <Application>Microsoft Office PowerPoint</Application>
  <PresentationFormat>Экран (4:3)</PresentationFormat>
  <Paragraphs>37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Апекс</vt:lpstr>
      <vt:lpstr>Технология сварки под флюсом и оборудование для неё</vt:lpstr>
      <vt:lpstr>Презентация PowerPoint</vt:lpstr>
      <vt:lpstr>Презентация PowerPoint</vt:lpstr>
      <vt:lpstr>Презентация PowerPoint</vt:lpstr>
      <vt:lpstr>Презентация PowerPoint</vt:lpstr>
      <vt:lpstr>Оборудование для автоматической сварки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Vitaliy</dc:creator>
  <cp:lastModifiedBy>Владос савченко</cp:lastModifiedBy>
  <cp:revision>28</cp:revision>
  <dcterms:created xsi:type="dcterms:W3CDTF">2017-10-25T14:50:13Z</dcterms:created>
  <dcterms:modified xsi:type="dcterms:W3CDTF">2024-05-26T09:45:38Z</dcterms:modified>
</cp:coreProperties>
</file>