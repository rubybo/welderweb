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516" y="63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15" name="Date Placeholder 14"/>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6" name="Slide Number Placeholder 15"/>
          <p:cNvSpPr>
            <a:spLocks noGrp="1"/>
          </p:cNvSpPr>
          <p:nvPr>
            <p:ph type="sldNum" sz="quarter" idx="11"/>
          </p:nvPr>
        </p:nvSpPr>
        <p:spPr/>
        <p:txBody>
          <a:bodyPr/>
          <a:lstStyle/>
          <a:p>
            <a:fld id="{B19B0651-EE4F-4900-A07F-96A6BFA9D0F0}" type="slidenum">
              <a:rPr lang="ru-RU" smtClean="0"/>
              <a:pPr/>
              <a:t>‹#›</a:t>
            </a:fld>
            <a:endParaRPr lang="ru-RU"/>
          </a:p>
        </p:txBody>
      </p:sp>
      <p:sp>
        <p:nvSpPr>
          <p:cNvPr id="17" name="Footer Placeholder 16"/>
          <p:cNvSpPr>
            <a:spLocks noGrp="1"/>
          </p:cNvSpPr>
          <p:nvPr>
            <p:ph type="ftr" sz="quarter" idx="12"/>
          </p:nvPr>
        </p:nvSpPr>
        <p:spPr/>
        <p:txBody>
          <a:bodyPr/>
          <a:lstStyle/>
          <a:p>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3" name="Title 12"/>
          <p:cNvSpPr>
            <a:spLocks noGrp="1"/>
          </p:cNvSpPr>
          <p:nvPr>
            <p:ph type="title"/>
          </p:nvPr>
        </p:nvSpPr>
        <p:spPr/>
        <p:txBody>
          <a:bodyPr/>
          <a:lstStyle/>
          <a:p>
            <a:r>
              <a:rPr lang="ru-RU" smtClean="0"/>
              <a:t>Образец заголовка</a:t>
            </a:r>
            <a:endParaRPr lang="en-US"/>
          </a:p>
        </p:txBody>
      </p:sp>
      <p:sp>
        <p:nvSpPr>
          <p:cNvPr id="14" name="Date Placeholder 13"/>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5" name="Slide Number Placeholder 14"/>
          <p:cNvSpPr>
            <a:spLocks noGrp="1"/>
          </p:cNvSpPr>
          <p:nvPr>
            <p:ph type="sldNum" sz="quarter" idx="11"/>
          </p:nvPr>
        </p:nvSpPr>
        <p:spPr/>
        <p:txBody>
          <a:bodyPr/>
          <a:lstStyle/>
          <a:p>
            <a:fld id="{B19B0651-EE4F-4900-A07F-96A6BFA9D0F0}" type="slidenum">
              <a:rPr lang="ru-RU" smtClean="0"/>
              <a:pPr/>
              <a:t>‹#›</a:t>
            </a:fld>
            <a:endParaRPr lang="ru-RU"/>
          </a:p>
        </p:txBody>
      </p:sp>
      <p:sp>
        <p:nvSpPr>
          <p:cNvPr id="16" name="Footer Placeholder 15"/>
          <p:cNvSpPr>
            <a:spLocks noGrp="1"/>
          </p:cNvSpPr>
          <p:nvPr>
            <p:ph type="ftr" sz="quarter" idx="12"/>
          </p:nvPr>
        </p:nvSpPr>
        <p:spPr/>
        <p:txBody>
          <a:bodyPr/>
          <a:lstStyle/>
          <a:p>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12" name="Date Placeholder 11"/>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3" name="Slide Number Placeholder 12"/>
          <p:cNvSpPr>
            <a:spLocks noGrp="1"/>
          </p:cNvSpPr>
          <p:nvPr>
            <p:ph type="sldNum" sz="quarter" idx="11"/>
          </p:nvPr>
        </p:nvSpPr>
        <p:spPr/>
        <p:txBody>
          <a:bodyPr/>
          <a:lstStyle/>
          <a:p>
            <a:fld id="{B19B0651-EE4F-4900-A07F-96A6BFA9D0F0}" type="slidenum">
              <a:rPr lang="ru-RU" smtClean="0"/>
              <a:pPr/>
              <a:t>‹#›</a:t>
            </a:fld>
            <a:endParaRPr lang="ru-RU"/>
          </a:p>
        </p:txBody>
      </p:sp>
      <p:sp>
        <p:nvSpPr>
          <p:cNvPr id="14" name="Footer Placeholder 13"/>
          <p:cNvSpPr>
            <a:spLocks noGrp="1"/>
          </p:cNvSpPr>
          <p:nvPr>
            <p:ph type="ftr" sz="quarter" idx="12"/>
          </p:nvPr>
        </p:nvSpPr>
        <p:spPr/>
        <p:txBody>
          <a:bodyPr/>
          <a:lstStyle/>
          <a:p>
            <a:endParaRPr lang="ru-RU"/>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ru-RU" smtClean="0"/>
              <a:t>Образец заголовка</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9" name="Slide Number Placeholder 8"/>
          <p:cNvSpPr>
            <a:spLocks noGrp="1"/>
          </p:cNvSpPr>
          <p:nvPr>
            <p:ph type="sldNum" sz="quarter" idx="11"/>
          </p:nvPr>
        </p:nvSpPr>
        <p:spPr/>
        <p:txBody>
          <a:bodyPr/>
          <a:lstStyle/>
          <a:p>
            <a:fld id="{B19B0651-EE4F-4900-A07F-96A6BFA9D0F0}" type="slidenum">
              <a:rPr lang="ru-RU" smtClean="0"/>
              <a:pPr/>
              <a:t>‹#›</a:t>
            </a:fld>
            <a:endParaRPr lang="ru-RU"/>
          </a:p>
        </p:txBody>
      </p:sp>
      <p:sp>
        <p:nvSpPr>
          <p:cNvPr id="10" name="Footer Placeholder 9"/>
          <p:cNvSpPr>
            <a:spLocks noGrp="1"/>
          </p:cNvSpPr>
          <p:nvPr>
            <p:ph type="ftr" sz="quarter" idx="12"/>
          </p:nvPr>
        </p:nvSpPr>
        <p:spPr/>
        <p:txBody>
          <a:bodyPr/>
          <a:lstStyle/>
          <a:p>
            <a:endParaRPr lang="ru-RU"/>
          </a:p>
        </p:txBody>
      </p:sp>
      <p:sp>
        <p:nvSpPr>
          <p:cNvPr id="11" name="Title 10"/>
          <p:cNvSpPr>
            <a:spLocks noGrp="1"/>
          </p:cNvSpPr>
          <p:nvPr>
            <p:ph type="title"/>
          </p:nvPr>
        </p:nvSpPr>
        <p:spPr/>
        <p:txBody>
          <a:bodyPr/>
          <a:lstStyle/>
          <a:p>
            <a:r>
              <a:rPr lang="ru-RU" smtClean="0"/>
              <a:t>Образец заголовка</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ru-RU" smtClean="0"/>
              <a:t>Образец заголовка</a:t>
            </a:r>
            <a:endParaRPr lang="en-US" dirty="0"/>
          </a:p>
        </p:txBody>
      </p:sp>
      <p:sp>
        <p:nvSpPr>
          <p:cNvPr id="14" name="Date Placeholder 13"/>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5" name="Slide Number Placeholder 14"/>
          <p:cNvSpPr>
            <a:spLocks noGrp="1"/>
          </p:cNvSpPr>
          <p:nvPr>
            <p:ph type="sldNum" sz="quarter" idx="11"/>
          </p:nvPr>
        </p:nvSpPr>
        <p:spPr/>
        <p:txBody>
          <a:bodyPr/>
          <a:lstStyle/>
          <a:p>
            <a:fld id="{B19B0651-EE4F-4900-A07F-96A6BFA9D0F0}" type="slidenum">
              <a:rPr lang="ru-RU" smtClean="0"/>
              <a:pPr/>
              <a:t>‹#›</a:t>
            </a:fld>
            <a:endParaRPr lang="ru-RU"/>
          </a:p>
        </p:txBody>
      </p:sp>
      <p:sp>
        <p:nvSpPr>
          <p:cNvPr id="16" name="Footer Placeholder 15"/>
          <p:cNvSpPr>
            <a:spLocks noGrp="1"/>
          </p:cNvSpPr>
          <p:nvPr>
            <p:ph type="ftr" sz="quarter" idx="12"/>
          </p:nvPr>
        </p:nvSpPr>
        <p:spPr/>
        <p:txBody>
          <a:bodyPr/>
          <a:lstStyle/>
          <a:p>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smtClean="0"/>
              <a:t>Образец заголовка</a:t>
            </a:r>
            <a:endParaRPr lang="en-US"/>
          </a:p>
        </p:txBody>
      </p:sp>
      <p:sp>
        <p:nvSpPr>
          <p:cNvPr id="7" name="Date Placeholder 6"/>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8" name="Slide Number Placeholder 7"/>
          <p:cNvSpPr>
            <a:spLocks noGrp="1"/>
          </p:cNvSpPr>
          <p:nvPr>
            <p:ph type="sldNum" sz="quarter" idx="11"/>
          </p:nvPr>
        </p:nvSpPr>
        <p:spPr/>
        <p:txBody>
          <a:bodyPr/>
          <a:lstStyle/>
          <a:p>
            <a:fld id="{B19B0651-EE4F-4900-A07F-96A6BFA9D0F0}" type="slidenum">
              <a:rPr lang="ru-RU" smtClean="0"/>
              <a:pPr/>
              <a:t>‹#›</a:t>
            </a:fld>
            <a:endParaRPr lang="ru-RU"/>
          </a:p>
        </p:txBody>
      </p:sp>
      <p:sp>
        <p:nvSpPr>
          <p:cNvPr id="9" name="Footer Placeholder 8"/>
          <p:cNvSpPr>
            <a:spLocks noGrp="1"/>
          </p:cNvSpPr>
          <p:nvPr>
            <p:ph type="ftr" sz="quarter" idx="12"/>
          </p:nvPr>
        </p:nvSpPr>
        <p:spPr/>
        <p:txBody>
          <a:bodyPr/>
          <a:lstStyle/>
          <a:p>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6" name="Slide Number Placeholder 5"/>
          <p:cNvSpPr>
            <a:spLocks noGrp="1"/>
          </p:cNvSpPr>
          <p:nvPr>
            <p:ph type="sldNum" sz="quarter" idx="11"/>
          </p:nvPr>
        </p:nvSpPr>
        <p:spPr/>
        <p:txBody>
          <a:bodyPr/>
          <a:lstStyle/>
          <a:p>
            <a:fld id="{B19B0651-EE4F-4900-A07F-96A6BFA9D0F0}" type="slidenum">
              <a:rPr lang="ru-RU" smtClean="0"/>
              <a:pPr/>
              <a:t>‹#›</a:t>
            </a:fld>
            <a:endParaRPr lang="ru-RU"/>
          </a:p>
        </p:txBody>
      </p:sp>
      <p:sp>
        <p:nvSpPr>
          <p:cNvPr id="7" name="Footer Placeholder 6"/>
          <p:cNvSpPr>
            <a:spLocks noGrp="1"/>
          </p:cNvSpPr>
          <p:nvPr>
            <p:ph type="ftr" sz="quarter" idx="12"/>
          </p:nvPr>
        </p:nvSpPr>
        <p:spPr/>
        <p:txBody>
          <a:bodyPr/>
          <a:lstStyle/>
          <a:p>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5" name="Date Placeholder 14"/>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6" name="Slide Number Placeholder 15"/>
          <p:cNvSpPr>
            <a:spLocks noGrp="1"/>
          </p:cNvSpPr>
          <p:nvPr>
            <p:ph type="sldNum" sz="quarter" idx="11"/>
          </p:nvPr>
        </p:nvSpPr>
        <p:spPr/>
        <p:txBody>
          <a:bodyPr/>
          <a:lstStyle/>
          <a:p>
            <a:fld id="{B19B0651-EE4F-4900-A07F-96A6BFA9D0F0}" type="slidenum">
              <a:rPr lang="ru-RU" smtClean="0"/>
              <a:pPr/>
              <a:t>‹#›</a:t>
            </a:fld>
            <a:endParaRPr lang="ru-RU"/>
          </a:p>
        </p:txBody>
      </p:sp>
      <p:sp>
        <p:nvSpPr>
          <p:cNvPr id="17" name="Footer Placeholder 16"/>
          <p:cNvSpPr>
            <a:spLocks noGrp="1"/>
          </p:cNvSpPr>
          <p:nvPr>
            <p:ph type="ftr" sz="quarter" idx="12"/>
          </p:nvPr>
        </p:nvSpPr>
        <p:spPr/>
        <p:txBody>
          <a:bodyPr/>
          <a:lstStyle/>
          <a:p>
            <a:endParaRPr lang="ru-RU"/>
          </a:p>
        </p:txBody>
      </p:sp>
      <p:sp>
        <p:nvSpPr>
          <p:cNvPr id="18" name="Title 17"/>
          <p:cNvSpPr>
            <a:spLocks noGrp="1"/>
          </p:cNvSpPr>
          <p:nvPr>
            <p:ph type="title"/>
          </p:nvPr>
        </p:nvSpPr>
        <p:spPr/>
        <p:txBody>
          <a:bodyPr/>
          <a:lstStyle/>
          <a:p>
            <a:r>
              <a:rPr lang="ru-RU" smtClean="0"/>
              <a:t>Образец заголовка</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ru-RU" smtClean="0"/>
              <a:t>Образец заголовка</a:t>
            </a:r>
            <a:endParaRPr lang="en-US"/>
          </a:p>
        </p:txBody>
      </p:sp>
      <p:sp>
        <p:nvSpPr>
          <p:cNvPr id="13" name="Date Placeholder 12"/>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14" name="Slide Number Placeholder 13"/>
          <p:cNvSpPr>
            <a:spLocks noGrp="1"/>
          </p:cNvSpPr>
          <p:nvPr>
            <p:ph type="sldNum" sz="quarter" idx="11"/>
          </p:nvPr>
        </p:nvSpPr>
        <p:spPr/>
        <p:txBody>
          <a:bodyPr/>
          <a:lstStyle/>
          <a:p>
            <a:fld id="{B19B0651-EE4F-4900-A07F-96A6BFA9D0F0}" type="slidenum">
              <a:rPr lang="ru-RU" smtClean="0"/>
              <a:pPr/>
              <a:t>‹#›</a:t>
            </a:fld>
            <a:endParaRPr lang="ru-RU"/>
          </a:p>
        </p:txBody>
      </p:sp>
      <p:sp>
        <p:nvSpPr>
          <p:cNvPr id="15" name="Footer Placeholder 14"/>
          <p:cNvSpPr>
            <a:spLocks noGrp="1"/>
          </p:cNvSpPr>
          <p:nvPr>
            <p:ph type="ftr" sz="quarter" idx="12"/>
          </p:nvPr>
        </p:nvSpPr>
        <p:spPr/>
        <p:txBody>
          <a:body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pPr/>
              <a:t>19.05.2024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B4C71EC6-210F-42DE-9C53-41977AD35B3D}" type="datetimeFigureOut">
              <a:rPr lang="ru-RU" smtClean="0"/>
              <a:pPr/>
              <a:t>19.05.2024</a:t>
            </a:fld>
            <a:endParaRPr lang="ru-RU"/>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ru-RU"/>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B19B0651-EE4F-4900-A07F-96A6BFA9D0F0}" type="slidenum">
              <a:rPr lang="ru-RU" smtClean="0"/>
              <a:pPr/>
              <a:t>‹#›</a:t>
            </a:fld>
            <a:endParaRPr lang="ru-RU"/>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romzn.ru/wp-content/uploads/2018/01/Svarka-latuni-argonom-shema-protsesa-e1517413315914.p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normAutofit/>
          </a:bodyPr>
          <a:lstStyle/>
          <a:p>
            <a:pPr marL="18288" indent="0" algn="ctr">
              <a:buNone/>
            </a:pPr>
            <a:r>
              <a:rPr lang="ru-RU" sz="3200" dirty="0">
                <a:effectLst/>
              </a:rPr>
              <a:t>Технология сварки цветных металлов</a:t>
            </a:r>
            <a:endParaRPr lang="ru-RU" sz="3200" dirty="0"/>
          </a:p>
        </p:txBody>
      </p:sp>
      <p:sp>
        <p:nvSpPr>
          <p:cNvPr id="3" name="Заголовок 2"/>
          <p:cNvSpPr>
            <a:spLocks noGrp="1"/>
          </p:cNvSpPr>
          <p:nvPr>
            <p:ph type="title"/>
          </p:nvPr>
        </p:nvSpPr>
        <p:spPr>
          <a:xfrm flipV="1">
            <a:off x="8275320" y="5791199"/>
            <a:ext cx="45719" cy="45719"/>
          </a:xfrm>
        </p:spPr>
        <p:txBody>
          <a:bodyPr/>
          <a:lstStyle/>
          <a:p>
            <a:endParaRPr lang="ru-RU" dirty="0"/>
          </a:p>
        </p:txBody>
      </p:sp>
    </p:spTree>
    <p:extLst>
      <p:ext uri="{BB962C8B-B14F-4D97-AF65-F5344CB8AC3E}">
        <p14:creationId xmlns:p14="http://schemas.microsoft.com/office/powerpoint/2010/main" val="1121587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4365103"/>
          </a:xfrm>
        </p:spPr>
        <p:txBody>
          <a:bodyPr>
            <a:normAutofit/>
          </a:bodyPr>
          <a:lstStyle/>
          <a:p>
            <a:pPr marL="18288" indent="0">
              <a:buNone/>
            </a:pPr>
            <a:r>
              <a:rPr lang="ru-RU" sz="2000" dirty="0">
                <a:effectLst/>
                <a:latin typeface="Times New Roman" pitchFamily="18" charset="0"/>
                <a:cs typeface="Times New Roman" pitchFamily="18" charset="0"/>
              </a:rPr>
              <a:t>Цветные металлы по физико-химическим свойствам классифицируют условно на пять групп:</a:t>
            </a:r>
          </a:p>
          <a:p>
            <a:pPr marL="475488" indent="-457200">
              <a:buFont typeface="+mj-lt"/>
              <a:buAutoNum type="arabicPeriod"/>
            </a:pPr>
            <a:r>
              <a:rPr lang="ru-RU" sz="2000" dirty="0" smtClean="0">
                <a:effectLst/>
                <a:latin typeface="Times New Roman" pitchFamily="18" charset="0"/>
                <a:cs typeface="Times New Roman" pitchFamily="18" charset="0"/>
              </a:rPr>
              <a:t>Тяжелые</a:t>
            </a:r>
            <a:r>
              <a:rPr lang="ru-RU" sz="2000" dirty="0">
                <a:effectLst/>
                <a:latin typeface="Times New Roman" pitchFamily="18" charset="0"/>
                <a:cs typeface="Times New Roman" pitchFamily="18" charset="0"/>
              </a:rPr>
              <a:t>: медь, никель, свинец, цинк, олово.</a:t>
            </a:r>
          </a:p>
          <a:p>
            <a:pPr marL="475488" indent="-457200">
              <a:buFont typeface="+mj-lt"/>
              <a:buAutoNum type="arabicPeriod"/>
            </a:pPr>
            <a:r>
              <a:rPr lang="ru-RU" sz="2000" dirty="0" smtClean="0">
                <a:effectLst/>
                <a:latin typeface="Times New Roman" pitchFamily="18" charset="0"/>
                <a:cs typeface="Times New Roman" pitchFamily="18" charset="0"/>
              </a:rPr>
              <a:t>Легкие</a:t>
            </a:r>
            <a:r>
              <a:rPr lang="ru-RU" sz="2000" dirty="0">
                <a:effectLst/>
                <a:latin typeface="Times New Roman" pitchFamily="18" charset="0"/>
                <a:cs typeface="Times New Roman" pitchFamily="18" charset="0"/>
              </a:rPr>
              <a:t>: алюминий, магний, литий, натрий, калий, бериллий, кальций, стронций, барий.</a:t>
            </a:r>
          </a:p>
          <a:p>
            <a:pPr marL="475488" indent="-457200">
              <a:buFont typeface="+mj-lt"/>
              <a:buAutoNum type="arabicPeriod"/>
            </a:pPr>
            <a:r>
              <a:rPr lang="ru-RU" sz="2000" dirty="0" smtClean="0">
                <a:effectLst/>
                <a:latin typeface="Times New Roman" pitchFamily="18" charset="0"/>
                <a:cs typeface="Times New Roman" pitchFamily="18" charset="0"/>
              </a:rPr>
              <a:t>Благородные</a:t>
            </a:r>
            <a:r>
              <a:rPr lang="ru-RU" sz="2000" dirty="0">
                <a:effectLst/>
                <a:latin typeface="Times New Roman" pitchFamily="18" charset="0"/>
                <a:cs typeface="Times New Roman" pitchFamily="18" charset="0"/>
              </a:rPr>
              <a:t>: золото, серебро, платина и ее спутники.</a:t>
            </a:r>
          </a:p>
          <a:p>
            <a:pPr marL="475488" indent="-457200">
              <a:buFont typeface="+mj-lt"/>
              <a:buAutoNum type="arabicPeriod"/>
            </a:pPr>
            <a:r>
              <a:rPr lang="ru-RU" sz="2000" dirty="0" smtClean="0">
                <a:effectLst/>
                <a:latin typeface="Times New Roman" pitchFamily="18" charset="0"/>
                <a:cs typeface="Times New Roman" pitchFamily="18" charset="0"/>
              </a:rPr>
              <a:t>Малые</a:t>
            </a:r>
            <a:r>
              <a:rPr lang="ru-RU" sz="2000" dirty="0">
                <a:effectLst/>
                <a:latin typeface="Times New Roman" pitchFamily="18" charset="0"/>
                <a:cs typeface="Times New Roman" pitchFamily="18" charset="0"/>
              </a:rPr>
              <a:t>: висмут, мышьяк, сурьма, кадмий, ртуть, кобальт.</a:t>
            </a:r>
          </a:p>
          <a:p>
            <a:pPr marL="475488" indent="-457200">
              <a:buFont typeface="+mj-lt"/>
              <a:buAutoNum type="arabicPeriod"/>
            </a:pPr>
            <a:r>
              <a:rPr lang="ru-RU" sz="2000" dirty="0" smtClean="0">
                <a:effectLst/>
                <a:latin typeface="Times New Roman" pitchFamily="18" charset="0"/>
                <a:cs typeface="Times New Roman" pitchFamily="18" charset="0"/>
              </a:rPr>
              <a:t>Редкие</a:t>
            </a:r>
            <a:r>
              <a:rPr lang="ru-RU" sz="2000" dirty="0">
                <a:effectLst/>
                <a:latin typeface="Times New Roman" pitchFamily="18" charset="0"/>
                <a:cs typeface="Times New Roman" pitchFamily="18" charset="0"/>
              </a:rPr>
              <a:t>. К этой группе в зависимости от технологических особенностей производства, содержания </a:t>
            </a:r>
            <a:r>
              <a:rPr lang="ru-RU" sz="2000" dirty="0" smtClean="0">
                <a:effectLst/>
                <a:latin typeface="Times New Roman" pitchFamily="18" charset="0"/>
                <a:cs typeface="Times New Roman" pitchFamily="18" charset="0"/>
              </a:rPr>
              <a:t>в рудах </a:t>
            </a:r>
            <a:r>
              <a:rPr lang="ru-RU" sz="2000" dirty="0">
                <a:effectLst/>
                <a:latin typeface="Times New Roman" pitchFamily="18" charset="0"/>
                <a:cs typeface="Times New Roman" pitchFamily="18" charset="0"/>
              </a:rPr>
              <a:t>и других свойств относят от 50 до 60 элементов.</a:t>
            </a:r>
          </a:p>
          <a:p>
            <a:endParaRPr lang="ru-RU" dirty="0"/>
          </a:p>
        </p:txBody>
      </p:sp>
      <p:pic>
        <p:nvPicPr>
          <p:cNvPr id="1026" name="Picture 2" descr="C:\Users\User\Desktop\unnam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573016"/>
            <a:ext cx="4772025"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904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lnSpcReduction="10000"/>
          </a:bodyPr>
          <a:lstStyle/>
          <a:p>
            <a:pPr marL="18288" indent="0">
              <a:buNone/>
            </a:pPr>
            <a:r>
              <a:rPr lang="ru-RU" sz="2200" dirty="0">
                <a:effectLst/>
                <a:latin typeface="Times New Roman" pitchFamily="18" charset="0"/>
                <a:cs typeface="Times New Roman" pitchFamily="18" charset="0"/>
              </a:rPr>
              <a:t>Редкие металлы распределяют на группы:</a:t>
            </a:r>
          </a:p>
          <a:p>
            <a:pPr marL="18288" indent="0">
              <a:buNone/>
            </a:pPr>
            <a:r>
              <a:rPr lang="ru-RU" sz="2200" dirty="0">
                <a:effectLst/>
                <a:latin typeface="Times New Roman" pitchFamily="18" charset="0"/>
                <a:cs typeface="Times New Roman" pitchFamily="18" charset="0"/>
              </a:rPr>
              <a:t>5.1. Легкие редкие металлы (литий, бериллий, рубидий, цезий) обладают малой плотностью —</a:t>
            </a:r>
          </a:p>
          <a:p>
            <a:pPr marL="18288" indent="0">
              <a:buNone/>
            </a:pPr>
            <a:r>
              <a:rPr lang="ru-RU" sz="2200" dirty="0">
                <a:effectLst/>
                <a:latin typeface="Times New Roman" pitchFamily="18" charset="0"/>
                <a:cs typeface="Times New Roman" pitchFamily="18" charset="0"/>
              </a:rPr>
              <a:t>до 2000 кг/м3. Их соединения отличаются высокой химической стойкостью и с трудом </a:t>
            </a:r>
            <a:r>
              <a:rPr lang="ru-RU" sz="2200" dirty="0" smtClean="0">
                <a:effectLst/>
                <a:latin typeface="Times New Roman" pitchFamily="18" charset="0"/>
                <a:cs typeface="Times New Roman" pitchFamily="18" charset="0"/>
              </a:rPr>
              <a:t>восстанавливаются  до </a:t>
            </a:r>
            <a:r>
              <a:rPr lang="ru-RU" sz="2200" dirty="0">
                <a:effectLst/>
                <a:latin typeface="Times New Roman" pitchFamily="18" charset="0"/>
                <a:cs typeface="Times New Roman" pitchFamily="18" charset="0"/>
              </a:rPr>
              <a:t>металла. Получают их электролизом в расплавленных средах или металлотермическими способами.</a:t>
            </a:r>
          </a:p>
          <a:p>
            <a:pPr marL="18288" indent="0">
              <a:buNone/>
            </a:pPr>
            <a:r>
              <a:rPr lang="ru-RU" sz="2200" dirty="0">
                <a:effectLst/>
                <a:latin typeface="Times New Roman" pitchFamily="18" charset="0"/>
                <a:cs typeface="Times New Roman" pitchFamily="18" charset="0"/>
              </a:rPr>
              <a:t>5.2. Тугоплавкие редкие металлы (титан, цирконий, ванадий, ниобий, тантал, </a:t>
            </a:r>
            <a:r>
              <a:rPr lang="ru-RU" sz="2200" dirty="0" smtClean="0">
                <a:effectLst/>
                <a:latin typeface="Times New Roman" pitchFamily="18" charset="0"/>
                <a:cs typeface="Times New Roman" pitchFamily="18" charset="0"/>
              </a:rPr>
              <a:t>вольфрам  молибден</a:t>
            </a:r>
            <a:r>
              <a:rPr lang="ru-RU" sz="2200" dirty="0">
                <a:effectLst/>
                <a:latin typeface="Times New Roman" pitchFamily="18" charset="0"/>
                <a:cs typeface="Times New Roman" pitchFamily="18" charset="0"/>
              </a:rPr>
              <a:t>). Температура плавления более 1873 К. Обладают высокими антикоррозионными свойствами.</a:t>
            </a:r>
          </a:p>
          <a:p>
            <a:pPr marL="18288" indent="0">
              <a:buNone/>
            </a:pPr>
            <a:r>
              <a:rPr lang="ru-RU" sz="2200" dirty="0">
                <a:effectLst/>
                <a:latin typeface="Times New Roman" pitchFamily="18" charset="0"/>
                <a:cs typeface="Times New Roman" pitchFamily="18" charset="0"/>
              </a:rPr>
              <a:t>Со многими металлами образуют твердые растворы и </a:t>
            </a:r>
            <a:r>
              <a:rPr lang="ru-RU" sz="2200" dirty="0" err="1">
                <a:effectLst/>
                <a:latin typeface="Times New Roman" pitchFamily="18" charset="0"/>
                <a:cs typeface="Times New Roman" pitchFamily="18" charset="0"/>
              </a:rPr>
              <a:t>интерметаллиды</a:t>
            </a:r>
            <a:r>
              <a:rPr lang="ru-RU" sz="2200" dirty="0">
                <a:effectLst/>
                <a:latin typeface="Times New Roman" pitchFamily="18" charset="0"/>
                <a:cs typeface="Times New Roman" pitchFamily="18" charset="0"/>
              </a:rPr>
              <a:t>.</a:t>
            </a:r>
          </a:p>
          <a:p>
            <a:pPr marL="18288" indent="0">
              <a:buNone/>
            </a:pPr>
            <a:r>
              <a:rPr lang="ru-RU" sz="2200" dirty="0">
                <a:effectLst/>
                <a:latin typeface="Times New Roman" pitchFamily="18" charset="0"/>
                <a:cs typeface="Times New Roman" pitchFamily="18" charset="0"/>
              </a:rPr>
              <a:t>5.3. Рассеянные редкие металлы (галлий, индий, таллий, германий, гафний, рений, </a:t>
            </a:r>
            <a:r>
              <a:rPr lang="ru-RU" sz="2200" dirty="0" smtClean="0">
                <a:effectLst/>
                <a:latin typeface="Times New Roman" pitchFamily="18" charset="0"/>
                <a:cs typeface="Times New Roman" pitchFamily="18" charset="0"/>
              </a:rPr>
              <a:t>селен   теллур</a:t>
            </a:r>
            <a:r>
              <a:rPr lang="ru-RU" sz="2200" dirty="0">
                <a:effectLst/>
                <a:latin typeface="Times New Roman" pitchFamily="18" charset="0"/>
                <a:cs typeface="Times New Roman" pitchFamily="18" charset="0"/>
              </a:rPr>
              <a:t>). Сырьем для их получения служат отходы производства основных цветных металлов, в </a:t>
            </a:r>
            <a:r>
              <a:rPr lang="ru-RU" sz="2200" dirty="0" smtClean="0">
                <a:effectLst/>
                <a:latin typeface="Times New Roman" pitchFamily="18" charset="0"/>
                <a:cs typeface="Times New Roman" pitchFamily="18" charset="0"/>
              </a:rPr>
              <a:t>которых  концентрация </a:t>
            </a:r>
            <a:r>
              <a:rPr lang="ru-RU" sz="2200" dirty="0">
                <a:effectLst/>
                <a:latin typeface="Times New Roman" pitchFamily="18" charset="0"/>
                <a:cs typeface="Times New Roman" pitchFamily="18" charset="0"/>
              </a:rPr>
              <a:t>данных металлов в десятки раз превышает первоначальное содержание в руде.</a:t>
            </a:r>
          </a:p>
          <a:p>
            <a:pPr marL="18288" indent="0">
              <a:buNone/>
            </a:pPr>
            <a:r>
              <a:rPr lang="ru-RU" sz="2200" dirty="0">
                <a:effectLst/>
                <a:latin typeface="Times New Roman" pitchFamily="18" charset="0"/>
                <a:cs typeface="Times New Roman" pitchFamily="18" charset="0"/>
              </a:rPr>
              <a:t>5.4. Редкоземельные металлы (лантаноиды, скандий и иттрий).</a:t>
            </a:r>
          </a:p>
          <a:p>
            <a:pPr marL="18288" indent="0">
              <a:buNone/>
            </a:pPr>
            <a:r>
              <a:rPr lang="ru-RU" sz="2200" dirty="0">
                <a:effectLst/>
                <a:latin typeface="Times New Roman" pitchFamily="18" charset="0"/>
                <a:cs typeface="Times New Roman" pitchFamily="18" charset="0"/>
              </a:rPr>
              <a:t>5.5. Радиоактивные редкие металлы (радий, уран и другие элементы, встречающиеся </a:t>
            </a:r>
            <a:r>
              <a:rPr lang="ru-RU" sz="2200" dirty="0" smtClean="0">
                <a:effectLst/>
                <a:latin typeface="Times New Roman" pitchFamily="18" charset="0"/>
                <a:cs typeface="Times New Roman" pitchFamily="18" charset="0"/>
              </a:rPr>
              <a:t>в природе</a:t>
            </a:r>
            <a:r>
              <a:rPr lang="ru-RU" sz="2200" dirty="0">
                <a:effectLst/>
                <a:latin typeface="Times New Roman" pitchFamily="18" charset="0"/>
                <a:cs typeface="Times New Roman" pitchFamily="18" charset="0"/>
              </a:rPr>
              <a:t>, а также искусственные </a:t>
            </a:r>
            <a:r>
              <a:rPr lang="ru-RU" sz="2200" dirty="0" err="1">
                <a:effectLst/>
                <a:latin typeface="Times New Roman" pitchFamily="18" charset="0"/>
                <a:cs typeface="Times New Roman" pitchFamily="18" charset="0"/>
              </a:rPr>
              <a:t>заурановые</a:t>
            </a:r>
            <a:r>
              <a:rPr lang="ru-RU" sz="2200" dirty="0">
                <a:effectLst/>
                <a:latin typeface="Times New Roman" pitchFamily="18" charset="0"/>
                <a:cs typeface="Times New Roman" pitchFamily="18" charset="0"/>
              </a:rPr>
              <a:t> элементы — от плутония до </a:t>
            </a:r>
            <a:r>
              <a:rPr lang="ru-RU" sz="2200" dirty="0" err="1">
                <a:effectLst/>
                <a:latin typeface="Times New Roman" pitchFamily="18" charset="0"/>
                <a:cs typeface="Times New Roman" pitchFamily="18" charset="0"/>
              </a:rPr>
              <a:t>курчатовия</a:t>
            </a:r>
            <a:r>
              <a:rPr lang="ru-RU" sz="2200" dirty="0">
                <a:effectLst/>
                <a:latin typeface="Times New Roman" pitchFamily="18" charset="0"/>
                <a:cs typeface="Times New Roman" pitchFamily="18" charset="0"/>
              </a:rPr>
              <a:t>).</a:t>
            </a:r>
          </a:p>
          <a:p>
            <a:pPr marL="18288" indent="0">
              <a:buNone/>
            </a:pPr>
            <a:endParaRPr lang="ru-RU" dirty="0"/>
          </a:p>
        </p:txBody>
      </p:sp>
    </p:spTree>
    <p:extLst>
      <p:ext uri="{BB962C8B-B14F-4D97-AF65-F5344CB8AC3E}">
        <p14:creationId xmlns:p14="http://schemas.microsoft.com/office/powerpoint/2010/main" val="328927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lstStyle/>
          <a:p>
            <a:pPr marL="18288" indent="0">
              <a:buNone/>
            </a:pPr>
            <a:r>
              <a:rPr lang="ru-RU" sz="2000" dirty="0" smtClean="0">
                <a:latin typeface="Times New Roman" pitchFamily="18" charset="0"/>
                <a:cs typeface="Times New Roman" pitchFamily="18" charset="0"/>
              </a:rPr>
              <a:t>Сначала разберём технологию сварки бронзы.</a:t>
            </a:r>
          </a:p>
          <a:p>
            <a:pPr marL="18288" indent="0">
              <a:buNone/>
            </a:pPr>
            <a:r>
              <a:rPr lang="ru-RU" sz="2000" dirty="0" smtClean="0">
                <a:effectLst/>
                <a:latin typeface="Times New Roman" pitchFamily="18" charset="0"/>
                <a:cs typeface="Times New Roman" pitchFamily="18" charset="0"/>
              </a:rPr>
              <a:t>Бронза </a:t>
            </a:r>
            <a:r>
              <a:rPr lang="ru-RU" sz="2000" dirty="0">
                <a:effectLst/>
                <a:latin typeface="Times New Roman" pitchFamily="18" charset="0"/>
                <a:cs typeface="Times New Roman" pitchFamily="18" charset="0"/>
              </a:rPr>
              <a:t>среди материалов получила большую популярность. Но существенно портят всю картину сложности, возникающие во время проведения сварочных работ. Многие понимают, что бронза – это не химический элемент, а сплав, однако не каждый знает о том, что состав материала может быть различным.</a:t>
            </a:r>
          </a:p>
          <a:p>
            <a:pPr marL="18288" indent="0">
              <a:buNone/>
            </a:pPr>
            <a:r>
              <a:rPr lang="ru-RU" sz="2000" dirty="0">
                <a:effectLst/>
                <a:latin typeface="Times New Roman" pitchFamily="18" charset="0"/>
                <a:cs typeface="Times New Roman" pitchFamily="18" charset="0"/>
              </a:rPr>
              <a:t>В общем смысле под бронзами подразумевают сплавы меди, в которые добавлены такие легирующие элементы, как алюминий, олово, кремний или марганец.</a:t>
            </a:r>
          </a:p>
          <a:p>
            <a:pPr marL="18288" indent="0">
              <a:buNone/>
            </a:pPr>
            <a:r>
              <a:rPr lang="ru-RU" sz="2000" dirty="0">
                <a:effectLst/>
                <a:latin typeface="Times New Roman" pitchFamily="18" charset="0"/>
                <a:cs typeface="Times New Roman" pitchFamily="18" charset="0"/>
              </a:rPr>
              <a:t>Сразу отметим, что по ряду физических свойств бронза </a:t>
            </a:r>
            <a:r>
              <a:rPr lang="ru-RU" dirty="0" smtClean="0"/>
              <a:t>схожа с латунью</a:t>
            </a:r>
            <a:r>
              <a:rPr lang="ru-RU" sz="2000" dirty="0" smtClean="0">
                <a:effectLst/>
                <a:latin typeface="Times New Roman" pitchFamily="18" charset="0"/>
                <a:cs typeface="Times New Roman" pitchFamily="18" charset="0"/>
              </a:rPr>
              <a:t>. </a:t>
            </a:r>
            <a:r>
              <a:rPr lang="ru-RU" sz="2000" dirty="0">
                <a:effectLst/>
                <a:latin typeface="Times New Roman" pitchFamily="18" charset="0"/>
                <a:cs typeface="Times New Roman" pitchFamily="18" charset="0"/>
              </a:rPr>
              <a:t>В частности, для этих материалов определены идентичные способы сварки. В металлургии же существует четкое разделение сплавов. Если в качестве основного элемента используется медь с цинком, то образованный сплав называется латунью.</a:t>
            </a:r>
          </a:p>
          <a:p>
            <a:pPr marL="18288" indent="0">
              <a:buNone/>
            </a:pPr>
            <a:endParaRPr lang="ru-RU" sz="2000" dirty="0">
              <a:effectLst/>
              <a:latin typeface="Times New Roman" pitchFamily="18" charset="0"/>
              <a:cs typeface="Times New Roman" pitchFamily="18" charset="0"/>
            </a:endParaRPr>
          </a:p>
          <a:p>
            <a:pPr marL="18288" indent="0">
              <a:buNone/>
            </a:pPr>
            <a:endParaRPr lang="ru-RU" sz="2000" dirty="0" smtClean="0">
              <a:effectLst/>
              <a:latin typeface="Times New Roman" pitchFamily="18" charset="0"/>
              <a:cs typeface="Times New Roman" pitchFamily="18" charset="0"/>
            </a:endParaRPr>
          </a:p>
          <a:p>
            <a:pPr marL="18288" indent="0">
              <a:buNone/>
            </a:pPr>
            <a:endParaRPr lang="ru-RU" sz="2000" dirty="0">
              <a:effectLst/>
              <a:latin typeface="Times New Roman" pitchFamily="18" charset="0"/>
              <a:cs typeface="Times New Roman" pitchFamily="18" charset="0"/>
            </a:endParaRPr>
          </a:p>
          <a:p>
            <a:pPr marL="18288" indent="0">
              <a:buNone/>
            </a:pPr>
            <a:endParaRPr lang="ru-RU" sz="2000" dirty="0" smtClean="0">
              <a:effectLst/>
              <a:latin typeface="Times New Roman" pitchFamily="18" charset="0"/>
              <a:cs typeface="Times New Roman" pitchFamily="18" charset="0"/>
            </a:endParaRPr>
          </a:p>
          <a:p>
            <a:pPr marL="18288" indent="0">
              <a:buNone/>
            </a:pPr>
            <a:endParaRPr lang="ru-RU" sz="2000" dirty="0">
              <a:effectLst/>
              <a:latin typeface="Times New Roman" pitchFamily="18" charset="0"/>
              <a:cs typeface="Times New Roman" pitchFamily="18" charset="0"/>
            </a:endParaRPr>
          </a:p>
          <a:p>
            <a:pPr marL="18288" indent="0">
              <a:buNone/>
            </a:pPr>
            <a:endParaRPr lang="ru-RU" dirty="0" smtClean="0"/>
          </a:p>
          <a:p>
            <a:pPr marL="18288" indent="0">
              <a:buNone/>
            </a:pPr>
            <a:endParaRPr lang="ru-RU" dirty="0"/>
          </a:p>
          <a:p>
            <a:pPr marL="18288" indent="0">
              <a:buNone/>
            </a:pPr>
            <a:endParaRPr lang="ru-R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3920" y="4005064"/>
            <a:ext cx="5943600"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247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0"/>
            <a:ext cx="9144000" cy="6857999"/>
          </a:xfrm>
        </p:spPr>
        <p:txBody>
          <a:bodyPr>
            <a:normAutofit/>
          </a:bodyPr>
          <a:lstStyle/>
          <a:p>
            <a:pPr marL="18288" indent="0">
              <a:buNone/>
            </a:pPr>
            <a:r>
              <a:rPr lang="ru-RU" sz="2000" dirty="0">
                <a:effectLst/>
                <a:latin typeface="Times New Roman" pitchFamily="18" charset="0"/>
                <a:cs typeface="Times New Roman" pitchFamily="18" charset="0"/>
              </a:rPr>
              <a:t>Виды бронзы определяются, в зависимости от того, какой элемент используется для легирования. В простейшей классификации бронзы можно разделить на оловянные и </a:t>
            </a:r>
            <a:r>
              <a:rPr lang="ru-RU" sz="2000" dirty="0" err="1">
                <a:effectLst/>
                <a:latin typeface="Times New Roman" pitchFamily="18" charset="0"/>
                <a:cs typeface="Times New Roman" pitchFamily="18" charset="0"/>
              </a:rPr>
              <a:t>безоловянные</a:t>
            </a:r>
            <a:r>
              <a:rPr lang="ru-RU" sz="2000" dirty="0">
                <a:effectLst/>
                <a:latin typeface="Times New Roman" pitchFamily="18" charset="0"/>
                <a:cs typeface="Times New Roman" pitchFamily="18" charset="0"/>
              </a:rPr>
              <a:t>. Оловянная бронза в своем составе, помимо меди и олова, может иметь никель, фосфор, цинк. Считается, что именно добавление в сплав олова делает его более качественным.</a:t>
            </a:r>
          </a:p>
          <a:p>
            <a:pPr marL="18288" indent="0">
              <a:buNone/>
            </a:pPr>
            <a:r>
              <a:rPr lang="ru-RU" sz="2000" dirty="0">
                <a:effectLst/>
                <a:latin typeface="Times New Roman" pitchFamily="18" charset="0"/>
                <a:cs typeface="Times New Roman" pitchFamily="18" charset="0"/>
              </a:rPr>
              <a:t>Существуют особенности, характерные для любого сплава, содержащего медь. Об этих особенностях сварщик обязан знать, ведь он в обязательном порядке столкнется с определенными сложностями. Наличие в сплаве меди определяет его физические свойства. Теплопроводность бронзы, как и латуни, достаточно высокая, вследствие этого приходится учитывать интенсивную отдачу тепла. Быстрая кристаллизация сопровождается образованием трещин. Здесь оказывает влияние еще один фактор – высокий коэффициент теплового расширения. При кристаллизации металла происходит его «стягивание», в результате чего возникают внутренние напряжения.</a:t>
            </a:r>
          </a:p>
          <a:p>
            <a:pPr marL="18288" indent="0">
              <a:buNone/>
            </a:pPr>
            <a:r>
              <a:rPr lang="ru-RU" sz="2000" dirty="0">
                <a:effectLst/>
                <a:latin typeface="Times New Roman" pitchFamily="18" charset="0"/>
                <a:cs typeface="Times New Roman" pitchFamily="18" charset="0"/>
              </a:rPr>
              <a:t>Бронза широко применяется художниками и скульпторами при изготовлении бюстов или памятников. Из нее делают фурнитуру и элементы декора. Сварочные </a:t>
            </a:r>
            <a:r>
              <a:rPr lang="ru-RU" sz="2000" dirty="0" smtClean="0">
                <a:effectLst/>
                <a:latin typeface="Times New Roman" pitchFamily="18" charset="0"/>
                <a:cs typeface="Times New Roman" pitchFamily="18" charset="0"/>
              </a:rPr>
              <a:t>работы </a:t>
            </a:r>
            <a:r>
              <a:rPr lang="ru-RU" sz="2000" dirty="0">
                <a:effectLst/>
                <a:latin typeface="Times New Roman" pitchFamily="18" charset="0"/>
                <a:cs typeface="Times New Roman" pitchFamily="18" charset="0"/>
              </a:rPr>
              <a:t>должны обеспечивать не только надежное соединение, но и эстетический вид. Наличие в сплавах таких элементов, как цинк, олово или свинец во многом определяет особенности сварочных работ. </a:t>
            </a:r>
          </a:p>
          <a:p>
            <a:endParaRPr lang="ru-RU" dirty="0"/>
          </a:p>
        </p:txBody>
      </p:sp>
    </p:spTree>
    <p:extLst>
      <p:ext uri="{BB962C8B-B14F-4D97-AF65-F5344CB8AC3E}">
        <p14:creationId xmlns:p14="http://schemas.microsoft.com/office/powerpoint/2010/main" val="2797212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a:buNone/>
            </a:pPr>
            <a:r>
              <a:rPr lang="ru-RU" sz="2000" dirty="0" smtClean="0">
                <a:latin typeface="Times New Roman" pitchFamily="18" charset="0"/>
                <a:cs typeface="Times New Roman" pitchFamily="18" charset="0"/>
              </a:rPr>
              <a:t>Бронзу сваривают двумя видами сварки. </a:t>
            </a:r>
          </a:p>
          <a:p>
            <a:pPr marL="18288" indent="0">
              <a:buNone/>
            </a:pPr>
            <a:r>
              <a:rPr lang="ru-RU" sz="2000" b="1" dirty="0" smtClean="0">
                <a:effectLst/>
                <a:latin typeface="Times New Roman" pitchFamily="18" charset="0"/>
                <a:cs typeface="Times New Roman" pitchFamily="18" charset="0"/>
              </a:rPr>
              <a:t>1. Ручная </a:t>
            </a:r>
            <a:r>
              <a:rPr lang="ru-RU" sz="2000" b="1" dirty="0">
                <a:effectLst/>
                <a:latin typeface="Times New Roman" pitchFamily="18" charset="0"/>
                <a:cs typeface="Times New Roman" pitchFamily="18" charset="0"/>
              </a:rPr>
              <a:t>дуговая </a:t>
            </a:r>
            <a:r>
              <a:rPr lang="ru-RU" sz="2000" b="1" dirty="0" smtClean="0">
                <a:effectLst/>
                <a:latin typeface="Times New Roman" pitchFamily="18" charset="0"/>
                <a:cs typeface="Times New Roman" pitchFamily="18" charset="0"/>
              </a:rPr>
              <a:t>сварка</a:t>
            </a:r>
            <a:endParaRPr lang="ru-RU" sz="2000" dirty="0">
              <a:effectLst/>
              <a:latin typeface="Times New Roman" pitchFamily="18" charset="0"/>
              <a:cs typeface="Times New Roman" pitchFamily="18" charset="0"/>
            </a:endParaRPr>
          </a:p>
          <a:p>
            <a:pPr marL="18288" indent="0">
              <a:buNone/>
            </a:pPr>
            <a:r>
              <a:rPr lang="ru-RU" sz="2000" dirty="0">
                <a:effectLst/>
                <a:latin typeface="Times New Roman" pitchFamily="18" charset="0"/>
                <a:cs typeface="Times New Roman" pitchFamily="18" charset="0"/>
              </a:rPr>
              <a:t>Сварка бронзы чаще всего необходима при проведении ремонтных работ, исправлении брака или при наплавке. Можно применять предварительный подогрев детали до 350-450°C градусов, однако следует помнить, что при высокой температуре прочность бронзы снижается. Ручная дуговая сварка ведется в нижнем положении. В качестве расходного материала применяются металлические или угольные электроды.</a:t>
            </a:r>
          </a:p>
          <a:p>
            <a:pPr marL="18288" lvl="0" indent="0">
              <a:buNone/>
            </a:pPr>
            <a:r>
              <a:rPr lang="ru-RU" sz="2000" dirty="0">
                <a:effectLst/>
                <a:latin typeface="Times New Roman" pitchFamily="18" charset="0"/>
                <a:cs typeface="Times New Roman" pitchFamily="18" charset="0"/>
              </a:rPr>
              <a:t>При использовании металлического электрода выставляется </a:t>
            </a:r>
            <a:r>
              <a:rPr lang="ru-RU" sz="2000" dirty="0" smtClean="0">
                <a:effectLst/>
                <a:latin typeface="Times New Roman" pitchFamily="18" charset="0"/>
                <a:cs typeface="Times New Roman" pitchFamily="18" charset="0"/>
              </a:rPr>
              <a:t>постоянный </a:t>
            </a:r>
            <a:r>
              <a:rPr lang="ru-RU" sz="2000" dirty="0">
                <a:effectLst/>
                <a:latin typeface="Times New Roman" pitchFamily="18" charset="0"/>
                <a:cs typeface="Times New Roman" pitchFamily="18" charset="0"/>
              </a:rPr>
              <a:t>сварочный ток обратной полярности</a:t>
            </a:r>
            <a:r>
              <a:rPr lang="ru-RU" sz="2000" dirty="0" smtClean="0">
                <a:effectLst/>
                <a:latin typeface="Times New Roman" pitchFamily="18" charset="0"/>
                <a:cs typeface="Times New Roman" pitchFamily="18" charset="0"/>
              </a:rPr>
              <a:t>.</a:t>
            </a:r>
          </a:p>
          <a:p>
            <a:pPr marL="18288" indent="0">
              <a:buNone/>
            </a:pPr>
            <a:r>
              <a:rPr lang="ru-RU" sz="2000" dirty="0" smtClean="0">
                <a:effectLst/>
                <a:latin typeface="Times New Roman" pitchFamily="18" charset="0"/>
                <a:cs typeface="Times New Roman" pitchFamily="18" charset="0"/>
              </a:rPr>
              <a:t>2.</a:t>
            </a:r>
            <a:r>
              <a:rPr lang="ru-RU" sz="2000" b="1" dirty="0">
                <a:effectLst/>
                <a:latin typeface="Times New Roman" pitchFamily="18" charset="0"/>
                <a:cs typeface="Times New Roman" pitchFamily="18" charset="0"/>
              </a:rPr>
              <a:t> Аргонодуговая</a:t>
            </a:r>
          </a:p>
          <a:p>
            <a:pPr marL="18288" indent="0">
              <a:buNone/>
            </a:pPr>
            <a:r>
              <a:rPr lang="ru-RU" sz="2000" dirty="0">
                <a:effectLst/>
                <a:latin typeface="Times New Roman" pitchFamily="18" charset="0"/>
                <a:cs typeface="Times New Roman" pitchFamily="18" charset="0"/>
              </a:rPr>
              <a:t>Данный тип сварки принципиально схож с ручной дуговой сваркой. Отличие заключается лишь в том, что процесс происходит в среде защитного газа. Аргон тяжелее воздуха, поэтому он образует защитную зону, через которую к сварочной ванне не поступает атмосферный кислород. Аргонодуговая сварка может осуществляться неплавящимися вольфрамовыми электродами или плавящимися электродами, роль которых выполняют прутки.</a:t>
            </a:r>
          </a:p>
          <a:p>
            <a:pPr marL="18288" indent="0">
              <a:buNone/>
            </a:pPr>
            <a:r>
              <a:rPr lang="ru-RU" sz="2000" dirty="0">
                <a:effectLst/>
                <a:latin typeface="Times New Roman" pitchFamily="18" charset="0"/>
                <a:cs typeface="Times New Roman" pitchFamily="18" charset="0"/>
              </a:rPr>
              <a:t>Именно аргонодуговая сварка наиболее часто применяется при работе с бронзой и латунью. В особенности такое предпочтение отдается при толщине металла, превышающей 5 мм. Производительность сварки достаточно высокая, однако сам процесс требует от сварщика наличия определенной квалификации. </a:t>
            </a:r>
          </a:p>
        </p:txBody>
      </p:sp>
    </p:spTree>
    <p:extLst>
      <p:ext uri="{BB962C8B-B14F-4D97-AF65-F5344CB8AC3E}">
        <p14:creationId xmlns:p14="http://schemas.microsoft.com/office/powerpoint/2010/main" val="2366250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0"/>
            <a:ext cx="9144000" cy="6858000"/>
          </a:xfrm>
        </p:spPr>
        <p:txBody>
          <a:bodyPr>
            <a:normAutofit/>
          </a:bodyPr>
          <a:lstStyle/>
          <a:p>
            <a:pPr marL="18288" indent="0">
              <a:buNone/>
            </a:pPr>
            <a:r>
              <a:rPr lang="ru-RU" sz="2000" dirty="0" smtClean="0">
                <a:latin typeface="Times New Roman" pitchFamily="18" charset="0"/>
                <a:cs typeface="Times New Roman" pitchFamily="18" charset="0"/>
              </a:rPr>
              <a:t>Одной из других технологий сварки является сварка латуни.</a:t>
            </a:r>
          </a:p>
          <a:p>
            <a:pPr marL="18288" indent="0">
              <a:buNone/>
            </a:pPr>
            <a:r>
              <a:rPr lang="ru-RU" sz="2000" dirty="0">
                <a:effectLst/>
                <a:latin typeface="Times New Roman" pitchFamily="18" charset="0"/>
                <a:cs typeface="Times New Roman" pitchFamily="18" charset="0"/>
              </a:rPr>
              <a:t>Латунь представляет собой сплав </a:t>
            </a:r>
            <a:r>
              <a:rPr lang="ru-RU" sz="2000" dirty="0" smtClean="0">
                <a:effectLst/>
                <a:latin typeface="Times New Roman" pitchFamily="18" charset="0"/>
                <a:cs typeface="Times New Roman" pitchFamily="18" charset="0"/>
              </a:rPr>
              <a:t>меди</a:t>
            </a:r>
            <a:r>
              <a:rPr lang="ru-RU" sz="2000" dirty="0">
                <a:effectLst/>
                <a:latin typeface="Times New Roman" pitchFamily="18" charset="0"/>
                <a:cs typeface="Times New Roman" pitchFamily="18" charset="0"/>
              </a:rPr>
              <a:t> с легирующим компонентом – цинком. Активное испарение цинка при выполнении сварки латуни является причиной образования пор в сварном шве, что снижает качество соединения. В процессе работы в воздух выделяются ядовитые пары цинка, которые представляют опасность для человека. Чтобы обеспечить требуемую прочность соединения и избежать негативных последствий, необходимо соблюдать требования технологий создания сварных швов.</a:t>
            </a:r>
          </a:p>
          <a:p>
            <a:pPr marL="18288" indent="0" fontAlgn="base">
              <a:buNone/>
            </a:pPr>
            <a:r>
              <a:rPr lang="ru-RU" sz="2000" dirty="0">
                <a:effectLst/>
                <a:latin typeface="Times New Roman" pitchFamily="18" charset="0"/>
                <a:cs typeface="Times New Roman" pitchFamily="18" charset="0"/>
              </a:rPr>
              <a:t>В целом технология сварки медного сплава похожа на сваривание изделий из чистой меди. Выполнение соединения латунных изделий толщиной до 10 мм не требует предварительного подогрева элементов. При соединении более массивных деталей рекомендуется произвести местный подогрев до 350ºС.</a:t>
            </a:r>
          </a:p>
          <a:p>
            <a:pPr marL="18288" indent="0" fontAlgn="base">
              <a:buNone/>
            </a:pPr>
            <a:r>
              <a:rPr lang="ru-RU" sz="2000" dirty="0">
                <a:effectLst/>
                <a:latin typeface="Times New Roman" pitchFamily="18" charset="0"/>
                <a:cs typeface="Times New Roman" pitchFamily="18" charset="0"/>
              </a:rPr>
              <a:t>Изделия толщиной до 6 мм можно сваривать с зазором от 1 до 2 мм без подготовки специальных кромок. При большей толщине элементов необходима V-образная или X-образная разделка швов.</a:t>
            </a:r>
          </a:p>
          <a:p>
            <a:pPr marL="18288" indent="0" fontAlgn="base">
              <a:buNone/>
            </a:pPr>
            <a:r>
              <a:rPr lang="ru-RU" sz="2000" dirty="0">
                <a:effectLst/>
                <a:latin typeface="Times New Roman" pitchFamily="18" charset="0"/>
                <a:cs typeface="Times New Roman" pitchFamily="18" charset="0"/>
              </a:rPr>
              <a:t>Специалистами разработано несколько видов технологий эффективной сварки изделий и поверхностей из латуни. Конкретный вид выбирается в зависимости от наличия оборудования, источника электричества, условий проведения работ и требований к качеству сварного соединения.</a:t>
            </a:r>
          </a:p>
          <a:p>
            <a:pPr marL="18288" indent="0">
              <a:buNone/>
            </a:pPr>
            <a:endParaRPr lang="ru-RU" dirty="0" smtClean="0"/>
          </a:p>
        </p:txBody>
      </p:sp>
    </p:spTree>
    <p:extLst>
      <p:ext uri="{BB962C8B-B14F-4D97-AF65-F5344CB8AC3E}">
        <p14:creationId xmlns:p14="http://schemas.microsoft.com/office/powerpoint/2010/main" val="364899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fontAlgn="base">
              <a:buNone/>
            </a:pPr>
            <a:endParaRPr lang="ru-RU" dirty="0" smtClean="0">
              <a:effectLst/>
            </a:endParaRPr>
          </a:p>
          <a:p>
            <a:pPr marL="18288" indent="0" fontAlgn="base">
              <a:buNone/>
            </a:pPr>
            <a:r>
              <a:rPr lang="ru-RU" dirty="0" smtClean="0">
                <a:effectLst/>
              </a:rPr>
              <a:t>Дуговая </a:t>
            </a:r>
            <a:r>
              <a:rPr lang="ru-RU" dirty="0">
                <a:effectLst/>
              </a:rPr>
              <a:t>сварка латуни</a:t>
            </a:r>
          </a:p>
          <a:p>
            <a:pPr marL="18288" indent="0" fontAlgn="base">
              <a:buNone/>
            </a:pPr>
            <a:endParaRPr lang="ru-RU" dirty="0" smtClean="0">
              <a:effectLst/>
            </a:endParaRPr>
          </a:p>
          <a:p>
            <a:pPr marL="18288" indent="0" fontAlgn="base">
              <a:buNone/>
            </a:pPr>
            <a:endParaRPr lang="ru-RU" dirty="0">
              <a:effectLst/>
            </a:endParaRPr>
          </a:p>
          <a:p>
            <a:pPr marL="18288" indent="0" fontAlgn="base">
              <a:buNone/>
            </a:pPr>
            <a:endParaRPr lang="ru-RU" dirty="0" smtClean="0">
              <a:effectLst/>
            </a:endParaRPr>
          </a:p>
          <a:p>
            <a:pPr marL="18288" indent="0" fontAlgn="base">
              <a:buNone/>
            </a:pPr>
            <a:endParaRPr lang="ru-RU" dirty="0" smtClean="0">
              <a:effectLst/>
            </a:endParaRPr>
          </a:p>
          <a:p>
            <a:pPr marL="18288" indent="0" fontAlgn="base">
              <a:buNone/>
            </a:pPr>
            <a:endParaRPr lang="ru-RU" dirty="0">
              <a:effectLst/>
            </a:endParaRPr>
          </a:p>
          <a:p>
            <a:pPr marL="18288" indent="0" fontAlgn="base">
              <a:buNone/>
            </a:pPr>
            <a:endParaRPr lang="ru-RU" dirty="0" smtClean="0">
              <a:effectLst/>
            </a:endParaRPr>
          </a:p>
          <a:p>
            <a:pPr marL="18288" indent="0" fontAlgn="base">
              <a:buNone/>
            </a:pPr>
            <a:endParaRPr lang="ru-RU" dirty="0">
              <a:effectLst/>
            </a:endParaRPr>
          </a:p>
          <a:p>
            <a:pPr marL="18288" indent="0" fontAlgn="base">
              <a:buNone/>
            </a:pPr>
            <a:r>
              <a:rPr lang="ru-RU" dirty="0">
                <a:effectLst/>
              </a:rPr>
              <a:t>Схема дуговой сварки</a:t>
            </a:r>
          </a:p>
          <a:p>
            <a:pPr marL="18288" indent="0" fontAlgn="base">
              <a:buNone/>
            </a:pPr>
            <a:r>
              <a:rPr lang="ru-RU" dirty="0">
                <a:effectLst/>
              </a:rPr>
              <a:t>Для дуговой (электродуговой) сварки латуни применяется постоянный электрический ток, который вырабатывается источником большого тока при относительно невысоком напряжении. Напряжение подаётся на электрод и на соединяемую поверхность, в результате чего между ними возникает электрическая дуга.</a:t>
            </a:r>
          </a:p>
          <a:p>
            <a:pPr marL="18288" indent="0" fontAlgn="base">
              <a:buNone/>
            </a:pPr>
            <a:endParaRPr lang="ru-RU" dirty="0" smtClean="0">
              <a:effectLst/>
            </a:endParaRPr>
          </a:p>
          <a:p>
            <a:pPr marL="18288" indent="0" fontAlgn="base">
              <a:buNone/>
            </a:pPr>
            <a:endParaRPr lang="ru-RU" dirty="0">
              <a:effectLst/>
            </a:endParaRPr>
          </a:p>
          <a:p>
            <a:pPr marL="18288" indent="0" fontAlgn="base">
              <a:buNone/>
            </a:pPr>
            <a:endParaRPr lang="ru-RU" dirty="0" smtClean="0">
              <a:effectLst/>
            </a:endParaRPr>
          </a:p>
          <a:p>
            <a:pPr marL="18288" indent="0">
              <a:buNone/>
            </a:pPr>
            <a:endParaRPr lang="ru-R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3" y="836712"/>
            <a:ext cx="3632670"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393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0"/>
            <a:ext cx="9144000" cy="6858000"/>
          </a:xfrm>
        </p:spPr>
        <p:txBody>
          <a:bodyPr>
            <a:normAutofit/>
          </a:bodyPr>
          <a:lstStyle/>
          <a:p>
            <a:pPr marL="18288" indent="0" fontAlgn="base">
              <a:buNone/>
            </a:pPr>
            <a:r>
              <a:rPr lang="ru-RU" sz="2000" b="1" dirty="0" err="1">
                <a:effectLst/>
                <a:latin typeface="Times New Roman" pitchFamily="18" charset="0"/>
                <a:cs typeface="Times New Roman" pitchFamily="18" charset="0"/>
              </a:rPr>
              <a:t>Аргонная</a:t>
            </a:r>
            <a:r>
              <a:rPr lang="ru-RU" sz="2000" b="1" dirty="0">
                <a:effectLst/>
                <a:latin typeface="Times New Roman" pitchFamily="18" charset="0"/>
                <a:cs typeface="Times New Roman" pitchFamily="18" charset="0"/>
              </a:rPr>
              <a:t> сварка латуни</a:t>
            </a:r>
          </a:p>
          <a:p>
            <a:pPr marL="18288" indent="0" fontAlgn="base">
              <a:buNone/>
            </a:pPr>
            <a:r>
              <a:rPr lang="ru-RU" sz="2000" dirty="0" err="1">
                <a:effectLst/>
                <a:latin typeface="Times New Roman" pitchFamily="18" charset="0"/>
                <a:cs typeface="Times New Roman" pitchFamily="18" charset="0"/>
              </a:rPr>
              <a:t>Аргонная</a:t>
            </a:r>
            <a:r>
              <a:rPr lang="ru-RU" sz="2000" dirty="0">
                <a:effectLst/>
                <a:latin typeface="Times New Roman" pitchFamily="18" charset="0"/>
                <a:cs typeface="Times New Roman" pitchFamily="18" charset="0"/>
              </a:rPr>
              <a:t> сварка – это вид дуговой сварки в среде защитного газа аргона, поэтому она ещё называется аргонодуговой. Такая технология является самой распространённой, так как обеспечивает требуемое качество работ и позволяет сгладить нежелательные последствия. Сварочный процесс с использованием инертного газа предназначен для сварки толстых заготовок латуни</a:t>
            </a:r>
            <a:r>
              <a:rPr lang="ru-RU" sz="2000" dirty="0" smtClean="0">
                <a:effectLst/>
                <a:latin typeface="Times New Roman" pitchFamily="18" charset="0"/>
                <a:cs typeface="Times New Roman" pitchFamily="18" charset="0"/>
              </a:rPr>
              <a:t>.</a:t>
            </a:r>
          </a:p>
          <a:p>
            <a:pPr marL="18288" indent="0" fontAlgn="base">
              <a:buNone/>
            </a:pPr>
            <a:endParaRPr lang="ru-RU" sz="2000" dirty="0">
              <a:effectLst/>
              <a:latin typeface="Times New Roman" pitchFamily="18" charset="0"/>
              <a:cs typeface="Times New Roman" pitchFamily="18" charset="0"/>
            </a:endParaRPr>
          </a:p>
          <a:p>
            <a:pPr marL="18288" indent="0" fontAlgn="base">
              <a:buNone/>
            </a:pPr>
            <a:endParaRPr lang="ru-RU" sz="2000" dirty="0" smtClean="0">
              <a:effectLst/>
              <a:latin typeface="Times New Roman" pitchFamily="18" charset="0"/>
              <a:cs typeface="Times New Roman" pitchFamily="18" charset="0"/>
            </a:endParaRPr>
          </a:p>
          <a:p>
            <a:pPr marL="18288" indent="0" fontAlgn="base">
              <a:buNone/>
            </a:pPr>
            <a:endParaRPr lang="ru-RU" sz="2000" dirty="0">
              <a:effectLst/>
              <a:latin typeface="Times New Roman" pitchFamily="18" charset="0"/>
              <a:cs typeface="Times New Roman" pitchFamily="18" charset="0"/>
            </a:endParaRPr>
          </a:p>
          <a:p>
            <a:pPr marL="18288" indent="0" fontAlgn="base">
              <a:buNone/>
            </a:pPr>
            <a:endParaRPr lang="ru-RU" sz="2000" dirty="0" smtClean="0">
              <a:effectLst/>
              <a:latin typeface="Times New Roman" pitchFamily="18" charset="0"/>
              <a:cs typeface="Times New Roman" pitchFamily="18" charset="0"/>
            </a:endParaRPr>
          </a:p>
          <a:p>
            <a:pPr marL="18288" indent="0" fontAlgn="base">
              <a:buNone/>
            </a:pPr>
            <a:endParaRPr lang="ru-RU" sz="2000" dirty="0" smtClean="0">
              <a:effectLst/>
              <a:latin typeface="Times New Roman" pitchFamily="18" charset="0"/>
              <a:cs typeface="Times New Roman" pitchFamily="18" charset="0"/>
            </a:endParaRPr>
          </a:p>
          <a:p>
            <a:pPr marL="18288" indent="0" fontAlgn="base">
              <a:buNone/>
            </a:pPr>
            <a:endParaRPr lang="ru-RU" sz="2000" dirty="0">
              <a:effectLst/>
              <a:latin typeface="Times New Roman" pitchFamily="18" charset="0"/>
              <a:cs typeface="Times New Roman" pitchFamily="18" charset="0"/>
            </a:endParaRPr>
          </a:p>
          <a:p>
            <a:pPr marL="18288" indent="0" fontAlgn="base">
              <a:buNone/>
            </a:pPr>
            <a:r>
              <a:rPr lang="ru-RU" sz="2000" i="1" dirty="0">
                <a:effectLst/>
                <a:latin typeface="Times New Roman" pitchFamily="18" charset="0"/>
                <a:cs typeface="Times New Roman" pitchFamily="18" charset="0"/>
              </a:rPr>
              <a:t>Сварка латуни аргоном — схема процесса</a:t>
            </a:r>
            <a:endParaRPr lang="ru-RU" sz="2000" dirty="0">
              <a:effectLst/>
              <a:latin typeface="Times New Roman" pitchFamily="18" charset="0"/>
              <a:cs typeface="Times New Roman" pitchFamily="18" charset="0"/>
            </a:endParaRPr>
          </a:p>
          <a:p>
            <a:pPr marL="18288" indent="0" fontAlgn="base">
              <a:buNone/>
            </a:pPr>
            <a:r>
              <a:rPr lang="ru-RU" sz="2000" dirty="0">
                <a:effectLst/>
                <a:latin typeface="Times New Roman" pitchFamily="18" charset="0"/>
                <a:cs typeface="Times New Roman" pitchFamily="18" charset="0"/>
              </a:rPr>
              <a:t>Перед началом работы необходимо зачистить поверхности до металлического блеска. Для удаления окисления используется азотная кислота, затем изделие следует промыть и просушить.</a:t>
            </a:r>
          </a:p>
          <a:p>
            <a:pPr marL="18288" indent="0" fontAlgn="base">
              <a:buNone/>
            </a:pPr>
            <a:endParaRPr lang="ru-RU" sz="2000" dirty="0" smtClean="0">
              <a:effectLst/>
              <a:latin typeface="Times New Roman" pitchFamily="18" charset="0"/>
              <a:cs typeface="Times New Roman" pitchFamily="18" charset="0"/>
            </a:endParaRPr>
          </a:p>
          <a:p>
            <a:pPr marL="18288" indent="0" fontAlgn="base">
              <a:buNone/>
            </a:pPr>
            <a:endParaRPr lang="ru-RU" sz="2000" dirty="0">
              <a:effectLst/>
              <a:latin typeface="Times New Roman" pitchFamily="18" charset="0"/>
              <a:cs typeface="Times New Roman" pitchFamily="18" charset="0"/>
            </a:endParaRPr>
          </a:p>
          <a:p>
            <a:pPr marL="18288" indent="0" fontAlgn="base">
              <a:buNone/>
            </a:pPr>
            <a:endParaRPr lang="ru-RU" sz="2000" dirty="0">
              <a:effectLst/>
              <a:latin typeface="Times New Roman" pitchFamily="18" charset="0"/>
              <a:cs typeface="Times New Roman" pitchFamily="18" charset="0"/>
            </a:endParaRPr>
          </a:p>
          <a:p>
            <a:endParaRPr lang="ru-RU" dirty="0"/>
          </a:p>
        </p:txBody>
      </p:sp>
      <p:pic>
        <p:nvPicPr>
          <p:cNvPr id="4" name="Рисунок 3" descr="Сварка латуни аргоном - схема процесса">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4974" y="1988840"/>
            <a:ext cx="4032448" cy="1872208"/>
          </a:xfrm>
          <a:prstGeom prst="rect">
            <a:avLst/>
          </a:prstGeom>
          <a:noFill/>
          <a:ln>
            <a:noFill/>
          </a:ln>
        </p:spPr>
      </p:pic>
    </p:spTree>
    <p:extLst>
      <p:ext uri="{BB962C8B-B14F-4D97-AF65-F5344CB8AC3E}">
        <p14:creationId xmlns:p14="http://schemas.microsoft.com/office/powerpoint/2010/main" val="2353166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fontAlgn="base">
              <a:buNone/>
            </a:pPr>
            <a:r>
              <a:rPr lang="ru-RU" sz="2000" dirty="0">
                <a:effectLst/>
                <a:latin typeface="Times New Roman" pitchFamily="18" charset="0"/>
                <a:cs typeface="Times New Roman" pitchFamily="18" charset="0"/>
              </a:rPr>
              <a:t>Латунь сваривается посредством длинной электрической дуги отдельными валиками, так как сплошной метод может прожечь изделие насквозь. Для получения качественного шва напряжение дуги в сварочной зоне необходимо постепенно уменьшать.</a:t>
            </a:r>
          </a:p>
          <a:p>
            <a:pPr marL="18288" indent="0" fontAlgn="base">
              <a:buNone/>
            </a:pPr>
            <a:r>
              <a:rPr lang="ru-RU" sz="2000" dirty="0">
                <a:effectLst/>
                <a:latin typeface="Times New Roman" pitchFamily="18" charset="0"/>
                <a:cs typeface="Times New Roman" pitchFamily="18" charset="0"/>
              </a:rPr>
              <a:t>Для технологии аргонодуговой сварки используют как плавящиеся, так и неплавящиеся электроды. В качестве неплавящегося элемента обычно применяется вольфрамовый электрод. Подходящим присадочным материалом является бронзовый или фосфорный пруток. Присадочная проволока заделывается в шов вручную. Весь процесс сопровождается характерным треском, который обусловлен выделением цинковых паров</a:t>
            </a:r>
            <a:r>
              <a:rPr lang="ru-RU" sz="2000" dirty="0" smtClean="0">
                <a:effectLst/>
                <a:latin typeface="Times New Roman" pitchFamily="18" charset="0"/>
                <a:cs typeface="Times New Roman" pitchFamily="18" charset="0"/>
              </a:rPr>
              <a:t>.</a:t>
            </a:r>
          </a:p>
          <a:p>
            <a:pPr marL="18288" indent="0" fontAlgn="base">
              <a:buNone/>
            </a:pPr>
            <a:r>
              <a:rPr lang="ru-RU" sz="2000" dirty="0" smtClean="0">
                <a:effectLst/>
                <a:latin typeface="Times New Roman" pitchFamily="18" charset="0"/>
                <a:cs typeface="Times New Roman" pitchFamily="18" charset="0"/>
              </a:rPr>
              <a:t>Достоинства </a:t>
            </a:r>
            <a:r>
              <a:rPr lang="ru-RU" sz="2000" dirty="0" err="1" smtClean="0">
                <a:effectLst/>
                <a:latin typeface="Times New Roman" pitchFamily="18" charset="0"/>
                <a:cs typeface="Times New Roman" pitchFamily="18" charset="0"/>
              </a:rPr>
              <a:t>аргонной</a:t>
            </a:r>
            <a:r>
              <a:rPr lang="ru-RU" sz="2000" dirty="0" smtClean="0">
                <a:effectLst/>
                <a:latin typeface="Times New Roman" pitchFamily="18" charset="0"/>
                <a:cs typeface="Times New Roman" pitchFamily="18" charset="0"/>
              </a:rPr>
              <a:t> сварки:</a:t>
            </a:r>
          </a:p>
          <a:p>
            <a:pPr marL="475488" lvl="0" indent="-457200" fontAlgn="base">
              <a:buFont typeface="+mj-lt"/>
              <a:buAutoNum type="arabicPeriod"/>
            </a:pPr>
            <a:r>
              <a:rPr lang="ru-RU" sz="2000" dirty="0">
                <a:effectLst/>
                <a:latin typeface="Times New Roman" pitchFamily="18" charset="0"/>
                <a:cs typeface="Times New Roman" pitchFamily="18" charset="0"/>
              </a:rPr>
              <a:t>нет необходимости в применении дорогостоящих электродов и флюсов;</a:t>
            </a:r>
          </a:p>
          <a:p>
            <a:pPr marL="475488" lvl="0" indent="-457200" fontAlgn="base">
              <a:buFont typeface="+mj-lt"/>
              <a:buAutoNum type="arabicPeriod"/>
            </a:pPr>
            <a:r>
              <a:rPr lang="ru-RU" sz="2000" dirty="0">
                <a:effectLst/>
                <a:latin typeface="Times New Roman" pitchFamily="18" charset="0"/>
                <a:cs typeface="Times New Roman" pitchFamily="18" charset="0"/>
              </a:rPr>
              <a:t>технология является качественной и относительно безопасной;</a:t>
            </a:r>
          </a:p>
          <a:p>
            <a:pPr marL="475488" lvl="0" indent="-457200" fontAlgn="base">
              <a:buFont typeface="+mj-lt"/>
              <a:buAutoNum type="arabicPeriod"/>
            </a:pPr>
            <a:r>
              <a:rPr lang="ru-RU" sz="2000" dirty="0">
                <a:effectLst/>
                <a:latin typeface="Times New Roman" pitchFamily="18" charset="0"/>
                <a:cs typeface="Times New Roman" pitchFamily="18" charset="0"/>
              </a:rPr>
              <a:t>сварные швы не покрываются шлаковой коркой;</a:t>
            </a:r>
          </a:p>
          <a:p>
            <a:pPr marL="475488" lvl="0" indent="-457200" fontAlgn="base">
              <a:buFont typeface="+mj-lt"/>
              <a:buAutoNum type="arabicPeriod"/>
            </a:pPr>
            <a:r>
              <a:rPr lang="ru-RU" sz="2000" dirty="0">
                <a:effectLst/>
                <a:latin typeface="Times New Roman" pitchFamily="18" charset="0"/>
                <a:cs typeface="Times New Roman" pitchFamily="18" charset="0"/>
              </a:rPr>
              <a:t>аргон защищает кромки свариваемых деталей от возникновения на них оксидных корок.</a:t>
            </a:r>
          </a:p>
          <a:p>
            <a:pPr marL="18288" indent="0" fontAlgn="base">
              <a:buNone/>
            </a:pPr>
            <a:endParaRPr lang="ru-RU" dirty="0" smtClean="0"/>
          </a:p>
          <a:p>
            <a:pPr marL="18288" indent="0" fontAlgn="base">
              <a:buNone/>
            </a:pPr>
            <a:endParaRPr lang="ru-RU" dirty="0"/>
          </a:p>
          <a:p>
            <a:pPr marL="18288" indent="0" fontAlgn="base">
              <a:buNone/>
            </a:pPr>
            <a:endParaRPr lang="ru-RU" dirty="0"/>
          </a:p>
        </p:txBody>
      </p:sp>
    </p:spTree>
    <p:extLst>
      <p:ext uri="{BB962C8B-B14F-4D97-AF65-F5344CB8AC3E}">
        <p14:creationId xmlns:p14="http://schemas.microsoft.com/office/powerpoint/2010/main" val="3787701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0"/>
            <a:ext cx="9144000" cy="6858000"/>
          </a:xfrm>
        </p:spPr>
        <p:txBody>
          <a:bodyPr>
            <a:normAutofit fontScale="92500" lnSpcReduction="20000"/>
          </a:bodyPr>
          <a:lstStyle/>
          <a:p>
            <a:pPr marL="18288" indent="0">
              <a:buNone/>
            </a:pPr>
            <a:r>
              <a:rPr lang="ru-RU" sz="2200" dirty="0" smtClean="0">
                <a:latin typeface="Times New Roman" pitchFamily="18" charset="0"/>
                <a:cs typeface="Times New Roman" pitchFamily="18" charset="0"/>
              </a:rPr>
              <a:t>Следующая технология сварки – это сварка меди.</a:t>
            </a:r>
          </a:p>
          <a:p>
            <a:pPr marL="18288" indent="0">
              <a:buNone/>
            </a:pPr>
            <a:r>
              <a:rPr lang="ru-RU" sz="2200" dirty="0">
                <a:effectLst/>
                <a:latin typeface="Times New Roman" pitchFamily="18" charset="0"/>
                <a:cs typeface="Times New Roman" pitchFamily="18" charset="0"/>
              </a:rPr>
              <a:t>Медь и сплавы на ее основе - бронзы, латуни, медно-никелевые сплавы качественно свариваются способом MIG/MAG в инертных газах.</a:t>
            </a:r>
          </a:p>
          <a:p>
            <a:pPr marL="18288" indent="0">
              <a:buNone/>
            </a:pPr>
            <a:r>
              <a:rPr lang="ru-RU" sz="2200" b="1" dirty="0">
                <a:effectLst/>
                <a:latin typeface="Times New Roman" pitchFamily="18" charset="0"/>
                <a:cs typeface="Times New Roman" pitchFamily="18" charset="0"/>
              </a:rPr>
              <a:t>Трудности при сварке</a:t>
            </a:r>
            <a:endParaRPr lang="ru-RU" sz="2200" dirty="0">
              <a:effectLst/>
              <a:latin typeface="Times New Roman" pitchFamily="18" charset="0"/>
              <a:cs typeface="Times New Roman" pitchFamily="18" charset="0"/>
            </a:endParaRPr>
          </a:p>
          <a:p>
            <a:r>
              <a:rPr lang="ru-RU" sz="2200" dirty="0">
                <a:effectLst/>
                <a:latin typeface="Times New Roman" pitchFamily="18" charset="0"/>
                <a:cs typeface="Times New Roman" pitchFamily="18" charset="0"/>
              </a:rPr>
              <a:t>Высокая теплопроводность меди (в 6 раз выше, чем у железа) осложняет сварку соединений с несимметричным теплоотводом;</a:t>
            </a:r>
          </a:p>
          <a:p>
            <a:r>
              <a:rPr lang="ru-RU" sz="2200" dirty="0">
                <a:effectLst/>
                <a:latin typeface="Times New Roman" pitchFamily="18" charset="0"/>
                <a:cs typeface="Times New Roman" pitchFamily="18" charset="0"/>
              </a:rPr>
              <a:t>Большая </a:t>
            </a:r>
            <a:r>
              <a:rPr lang="ru-RU" sz="2200" dirty="0" err="1">
                <a:effectLst/>
                <a:latin typeface="Times New Roman" pitchFamily="18" charset="0"/>
                <a:cs typeface="Times New Roman" pitchFamily="18" charset="0"/>
              </a:rPr>
              <a:t>жидкотекучесть</a:t>
            </a:r>
            <a:r>
              <a:rPr lang="ru-RU" sz="2200" dirty="0">
                <a:effectLst/>
                <a:latin typeface="Times New Roman" pitchFamily="18" charset="0"/>
                <a:cs typeface="Times New Roman" pitchFamily="18" charset="0"/>
              </a:rPr>
              <a:t> (в 2--2,5 раза выше, чем у стали) затрудняет сварку вертикальных и потолочных швов;</a:t>
            </a:r>
          </a:p>
          <a:p>
            <a:r>
              <a:rPr lang="ru-RU" sz="2200" dirty="0">
                <a:effectLst/>
                <a:latin typeface="Times New Roman" pitchFamily="18" charset="0"/>
                <a:cs typeface="Times New Roman" pitchFamily="18" charset="0"/>
              </a:rPr>
              <a:t>Интенсивное окисление с образованием закиси меди (Cu</a:t>
            </a:r>
            <a:r>
              <a:rPr lang="ru-RU" sz="2200" baseline="-25000" dirty="0">
                <a:effectLst/>
                <a:latin typeface="Times New Roman" pitchFamily="18" charset="0"/>
                <a:cs typeface="Times New Roman" pitchFamily="18" charset="0"/>
              </a:rPr>
              <a:t>2</a:t>
            </a:r>
            <a:r>
              <a:rPr lang="ru-RU" sz="2200" dirty="0">
                <a:effectLst/>
                <a:latin typeface="Times New Roman" pitchFamily="18" charset="0"/>
                <a:cs typeface="Times New Roman" pitchFamily="18" charset="0"/>
              </a:rPr>
              <a:t>О), хорошо растворяемой в расплавленном металле, приводит к образованию трещин;</a:t>
            </a:r>
          </a:p>
          <a:p>
            <a:r>
              <a:rPr lang="ru-RU" sz="2200" dirty="0">
                <a:effectLst/>
                <a:latin typeface="Times New Roman" pitchFamily="18" charset="0"/>
                <a:cs typeface="Times New Roman" pitchFamily="18" charset="0"/>
              </a:rPr>
              <a:t>Активная способность меди поглощать газы (кислород и водород) при расплавлении приводит к пористости шва и горячим </a:t>
            </a:r>
            <a:r>
              <a:rPr lang="ru-RU" sz="2200" dirty="0" smtClean="0">
                <a:effectLst/>
                <a:latin typeface="Times New Roman" pitchFamily="18" charset="0"/>
                <a:cs typeface="Times New Roman" pitchFamily="18" charset="0"/>
              </a:rPr>
              <a:t>трещинам</a:t>
            </a:r>
            <a:endParaRPr lang="ru-RU" sz="2200" dirty="0">
              <a:effectLst/>
              <a:latin typeface="Times New Roman" pitchFamily="18" charset="0"/>
              <a:cs typeface="Times New Roman" pitchFamily="18" charset="0"/>
            </a:endParaRPr>
          </a:p>
          <a:p>
            <a:pPr marL="18288" indent="0">
              <a:buNone/>
            </a:pPr>
            <a:r>
              <a:rPr lang="ru-RU" sz="2200" b="1" dirty="0">
                <a:effectLst/>
                <a:latin typeface="Times New Roman" pitchFamily="18" charset="0"/>
                <a:cs typeface="Times New Roman" pitchFamily="18" charset="0"/>
              </a:rPr>
              <a:t>Подготовка к сварке</a:t>
            </a:r>
            <a:endParaRPr lang="ru-RU" sz="2200" dirty="0">
              <a:effectLst/>
              <a:latin typeface="Times New Roman" pitchFamily="18" charset="0"/>
              <a:cs typeface="Times New Roman" pitchFamily="18" charset="0"/>
            </a:endParaRPr>
          </a:p>
          <a:p>
            <a:pPr marL="18288" indent="0">
              <a:buNone/>
            </a:pPr>
            <a:r>
              <a:rPr lang="ru-RU" sz="2200" dirty="0">
                <a:effectLst/>
                <a:latin typeface="Times New Roman" pitchFamily="18" charset="0"/>
                <a:cs typeface="Times New Roman" pitchFamily="18" charset="0"/>
              </a:rPr>
              <a:t>Кромки под сварку подготавливают механическим способом. Для меди толщиной 6-18 мм рекомендуются V- и X-образные разделки.</a:t>
            </a:r>
          </a:p>
          <a:p>
            <a:pPr marL="18288" indent="0">
              <a:buNone/>
            </a:pPr>
            <a:r>
              <a:rPr lang="ru-RU" sz="2200" dirty="0">
                <a:effectLst/>
                <a:latin typeface="Times New Roman" pitchFamily="18" charset="0"/>
                <a:cs typeface="Times New Roman" pitchFamily="18" charset="0"/>
              </a:rPr>
              <a:t>Свариваемые детали и присадочную проволоку очищают от окислов и загрязнений до металлического блеска и обезжиривают. Механическую зачистку кромок выполняют наждачной бумагой, металлическими щетками и т.д. Использовать наждачную бумагу и абразивный камень с крупным зерном не рекомендуется.</a:t>
            </a:r>
          </a:p>
          <a:p>
            <a:pPr marL="18288" indent="0">
              <a:buNone/>
            </a:pPr>
            <a:r>
              <a:rPr lang="ru-RU" sz="2200" dirty="0">
                <a:effectLst/>
                <a:latin typeface="Times New Roman" pitchFamily="18" charset="0"/>
                <a:cs typeface="Times New Roman" pitchFamily="18" charset="0"/>
              </a:rPr>
              <a:t>Главное при сварке меди - защита сварочной ванны от кислорода. Она достигается при помощи </a:t>
            </a:r>
            <a:r>
              <a:rPr lang="ru-RU" sz="2200" dirty="0" err="1">
                <a:effectLst/>
                <a:latin typeface="Times New Roman" pitchFamily="18" charset="0"/>
                <a:cs typeface="Times New Roman" pitchFamily="18" charset="0"/>
              </a:rPr>
              <a:t>раскисления</a:t>
            </a:r>
            <a:r>
              <a:rPr lang="ru-RU" sz="2200" dirty="0">
                <a:effectLst/>
                <a:latin typeface="Times New Roman" pitchFamily="18" charset="0"/>
                <a:cs typeface="Times New Roman" pitchFamily="18" charset="0"/>
              </a:rPr>
              <a:t> фосфором, алюминием и серебром. Поэтому следует использовать электродную проволоку, легированную этими </a:t>
            </a:r>
            <a:r>
              <a:rPr lang="ru-RU" sz="2200" dirty="0" err="1">
                <a:effectLst/>
                <a:latin typeface="Times New Roman" pitchFamily="18" charset="0"/>
                <a:cs typeface="Times New Roman" pitchFamily="18" charset="0"/>
              </a:rPr>
              <a:t>раскислителями</a:t>
            </a:r>
            <a:r>
              <a:rPr lang="ru-RU" sz="2200" dirty="0">
                <a:effectLst/>
                <a:latin typeface="Times New Roman" pitchFamily="18" charset="0"/>
                <a:cs typeface="Times New Roman" pitchFamily="18" charset="0"/>
              </a:rPr>
              <a:t>.</a:t>
            </a:r>
          </a:p>
          <a:p>
            <a:pPr marL="18288" indent="0">
              <a:buNone/>
            </a:pPr>
            <a:endParaRPr lang="ru-RU" dirty="0"/>
          </a:p>
        </p:txBody>
      </p:sp>
    </p:spTree>
    <p:extLst>
      <p:ext uri="{BB962C8B-B14F-4D97-AF65-F5344CB8AC3E}">
        <p14:creationId xmlns:p14="http://schemas.microsoft.com/office/powerpoint/2010/main" val="648363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1"/>
          </a:xfrm>
        </p:spPr>
        <p:txBody>
          <a:bodyPr>
            <a:noAutofit/>
          </a:bodyPr>
          <a:lstStyle/>
          <a:p>
            <a:pPr marL="18288" indent="0">
              <a:buNone/>
            </a:pPr>
            <a:r>
              <a:rPr lang="ru-RU" sz="1800" dirty="0">
                <a:effectLst/>
                <a:latin typeface="Times New Roman" pitchFamily="18" charset="0"/>
                <a:cs typeface="Times New Roman" pitchFamily="18" charset="0"/>
              </a:rPr>
              <a:t>Медь сваривают с минимальным числом проходов.</a:t>
            </a:r>
          </a:p>
          <a:p>
            <a:pPr marL="18288" indent="0">
              <a:buNone/>
            </a:pPr>
            <a:r>
              <a:rPr lang="ru-RU" sz="1800" dirty="0">
                <a:effectLst/>
                <a:latin typeface="Times New Roman" pitchFamily="18" charset="0"/>
                <a:cs typeface="Times New Roman" pitchFamily="18" charset="0"/>
              </a:rPr>
              <a:t>Сварку ведут "углом вперед" справа налево. Для формирования обратной стороны шва стыковых соединений используют графитовые или медные </a:t>
            </a:r>
            <a:r>
              <a:rPr lang="ru-RU" sz="1800" dirty="0" err="1">
                <a:effectLst/>
                <a:latin typeface="Times New Roman" pitchFamily="18" charset="0"/>
                <a:cs typeface="Times New Roman" pitchFamily="18" charset="0"/>
              </a:rPr>
              <a:t>водоохлаждаемые</a:t>
            </a:r>
            <a:r>
              <a:rPr lang="ru-RU" sz="1800" dirty="0">
                <a:effectLst/>
                <a:latin typeface="Times New Roman" pitchFamily="18" charset="0"/>
                <a:cs typeface="Times New Roman" pitchFamily="18" charset="0"/>
              </a:rPr>
              <a:t> подкладки. Двухсторонние соединения выполняют с формированием шва на весу или по </a:t>
            </a:r>
            <a:r>
              <a:rPr lang="ru-RU" sz="1800" dirty="0" err="1">
                <a:effectLst/>
                <a:latin typeface="Times New Roman" pitchFamily="18" charset="0"/>
                <a:cs typeface="Times New Roman" pitchFamily="18" charset="0"/>
              </a:rPr>
              <a:t>подварочному</a:t>
            </a:r>
            <a:r>
              <a:rPr lang="ru-RU" sz="1800" dirty="0">
                <a:effectLst/>
                <a:latin typeface="Times New Roman" pitchFamily="18" charset="0"/>
                <a:cs typeface="Times New Roman" pitchFamily="18" charset="0"/>
              </a:rPr>
              <a:t> шву наложенному ручной аргонодуговой сваркой W-электродом.</a:t>
            </a:r>
          </a:p>
          <a:p>
            <a:pPr marL="18288" indent="0">
              <a:buNone/>
            </a:pPr>
            <a:r>
              <a:rPr lang="ru-RU" sz="1800" b="1" dirty="0">
                <a:effectLst/>
                <a:latin typeface="Times New Roman" pitchFamily="18" charset="0"/>
                <a:cs typeface="Times New Roman" pitchFamily="18" charset="0"/>
              </a:rPr>
              <a:t>Выбор параметров режима сварки</a:t>
            </a:r>
            <a:endParaRPr lang="ru-RU" sz="1800" dirty="0">
              <a:effectLst/>
              <a:latin typeface="Times New Roman" pitchFamily="18" charset="0"/>
              <a:cs typeface="Times New Roman" pitchFamily="18" charset="0"/>
            </a:endParaRPr>
          </a:p>
          <a:p>
            <a:pPr marL="18288" indent="0">
              <a:buNone/>
            </a:pPr>
            <a:r>
              <a:rPr lang="ru-RU" sz="1800" dirty="0">
                <a:effectLst/>
                <a:latin typeface="Times New Roman" pitchFamily="18" charset="0"/>
                <a:cs typeface="Times New Roman" pitchFamily="18" charset="0"/>
              </a:rPr>
              <a:t>Плавящимся электродом в защитных газах эффективнее всего сваривать медь толщиной не менее 6-8 мм. Сварку ведут на постоянном токе обратной полярности.</a:t>
            </a:r>
          </a:p>
          <a:p>
            <a:pPr marL="18288" indent="0">
              <a:buNone/>
            </a:pPr>
            <a:r>
              <a:rPr lang="ru-RU" sz="1800" dirty="0">
                <a:effectLst/>
                <a:latin typeface="Times New Roman" pitchFamily="18" charset="0"/>
                <a:cs typeface="Times New Roman" pitchFamily="18" charset="0"/>
              </a:rPr>
              <a:t>Медь хорошо сваривается плавящимся электродом в аргоне, азоте, в смеси аргона с азотом и в гелии. Из-за высокой теплопроводности меди для получения надежного провара в начале сварки и хорошего сплавления кромок детали подогревают до 200-500°С. При сварке в аргоне подогрев необходим при толщине металла более 4,5 мм, а в азоте - более 8 мм</a:t>
            </a:r>
          </a:p>
          <a:p>
            <a:pPr marL="18288" indent="0">
              <a:buNone/>
            </a:pPr>
            <a:r>
              <a:rPr lang="ru-RU" sz="1800" dirty="0">
                <a:effectLst/>
                <a:latin typeface="Times New Roman" pitchFamily="18" charset="0"/>
                <a:cs typeface="Times New Roman" pitchFamily="18" charset="0"/>
              </a:rPr>
              <a:t>Одним из важнейших параметров режима сварки меди плавящимся электродом является длина дуги. Шов качественно формируется при длине дуги 4-5 мм.</a:t>
            </a:r>
          </a:p>
          <a:p>
            <a:pPr marL="18288" indent="0">
              <a:buNone/>
            </a:pPr>
            <a:r>
              <a:rPr lang="ru-RU" sz="1800" dirty="0">
                <a:effectLst/>
                <a:latin typeface="Times New Roman" pitchFamily="18" charset="0"/>
                <a:cs typeface="Times New Roman" pitchFamily="18" charset="0"/>
              </a:rPr>
              <a:t>Стыковые соединения сваривают на подкладных элементах. Импульсно-дуговая сварка (ИДС) в аргоне дает возможность выполнять вертикальные и потолочные швы, позволяет сваривать тонкий металл. При сварке в азоте процесс идет с короткими замыканиями (КЗ) с повышенным разбрызгиванием или крупнокапельным переносом (КР)</a:t>
            </a:r>
          </a:p>
          <a:p>
            <a:pPr marL="18288" indent="0">
              <a:buNone/>
            </a:pP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77113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a:buNone/>
            </a:pPr>
            <a:r>
              <a:rPr lang="ru-RU" sz="2000" dirty="0" smtClean="0">
                <a:latin typeface="Times New Roman" pitchFamily="18" charset="0"/>
                <a:cs typeface="Times New Roman" pitchFamily="18" charset="0"/>
              </a:rPr>
              <a:t>В машиностроении широко применяются конструкции из алюминия и нержавеющей стали.</a:t>
            </a:r>
          </a:p>
          <a:p>
            <a:pPr marL="18288" indent="0">
              <a:buNone/>
            </a:pPr>
            <a:endParaRPr lang="ru-RU" sz="2000" dirty="0">
              <a:latin typeface="Times New Roman" pitchFamily="18" charset="0"/>
              <a:cs typeface="Times New Roman" pitchFamily="18" charset="0"/>
            </a:endParaRPr>
          </a:p>
          <a:p>
            <a:pPr marL="18288" indent="0">
              <a:buNone/>
            </a:pPr>
            <a:endParaRPr lang="ru-RU" sz="2000" dirty="0" smtClean="0">
              <a:latin typeface="Times New Roman" pitchFamily="18" charset="0"/>
              <a:cs typeface="Times New Roman" pitchFamily="18" charset="0"/>
            </a:endParaRPr>
          </a:p>
          <a:p>
            <a:pPr marL="18288" indent="0">
              <a:buNone/>
            </a:pPr>
            <a:endParaRPr lang="ru-RU" sz="2000" dirty="0">
              <a:latin typeface="Times New Roman" pitchFamily="18" charset="0"/>
              <a:cs typeface="Times New Roman" pitchFamily="18" charset="0"/>
            </a:endParaRPr>
          </a:p>
          <a:p>
            <a:pPr marL="18288" indent="0">
              <a:buNone/>
            </a:pPr>
            <a:endParaRPr lang="ru-RU" sz="2000" dirty="0" smtClean="0">
              <a:latin typeface="Times New Roman" pitchFamily="18" charset="0"/>
              <a:cs typeface="Times New Roman" pitchFamily="18" charset="0"/>
            </a:endParaRPr>
          </a:p>
          <a:p>
            <a:pPr marL="18288" indent="0">
              <a:buNone/>
            </a:pPr>
            <a:endParaRPr lang="ru-RU" sz="2000" dirty="0">
              <a:latin typeface="Times New Roman" pitchFamily="18" charset="0"/>
              <a:cs typeface="Times New Roman" pitchFamily="18" charset="0"/>
            </a:endParaRPr>
          </a:p>
          <a:p>
            <a:pPr marL="18288" indent="0">
              <a:buNone/>
            </a:pPr>
            <a:endParaRPr lang="ru-RU" sz="2000" dirty="0" smtClean="0">
              <a:latin typeface="Times New Roman" pitchFamily="18" charset="0"/>
              <a:cs typeface="Times New Roman" pitchFamily="18" charset="0"/>
            </a:endParaRPr>
          </a:p>
          <a:p>
            <a:pPr marL="18288" indent="0">
              <a:buNone/>
            </a:pPr>
            <a:r>
              <a:rPr lang="ru-RU" sz="2000" b="1" dirty="0">
                <a:effectLst/>
                <a:latin typeface="Times New Roman" pitchFamily="18" charset="0"/>
                <a:cs typeface="Times New Roman" pitchFamily="18" charset="0"/>
              </a:rPr>
              <a:t>Алюминий</a:t>
            </a:r>
            <a:r>
              <a:rPr lang="ru-RU" sz="2000" dirty="0">
                <a:effectLst/>
                <a:latin typeface="Times New Roman" pitchFamily="18" charset="0"/>
                <a:cs typeface="Times New Roman" pitchFamily="18" charset="0"/>
              </a:rPr>
              <a:t> - один из самых лёгких металлических конструкционных материалов, его плотность составляет 2,7 г/см3. Чистый алюминий имеет невысокую температуру плавления (657ºС), низкую твёрдость, высокую пластичность, хорошую электропроводность (60% от электропроводности меди). Алюминий обладает высокой коррозионной стойкостью к воздействию воды и кислот. Коррозионные свойства объясняются высокой химической активностью алюминия, он быстро окисляется с образованием поверхностной плёнки Al2O3, которая имеет высокую плотность, твёрдость и температуру плавления. Одним из наиболее ценных свойств алюминия - высокая пластичность и хорошая </a:t>
            </a:r>
            <a:r>
              <a:rPr lang="ru-RU" sz="2000" dirty="0" err="1">
                <a:effectLst/>
                <a:latin typeface="Times New Roman" pitchFamily="18" charset="0"/>
                <a:cs typeface="Times New Roman" pitchFamily="18" charset="0"/>
              </a:rPr>
              <a:t>деформируемость</a:t>
            </a:r>
            <a:r>
              <a:rPr lang="ru-RU" sz="2000" dirty="0">
                <a:effectLst/>
                <a:latin typeface="Times New Roman" pitchFamily="18" charset="0"/>
                <a:cs typeface="Times New Roman" pitchFamily="18" charset="0"/>
              </a:rPr>
              <a:t>; он хорошо подвергается обработке давлением в холодном и горячем состоянии.</a:t>
            </a:r>
            <a:br>
              <a:rPr lang="ru-RU" sz="2000" dirty="0">
                <a:effectLst/>
                <a:latin typeface="Times New Roman" pitchFamily="18" charset="0"/>
                <a:cs typeface="Times New Roman" pitchFamily="18" charset="0"/>
              </a:rPr>
            </a:br>
            <a:endParaRPr lang="ru-RU" sz="2000" dirty="0">
              <a:latin typeface="Times New Roman" pitchFamily="18" charset="0"/>
              <a:cs typeface="Times New Roman" pitchFamily="18" charset="0"/>
            </a:endParaRPr>
          </a:p>
        </p:txBody>
      </p:sp>
      <p:pic>
        <p:nvPicPr>
          <p:cNvPr id="4099" name="Picture 3" descr="C:\Users\User\Desktop\gallery_1_19_7515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849547"/>
            <a:ext cx="2088232" cy="202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216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107504" y="1"/>
            <a:ext cx="9036496" cy="6858000"/>
          </a:xfrm>
        </p:spPr>
        <p:txBody>
          <a:bodyPr/>
          <a:lstStyle/>
          <a:p>
            <a:pPr marL="18288" indent="0">
              <a:buNone/>
            </a:pPr>
            <a:r>
              <a:rPr lang="ru-RU" sz="2000" dirty="0">
                <a:effectLst/>
                <a:latin typeface="Times New Roman" pitchFamily="18" charset="0"/>
                <a:cs typeface="Times New Roman" pitchFamily="18" charset="0"/>
              </a:rPr>
              <a:t>Чистый алюминий редко применяется как конструкционный материал (за исключением использования в качестве электропроводного материала в электротехнической промышленности и в отдельных случаях в химической и пищевой промышленности), что связано с его низкой прочностью</a:t>
            </a:r>
            <a:r>
              <a:rPr lang="ru-RU" sz="2000" dirty="0" smtClean="0">
                <a:effectLst/>
                <a:latin typeface="Times New Roman" pitchFamily="18" charset="0"/>
                <a:cs typeface="Times New Roman" pitchFamily="18" charset="0"/>
              </a:rPr>
              <a:t>.</a:t>
            </a:r>
          </a:p>
          <a:p>
            <a:pPr marL="18288" indent="0">
              <a:buNone/>
            </a:pPr>
            <a:r>
              <a:rPr lang="ru-RU" sz="2000" b="1" dirty="0">
                <a:effectLst/>
                <a:latin typeface="Times New Roman" pitchFamily="18" charset="0"/>
                <a:cs typeface="Times New Roman" pitchFamily="18" charset="0"/>
              </a:rPr>
              <a:t>Алюминиевые сплавы</a:t>
            </a:r>
            <a:r>
              <a:rPr lang="ru-RU" sz="2000" dirty="0">
                <a:effectLst/>
                <a:latin typeface="Times New Roman" pitchFamily="18" charset="0"/>
                <a:cs typeface="Times New Roman" pitchFamily="18" charset="0"/>
              </a:rPr>
              <a:t> используют в сварных конструкциях различного назначения. Основными достоинствами их как конструкционных материалов являются малая плотность, высокая удельная прочность, высокая коррозионная стойкость. В качестве конструкционных материалов в основном используют полуфабрикаты из алюминиевых сплавов. По показателям отношения прочности и текучести к плотности высокопрочные алюминиевые сплавы значительно превосходят чугун, низкоуглеродистые и низколегированные стали, чистый титан и уступают лишь высоколегированным сталям повышенной прочности и сплавам титана. Алюминиевые сплавы разделяют на литейные и </a:t>
            </a:r>
            <a:r>
              <a:rPr lang="ru-RU" sz="2000" dirty="0" smtClean="0">
                <a:effectLst/>
                <a:latin typeface="Times New Roman" pitchFamily="18" charset="0"/>
                <a:cs typeface="Times New Roman" pitchFamily="18" charset="0"/>
              </a:rPr>
              <a:t>деформируемые.</a:t>
            </a:r>
            <a:endParaRPr lang="ru-RU" sz="2000" dirty="0">
              <a:effectLst/>
              <a:latin typeface="Times New Roman" pitchFamily="18" charset="0"/>
              <a:cs typeface="Times New Roman" pitchFamily="18" charset="0"/>
            </a:endParaRPr>
          </a:p>
          <a:p>
            <a:pPr marL="18288" indent="0">
              <a:buNone/>
            </a:pPr>
            <a:endParaRPr lang="ru-RU" dirty="0" smtClean="0"/>
          </a:p>
          <a:p>
            <a:pPr marL="18288" indent="0">
              <a:buNone/>
            </a:pPr>
            <a:endParaRPr lang="ru-RU" dirty="0"/>
          </a:p>
          <a:p>
            <a:pPr marL="18288" indent="0">
              <a:buNone/>
            </a:pPr>
            <a:endParaRPr lang="ru-RU" dirty="0" smtClean="0"/>
          </a:p>
          <a:p>
            <a:pPr marL="18288" indent="0">
              <a:buNone/>
            </a:pPr>
            <a:endParaRPr lang="ru-RU" dirty="0"/>
          </a:p>
          <a:p>
            <a:pPr marL="18288" indent="0">
              <a:buNone/>
            </a:pPr>
            <a:endParaRPr lang="ru-RU" dirty="0"/>
          </a:p>
        </p:txBody>
      </p:sp>
    </p:spTree>
    <p:extLst>
      <p:ext uri="{BB962C8B-B14F-4D97-AF65-F5344CB8AC3E}">
        <p14:creationId xmlns:p14="http://schemas.microsoft.com/office/powerpoint/2010/main" val="3842590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a:buNone/>
            </a:pPr>
            <a:r>
              <a:rPr lang="ru-RU" sz="2000" b="1" dirty="0">
                <a:effectLst/>
                <a:latin typeface="Times New Roman" pitchFamily="18" charset="0"/>
                <a:cs typeface="Times New Roman" pitchFamily="18" charset="0"/>
              </a:rPr>
              <a:t>Типы сварных соединений алюминиевых сплавов.</a:t>
            </a:r>
            <a:endParaRPr lang="ru-RU" sz="2000" dirty="0">
              <a:effectLst/>
              <a:latin typeface="Times New Roman" pitchFamily="18" charset="0"/>
              <a:cs typeface="Times New Roman" pitchFamily="18" charset="0"/>
            </a:endParaRPr>
          </a:p>
          <a:p>
            <a:pPr marL="18288" indent="0">
              <a:buNone/>
            </a:pPr>
            <a:r>
              <a:rPr lang="ru-RU" sz="2000" dirty="0">
                <a:effectLst/>
                <a:latin typeface="Times New Roman" pitchFamily="18" charset="0"/>
                <a:cs typeface="Times New Roman" pitchFamily="18" charset="0"/>
              </a:rPr>
              <a:t>Типы соединений, применяемые при сварке алюминиевых сплавов, размеры и форма подготовки кромок в основном регламентированы ГОСТ 14806-80 и ГОСТ 23792-79. При сварке плавлением алюминиевых сплавов наиболее рациональным типом соединений являются стыковые, выполнить которые можно любыми способами сварки. Для устранения оксидных включений в металле швов применяют подкладки с канавкой рациональной формы или разделку кромок с обратной стороны шва, что в некоторых случаях обеспечивает удаление оксидных включений из стыка в формирующую канавку или в разделку</a:t>
            </a:r>
            <a:r>
              <a:rPr lang="ru-RU" sz="2000" dirty="0" smtClean="0">
                <a:effectLst/>
                <a:latin typeface="Times New Roman" pitchFamily="18" charset="0"/>
                <a:cs typeface="Times New Roman" pitchFamily="18" charset="0"/>
              </a:rPr>
              <a:t>.</a:t>
            </a:r>
          </a:p>
          <a:p>
            <a:pPr marL="18288" indent="0">
              <a:buNone/>
            </a:pPr>
            <a:r>
              <a:rPr lang="ru-RU" sz="2000" b="1" dirty="0">
                <a:effectLst/>
                <a:latin typeface="Times New Roman" pitchFamily="18" charset="0"/>
                <a:cs typeface="Times New Roman" pitchFamily="18" charset="0"/>
              </a:rPr>
              <a:t>Применяемые методы сварки</a:t>
            </a:r>
            <a:r>
              <a:rPr lang="ru-RU" sz="2000" dirty="0">
                <a:effectLst/>
                <a:latin typeface="Times New Roman" pitchFamily="18" charset="0"/>
                <a:cs typeface="Times New Roman" pitchFamily="18" charset="0"/>
              </a:rPr>
              <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Для сварки алюминиевых сплавов используются следующие методы сварки:</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1) Газовая сварка.</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2) Сварка штучными электродами с покрытием.</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3) Сварка неплавящимся электродом в среде инертных защитных газов (TIG).</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4) Сварка плавящимся электродом в среде инертных защитных газов (MIG).</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5) Плазменная сварка (PAW).</a:t>
            </a:r>
            <a:br>
              <a:rPr lang="ru-RU" sz="2000" dirty="0">
                <a:effectLst/>
                <a:latin typeface="Times New Roman" pitchFamily="18" charset="0"/>
                <a:cs typeface="Times New Roman" pitchFamily="18" charset="0"/>
              </a:rPr>
            </a:br>
            <a:r>
              <a:rPr lang="ru-RU" sz="2000" dirty="0">
                <a:effectLst/>
                <a:latin typeface="Times New Roman" pitchFamily="18" charset="0"/>
                <a:cs typeface="Times New Roman" pitchFamily="18" charset="0"/>
              </a:rPr>
              <a:t>6) Сварка плавящимся электродом по слою флюса. Наиболее распространёнными являются методы TIG, MIG и PAW, о которых в дальнейшем и пойдёт речь.</a:t>
            </a:r>
          </a:p>
          <a:p>
            <a:pPr marL="18288" indent="0">
              <a:buNone/>
            </a:pPr>
            <a:endParaRPr lang="ru-RU" sz="2000" dirty="0">
              <a:effectLst/>
              <a:latin typeface="Times New Roman" pitchFamily="18" charset="0"/>
              <a:cs typeface="Times New Roman" pitchFamily="18" charset="0"/>
            </a:endParaRPr>
          </a:p>
          <a:p>
            <a:pPr marL="18288" indent="0">
              <a:buNone/>
            </a:pPr>
            <a:endParaRPr lang="ru-RU" dirty="0"/>
          </a:p>
        </p:txBody>
      </p:sp>
    </p:spTree>
    <p:extLst>
      <p:ext uri="{BB962C8B-B14F-4D97-AF65-F5344CB8AC3E}">
        <p14:creationId xmlns:p14="http://schemas.microsoft.com/office/powerpoint/2010/main" val="2487888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1"/>
          </a:xfrm>
        </p:spPr>
        <p:txBody>
          <a:bodyPr>
            <a:normAutofit fontScale="92500" lnSpcReduction="20000"/>
          </a:bodyPr>
          <a:lstStyle/>
          <a:p>
            <a:pPr marL="18288" indent="0">
              <a:buNone/>
            </a:pPr>
            <a:r>
              <a:rPr lang="ru-RU" sz="2200" b="1" dirty="0">
                <a:effectLst/>
                <a:latin typeface="Times New Roman" pitchFamily="18" charset="0"/>
                <a:cs typeface="Times New Roman" pitchFamily="18" charset="0"/>
              </a:rPr>
              <a:t>Оборудование для сварки TIG</a:t>
            </a:r>
            <a:endParaRPr lang="ru-RU" sz="2200" dirty="0">
              <a:effectLst/>
              <a:latin typeface="Times New Roman" pitchFamily="18" charset="0"/>
              <a:cs typeface="Times New Roman" pitchFamily="18" charset="0"/>
            </a:endParaRPr>
          </a:p>
          <a:p>
            <a:pPr marL="18288" indent="0">
              <a:buNone/>
            </a:pPr>
            <a:r>
              <a:rPr lang="ru-RU" sz="2200" dirty="0">
                <a:effectLst/>
                <a:latin typeface="Times New Roman" pitchFamily="18" charset="0"/>
                <a:cs typeface="Times New Roman" pitchFamily="18" charset="0"/>
              </a:rPr>
              <a:t>Сварка методом TIG - наиболее распространенный способ сварки, применяющийся для изготовления сварных конструкций из алюминиевых сплавов ответственного назначения. Основным преимуществом процесса дуговой сварки вольфрамовым электродом в среде защитного газа является отсутствие шлаковых включений, возможность работы на малых токах дуги (от 5 А), возможность сварки тонких листов, высокая устойчивость горения дуги во всем диапазоне токов, технологичность процесса.</a:t>
            </a:r>
            <a:br>
              <a:rPr lang="ru-RU" sz="2200" dirty="0">
                <a:effectLst/>
                <a:latin typeface="Times New Roman" pitchFamily="18" charset="0"/>
                <a:cs typeface="Times New Roman" pitchFamily="18" charset="0"/>
              </a:rPr>
            </a:br>
            <a:r>
              <a:rPr lang="ru-RU" sz="2200" dirty="0">
                <a:effectLst/>
                <a:latin typeface="Times New Roman" pitchFamily="18" charset="0"/>
                <a:cs typeface="Times New Roman" pitchFamily="18" charset="0"/>
              </a:rPr>
              <a:t>При сварке TIG дуга горит между неплавящимся вольфрамовым электродом и свариваемым изделием. При этом отсутствует перенос расплавленного металла через дуговой промежуток, что облегчает условия горения дуги и обусловливает её высокую стабильность, исключает разбрызгивание расплавленного металла, сокращает потери на испарение и улучшает качество сварного шва за счёт ограничения взаимодействия расплавленного металла с газами столба дуги.</a:t>
            </a:r>
          </a:p>
          <a:p>
            <a:pPr marL="18288" indent="0">
              <a:buNone/>
            </a:pPr>
            <a:r>
              <a:rPr lang="ru-RU" sz="2200" dirty="0">
                <a:effectLst/>
                <a:latin typeface="Times New Roman" pitchFamily="18" charset="0"/>
                <a:cs typeface="Times New Roman" pitchFamily="18" charset="0"/>
              </a:rPr>
              <a:t>Наличие оксидной плёнки, обладающей высокой тугоплавкостью и плохой электропроводностью, весьма затрудняет сварку алюминиевых сплавов. Кроме того, алюминий имеет такое большое химическое сродство к кислороду, что механическая очистка поверхности основного материала перед сваркой действует в течение непродолжительного времени, после чего поверхности очень скоро вновь образуется оксидная плёнка Разрушение оксидной плёнки представляется довольно сложной задачей, требующей больших вложений энергии. Поскольку разрушить плёнку нагревом электрическим током сложно из-за её плохой электропроводности, можно прибегнуть к разрушению плёнки методом катодного распыления. Это обуславливает необходимость применения сварки на переменном токе.</a:t>
            </a:r>
          </a:p>
          <a:p>
            <a:pPr marL="18288" indent="0">
              <a:buNone/>
            </a:pPr>
            <a:endParaRPr lang="ru-RU" dirty="0"/>
          </a:p>
        </p:txBody>
      </p:sp>
    </p:spTree>
    <p:extLst>
      <p:ext uri="{BB962C8B-B14F-4D97-AF65-F5344CB8AC3E}">
        <p14:creationId xmlns:p14="http://schemas.microsoft.com/office/powerpoint/2010/main" val="1411445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3062" y="116632"/>
            <a:ext cx="5332965"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C:\Users\User\Desktop\Kak-nastroit-apparat-dlya-svarki-alyuminiya-pravki-06.03.19-kartinka-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3728" y="3284984"/>
            <a:ext cx="4671634" cy="3360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229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0"/>
            <a:ext cx="9144000" cy="6858000"/>
          </a:xfrm>
        </p:spPr>
        <p:txBody>
          <a:bodyPr>
            <a:normAutofit/>
          </a:bodyPr>
          <a:lstStyle/>
          <a:p>
            <a:pPr marL="18288" indent="0">
              <a:buNone/>
            </a:pPr>
            <a:r>
              <a:rPr lang="ru-RU" sz="1900" dirty="0">
                <a:effectLst/>
                <a:latin typeface="Times New Roman" pitchFamily="18" charset="0"/>
                <a:cs typeface="Times New Roman" pitchFamily="18" charset="0"/>
              </a:rPr>
              <a:t>И</a:t>
            </a:r>
            <a:r>
              <a:rPr lang="ru-RU" sz="1900" dirty="0" smtClean="0">
                <a:effectLst/>
                <a:latin typeface="Times New Roman" pitchFamily="18" charset="0"/>
                <a:cs typeface="Times New Roman" pitchFamily="18" charset="0"/>
              </a:rPr>
              <a:t>нтересный </a:t>
            </a:r>
            <a:r>
              <a:rPr lang="ru-RU" sz="1900" dirty="0">
                <a:effectLst/>
                <a:latin typeface="Times New Roman" pitchFamily="18" charset="0"/>
                <a:cs typeface="Times New Roman" pitchFamily="18" charset="0"/>
              </a:rPr>
              <a:t>факт об </a:t>
            </a:r>
            <a:r>
              <a:rPr lang="ru-RU" sz="1900" dirty="0" smtClean="0">
                <a:effectLst/>
                <a:latin typeface="Times New Roman" pitchFamily="18" charset="0"/>
                <a:cs typeface="Times New Roman" pitchFamily="18" charset="0"/>
              </a:rPr>
              <a:t>алюминии</a:t>
            </a:r>
          </a:p>
          <a:p>
            <a:pPr marL="18288" indent="0">
              <a:buNone/>
            </a:pPr>
            <a:r>
              <a:rPr lang="ru-RU" sz="1900" dirty="0">
                <a:effectLst/>
                <a:latin typeface="Times New Roman" pitchFamily="18" charset="0"/>
                <a:cs typeface="Times New Roman" pitchFamily="18" charset="0"/>
              </a:rPr>
              <a:t>Алюминий - это лёгкий парамагнитный металл серебристо-белого цвета, легко поддающийся формовке, литью, механической обработке. Он третий по распространённости химический элемент в земной коре (после кислорода и кремния). В природе его содержание составляет целых восемь процентов - это довольно много, например, содержание золота в земле составляет всего лишь 5 миллионных частей процента. В современности сложно определить сферу производства, которая обходится, без этого метала. Алюминиевые сплавы применяются в производстве крупного транспорта, машиностроении, в бытовой технике и в электротехническом производстве. Без алюминия никак не обойтись </a:t>
            </a:r>
            <a:r>
              <a:rPr lang="ru-RU" sz="1900" dirty="0" smtClean="0">
                <a:effectLst/>
                <a:latin typeface="Times New Roman" pitchFamily="18" charset="0"/>
                <a:cs typeface="Times New Roman" pitchFamily="18" charset="0"/>
              </a:rPr>
              <a:t>и в </a:t>
            </a:r>
            <a:r>
              <a:rPr lang="ru-RU" sz="1900" dirty="0">
                <a:effectLst/>
                <a:latin typeface="Times New Roman" pitchFamily="18" charset="0"/>
                <a:cs typeface="Times New Roman" pitchFamily="18" charset="0"/>
              </a:rPr>
              <a:t>строительстве</a:t>
            </a:r>
            <a:r>
              <a:rPr lang="ru-RU" sz="1900" dirty="0" smtClean="0">
                <a:effectLst/>
                <a:latin typeface="Times New Roman" pitchFamily="18" charset="0"/>
                <a:cs typeface="Times New Roman" pitchFamily="18" charset="0"/>
              </a:rPr>
              <a:t>.</a:t>
            </a:r>
            <a:r>
              <a:rPr lang="ru-RU" sz="1900" dirty="0">
                <a:effectLst/>
                <a:latin typeface="Times New Roman" pitchFamily="18" charset="0"/>
                <a:cs typeface="Times New Roman" pitchFamily="18" charset="0"/>
              </a:rPr>
              <a:t> Изначально алюминий добывался в малых количествах, люди не сразу смогли выявить точные участки земной коры, где находился это элемент. Из добытых слитков первоначально создавались драгоценные украшения, которые мог себе позволить не каждый. Первым алюминиевым изделием принято считать медали с барельефами Наполеона. Со временем данный металл стал обнаруживаться чаще и его стали активно применять в массовой </a:t>
            </a:r>
            <a:r>
              <a:rPr lang="ru-RU" sz="1900" dirty="0" smtClean="0">
                <a:effectLst/>
                <a:latin typeface="Times New Roman" pitchFamily="18" charset="0"/>
                <a:cs typeface="Times New Roman" pitchFamily="18" charset="0"/>
              </a:rPr>
              <a:t>промышленности. </a:t>
            </a:r>
            <a:r>
              <a:rPr lang="ru-RU" sz="1900" dirty="0">
                <a:effectLst/>
                <a:latin typeface="Times New Roman" pitchFamily="18" charset="0"/>
                <a:cs typeface="Times New Roman" pitchFamily="18" charset="0"/>
              </a:rPr>
              <a:t>Наполеоном III был издан приказ об изготовлении алюминиевых столовых приборов. Они предоставлялись только на важных торжественных застольях, самому императору и его почетным гостям. Другие гости имели право пользоваться только приборами из золота и серебра. В 1860 году, алюминий пользовался спросом как модное ювелирное изделие. Каждая важная особа должна была иметь при себе такое украшение.</a:t>
            </a:r>
          </a:p>
          <a:p>
            <a:pPr marL="18288" indent="0">
              <a:buNone/>
            </a:pPr>
            <a:endParaRPr lang="ru-RU" b="1" dirty="0">
              <a:effectLst/>
            </a:endParaRPr>
          </a:p>
        </p:txBody>
      </p:sp>
    </p:spTree>
    <p:extLst>
      <p:ext uri="{BB962C8B-B14F-4D97-AF65-F5344CB8AC3E}">
        <p14:creationId xmlns:p14="http://schemas.microsoft.com/office/powerpoint/2010/main" val="42794995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a:buNone/>
            </a:pPr>
            <a:r>
              <a:rPr lang="ru-RU" sz="2000" dirty="0" smtClean="0">
                <a:latin typeface="Times New Roman" pitchFamily="18" charset="0"/>
                <a:cs typeface="Times New Roman" pitchFamily="18" charset="0"/>
              </a:rPr>
              <a:t>Большинство студентов нашего курса на защиту дипломной работы будут представлять конструкции из алюминия. </a:t>
            </a:r>
          </a:p>
          <a:p>
            <a:pPr marL="18288" indent="0" fontAlgn="base">
              <a:buNone/>
            </a:pPr>
            <a:r>
              <a:rPr lang="ru-RU" sz="2000" dirty="0" smtClean="0">
                <a:latin typeface="Times New Roman" pitchFamily="18" charset="0"/>
                <a:cs typeface="Times New Roman" pitchFamily="18" charset="0"/>
              </a:rPr>
              <a:t>Особенности настройки аппарата для сварки алюминия. </a:t>
            </a:r>
          </a:p>
          <a:p>
            <a:pPr marL="18288" indent="0" fontAlgn="base">
              <a:buNone/>
            </a:pPr>
            <a:r>
              <a:rPr lang="ru-RU" sz="2000" dirty="0" smtClean="0">
                <a:effectLst/>
                <a:latin typeface="Times New Roman" pitchFamily="18" charset="0"/>
                <a:cs typeface="Times New Roman" pitchFamily="18" charset="0"/>
              </a:rPr>
              <a:t>Выполняя </a:t>
            </a:r>
            <a:r>
              <a:rPr lang="ru-RU" sz="2000" dirty="0">
                <a:effectLst/>
                <a:latin typeface="Times New Roman" pitchFamily="18" charset="0"/>
                <a:cs typeface="Times New Roman" pitchFamily="18" charset="0"/>
              </a:rPr>
              <a:t>работу нужно учитывать неординарность характеристик этого металла:</a:t>
            </a:r>
          </a:p>
          <a:p>
            <a:pPr marL="475488" indent="-457200" fontAlgn="base">
              <a:buFont typeface="+mj-lt"/>
              <a:buAutoNum type="arabicPeriod"/>
            </a:pPr>
            <a:r>
              <a:rPr lang="ru-RU" sz="2000" dirty="0">
                <a:effectLst/>
                <a:latin typeface="Times New Roman" pitchFamily="18" charset="0"/>
                <a:cs typeface="Times New Roman" pitchFamily="18" charset="0"/>
              </a:rPr>
              <a:t>Из-за повышенной химической активности поверхность алюминия при контакте с воздухом быстро покрывается оксидной пленкой. Она плавится при температуре более 2000⁰C, а металл — 660⁰C. Если твердые кусочки пленки попадут в шов, его прочность уменьшится.</a:t>
            </a:r>
          </a:p>
          <a:p>
            <a:pPr marL="475488" indent="-457200" fontAlgn="base">
              <a:buFont typeface="+mj-lt"/>
              <a:buAutoNum type="arabicPeriod"/>
            </a:pPr>
            <a:r>
              <a:rPr lang="ru-RU" sz="2000" dirty="0">
                <a:effectLst/>
                <a:latin typeface="Times New Roman" pitchFamily="18" charset="0"/>
                <a:cs typeface="Times New Roman" pitchFamily="18" charset="0"/>
              </a:rPr>
              <a:t>При сварке алюминия трудно контролировать процесс, так как его цвет не меняется после расплавления.</a:t>
            </a:r>
          </a:p>
          <a:p>
            <a:pPr marL="475488" indent="-457200" fontAlgn="base">
              <a:buFont typeface="+mj-lt"/>
              <a:buAutoNum type="arabicPeriod"/>
            </a:pPr>
            <a:r>
              <a:rPr lang="ru-RU" sz="2000" dirty="0">
                <a:effectLst/>
                <a:latin typeface="Times New Roman" pitchFamily="18" charset="0"/>
                <a:cs typeface="Times New Roman" pitchFamily="18" charset="0"/>
              </a:rPr>
              <a:t>Материал гигроскопичен, поэтому впитывает атмосферную влагу, которая при нагреве испаряется с поверхности, снижая качество соединения.</a:t>
            </a:r>
          </a:p>
          <a:p>
            <a:pPr marL="475488" indent="-457200" fontAlgn="base">
              <a:buFont typeface="+mj-lt"/>
              <a:buAutoNum type="arabicPeriod"/>
            </a:pPr>
            <a:r>
              <a:rPr lang="ru-RU" sz="2000" dirty="0">
                <a:effectLst/>
                <a:latin typeface="Times New Roman" pitchFamily="18" charset="0"/>
                <a:cs typeface="Times New Roman" pitchFamily="18" charset="0"/>
              </a:rPr>
              <a:t>Из-за высокого коэффициента линейного расширения место соединения при остывании может деформироваться и растрескаться. Для компенсации усадки сварка аргоном проводится с повышенным расходом проволоки или модифицируют шов.</a:t>
            </a:r>
          </a:p>
          <a:p>
            <a:pPr marL="475488" indent="-457200" fontAlgn="base">
              <a:buFont typeface="+mj-lt"/>
              <a:buAutoNum type="arabicPeriod"/>
            </a:pPr>
            <a:r>
              <a:rPr lang="ru-RU" sz="2000" dirty="0">
                <a:effectLst/>
                <a:latin typeface="Times New Roman" pitchFamily="18" charset="0"/>
                <a:cs typeface="Times New Roman" pitchFamily="18" charset="0"/>
              </a:rPr>
              <a:t>Если неправильно настроить расход газа при выполнении аргоновой сварки алюминия, он вспенивается при недостатке, а избыток затрудняет сформировать шов</a:t>
            </a:r>
            <a:r>
              <a:rPr lang="ru-RU" dirty="0" smtClean="0">
                <a:effectLst/>
              </a:rPr>
              <a:t>.</a:t>
            </a:r>
            <a:endParaRPr lang="ru-RU" dirty="0"/>
          </a:p>
          <a:p>
            <a:pPr marL="18288" indent="0">
              <a:buNone/>
            </a:pPr>
            <a:endParaRPr lang="ru-RU" dirty="0"/>
          </a:p>
        </p:txBody>
      </p:sp>
    </p:spTree>
    <p:extLst>
      <p:ext uri="{BB962C8B-B14F-4D97-AF65-F5344CB8AC3E}">
        <p14:creationId xmlns:p14="http://schemas.microsoft.com/office/powerpoint/2010/main" val="13875080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a:bodyPr>
          <a:lstStyle/>
          <a:p>
            <a:pPr marL="18288" indent="0" fontAlgn="base">
              <a:buNone/>
            </a:pPr>
            <a:r>
              <a:rPr lang="ru-RU" sz="2000" b="1" dirty="0">
                <a:effectLst/>
                <a:latin typeface="Times New Roman" pitchFamily="18" charset="0"/>
                <a:cs typeface="Times New Roman" pitchFamily="18" charset="0"/>
              </a:rPr>
              <a:t>Необходимое оборудование и материалы</a:t>
            </a:r>
          </a:p>
          <a:p>
            <a:pPr marL="18288" indent="0" fontAlgn="base">
              <a:buNone/>
            </a:pPr>
            <a:r>
              <a:rPr lang="ru-RU" sz="2000" dirty="0">
                <a:effectLst/>
                <a:latin typeface="Times New Roman" pitchFamily="18" charset="0"/>
                <a:cs typeface="Times New Roman" pitchFamily="18" charset="0"/>
              </a:rPr>
              <a:t>Для работы потребуется аппарат выдающий переменный ток, поскольку сварку алюминия постоянным током аргоновым методом провести не получится. Оптимальным вариантом будет инвертор с режимом </a:t>
            </a:r>
            <a:r>
              <a:rPr lang="en-US" sz="2000" dirty="0" smtClean="0">
                <a:effectLst/>
                <a:latin typeface="Times New Roman" pitchFamily="18" charset="0"/>
                <a:cs typeface="Times New Roman" pitchFamily="18" charset="0"/>
              </a:rPr>
              <a:t>TIG</a:t>
            </a:r>
            <a:r>
              <a:rPr lang="ru-RU" sz="2000" dirty="0" smtClean="0">
                <a:effectLst/>
                <a:latin typeface="Times New Roman" pitchFamily="18" charset="0"/>
                <a:cs typeface="Times New Roman" pitchFamily="18" charset="0"/>
              </a:rPr>
              <a:t> </a:t>
            </a:r>
            <a:r>
              <a:rPr lang="ru-RU" sz="2000" dirty="0">
                <a:effectLst/>
                <a:latin typeface="Times New Roman" pitchFamily="18" charset="0"/>
                <a:cs typeface="Times New Roman" pitchFamily="18" charset="0"/>
              </a:rPr>
              <a:t>и набором опций, позволяющих:</a:t>
            </a:r>
          </a:p>
          <a:p>
            <a:pPr fontAlgn="base">
              <a:buFont typeface="Arial" pitchFamily="34" charset="0"/>
              <a:buChar char="•"/>
            </a:pPr>
            <a:r>
              <a:rPr lang="ru-RU" sz="2000" dirty="0">
                <a:effectLst/>
                <a:latin typeface="Times New Roman" pitchFamily="18" charset="0"/>
                <a:cs typeface="Times New Roman" pitchFamily="18" charset="0"/>
              </a:rPr>
              <a:t>бесконтактно зажигать дугу;</a:t>
            </a:r>
          </a:p>
          <a:p>
            <a:pPr fontAlgn="base">
              <a:buFont typeface="Arial" pitchFamily="34" charset="0"/>
              <a:buChar char="•"/>
            </a:pPr>
            <a:r>
              <a:rPr lang="ru-RU" sz="2000" dirty="0">
                <a:effectLst/>
                <a:latin typeface="Times New Roman" pitchFamily="18" charset="0"/>
                <a:cs typeface="Times New Roman" pitchFamily="18" charset="0"/>
              </a:rPr>
              <a:t>заваривать кратер на конце шва;</a:t>
            </a:r>
          </a:p>
          <a:p>
            <a:pPr fontAlgn="base">
              <a:buFont typeface="Arial" pitchFamily="34" charset="0"/>
              <a:buChar char="•"/>
            </a:pPr>
            <a:r>
              <a:rPr lang="ru-RU" sz="2000" dirty="0">
                <a:effectLst/>
                <a:latin typeface="Times New Roman" pitchFamily="18" charset="0"/>
                <a:cs typeface="Times New Roman" pitchFamily="18" charset="0"/>
              </a:rPr>
              <a:t>регулировать баланс тока;</a:t>
            </a:r>
          </a:p>
          <a:p>
            <a:pPr fontAlgn="base">
              <a:buFont typeface="Arial" pitchFamily="34" charset="0"/>
              <a:buChar char="•"/>
            </a:pPr>
            <a:r>
              <a:rPr lang="ru-RU" sz="2000" dirty="0">
                <a:effectLst/>
                <a:latin typeface="Times New Roman" pitchFamily="18" charset="0"/>
                <a:cs typeface="Times New Roman" pitchFamily="18" charset="0"/>
              </a:rPr>
              <a:t>устанавливать период времени, в течение которого продолжается подача аргона после отключения дуги.</a:t>
            </a:r>
          </a:p>
          <a:p>
            <a:pPr marL="18288" indent="0" fontAlgn="base">
              <a:buNone/>
            </a:pPr>
            <a:r>
              <a:rPr lang="ru-RU" sz="2000" dirty="0">
                <a:effectLst/>
                <a:latin typeface="Times New Roman" pitchFamily="18" charset="0"/>
                <a:cs typeface="Times New Roman" pitchFamily="18" charset="0"/>
              </a:rPr>
              <a:t>Чтобы снизить расход газа для сварки алюминия нужно обзавестись горелкой с газовой линзой (</a:t>
            </a:r>
            <a:r>
              <a:rPr lang="ru-RU" sz="2000" dirty="0" err="1">
                <a:effectLst/>
                <a:latin typeface="Times New Roman" pitchFamily="18" charset="0"/>
                <a:cs typeface="Times New Roman" pitchFamily="18" charset="0"/>
              </a:rPr>
              <a:t>цангодержателем</a:t>
            </a:r>
            <a:r>
              <a:rPr lang="ru-RU" sz="2000" dirty="0">
                <a:effectLst/>
                <a:latin typeface="Times New Roman" pitchFamily="18" charset="0"/>
                <a:cs typeface="Times New Roman" pitchFamily="18" charset="0"/>
              </a:rPr>
              <a:t>), внутри которой помещена сетка. При проходе аргона через ячейки улучшается защита места сварки при меньшем расходе. Для установки линз выпускаются сопла нескольких диаметров, чем больше размер, тем надежнее защита</a:t>
            </a:r>
            <a:r>
              <a:rPr lang="ru-RU" sz="2000" dirty="0" smtClean="0">
                <a:effectLst/>
                <a:latin typeface="Times New Roman" pitchFamily="18" charset="0"/>
                <a:cs typeface="Times New Roman" pitchFamily="18" charset="0"/>
              </a:rPr>
              <a:t>.</a:t>
            </a:r>
            <a:r>
              <a:rPr lang="ru-RU" sz="2000" dirty="0">
                <a:effectLst/>
                <a:latin typeface="Times New Roman" pitchFamily="18" charset="0"/>
                <a:cs typeface="Times New Roman" pitchFamily="18" charset="0"/>
              </a:rPr>
              <a:t> Сварка проводится универсальным вольфрамовым электродом (AC/DC) любой окраски или специализированным для работы переменным током (AC) зеленого цвета. Конец заостряется, но оставляется притупление. После розжига дуги он станет похожим на каплю. Чтобы вольфрам не перегревался, электрод вставляют в сопло с вылетом 3 — 5 мм. При работе он загрязняется алюминиевыми брызгами, тогда конец снова заостряют</a:t>
            </a:r>
            <a:r>
              <a:rPr lang="ru-RU" sz="2000" dirty="0" smtClean="0">
                <a:effectLst/>
                <a:latin typeface="Times New Roman" pitchFamily="18" charset="0"/>
                <a:cs typeface="Times New Roman" pitchFamily="18" charset="0"/>
              </a:rPr>
              <a:t>.</a:t>
            </a:r>
            <a:endParaRPr lang="ru-RU" dirty="0"/>
          </a:p>
          <a:p>
            <a:pPr marL="18288" indent="0">
              <a:buNone/>
            </a:pPr>
            <a:endParaRPr lang="ru-RU" dirty="0"/>
          </a:p>
        </p:txBody>
      </p:sp>
    </p:spTree>
    <p:extLst>
      <p:ext uri="{BB962C8B-B14F-4D97-AF65-F5344CB8AC3E}">
        <p14:creationId xmlns:p14="http://schemas.microsoft.com/office/powerpoint/2010/main" val="4123002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0"/>
          </a:xfrm>
        </p:spPr>
        <p:txBody>
          <a:bodyPr>
            <a:normAutofit fontScale="92500" lnSpcReduction="10000"/>
          </a:bodyPr>
          <a:lstStyle/>
          <a:p>
            <a:pPr marL="18288" indent="0" fontAlgn="base">
              <a:buNone/>
            </a:pPr>
            <a:r>
              <a:rPr lang="ru-RU" sz="2200" dirty="0">
                <a:effectLst/>
                <a:latin typeface="Times New Roman" pitchFamily="18" charset="0"/>
                <a:cs typeface="Times New Roman" pitchFamily="18" charset="0"/>
              </a:rPr>
              <a:t>Т</a:t>
            </a:r>
            <a:r>
              <a:rPr lang="ru-RU" sz="2200" dirty="0" smtClean="0">
                <a:effectLst/>
                <a:latin typeface="Times New Roman" pitchFamily="18" charset="0"/>
                <a:cs typeface="Times New Roman" pitchFamily="18" charset="0"/>
              </a:rPr>
              <a:t>ак </a:t>
            </a:r>
            <a:r>
              <a:rPr lang="ru-RU" sz="2200" dirty="0">
                <a:effectLst/>
                <a:latin typeface="Times New Roman" pitchFamily="18" charset="0"/>
                <a:cs typeface="Times New Roman" pitchFamily="18" charset="0"/>
              </a:rPr>
              <a:t>как у алюминия высокая скорость плавления присадочная проволока должна быть диаметром не меньше толщины деталей, чтобы успевать продвигать ее. Она может подаваться вручную или механизмом полуавтомата. Работая с чистым алюминием, чаще всего выбирают проволоку №5356, а со сплавами — №4043, с добавлением кремния.</a:t>
            </a:r>
          </a:p>
          <a:p>
            <a:pPr marL="18288" indent="0" fontAlgn="base">
              <a:buNone/>
            </a:pPr>
            <a:r>
              <a:rPr lang="ru-RU" sz="2200" dirty="0">
                <a:effectLst/>
                <a:latin typeface="Times New Roman" pitchFamily="18" charset="0"/>
                <a:cs typeface="Times New Roman" pitchFamily="18" charset="0"/>
              </a:rPr>
              <a:t>Для </a:t>
            </a:r>
            <a:r>
              <a:rPr lang="ru-RU" sz="2200" dirty="0" err="1">
                <a:effectLst/>
                <a:latin typeface="Times New Roman" pitchFamily="18" charset="0"/>
                <a:cs typeface="Times New Roman" pitchFamily="18" charset="0"/>
              </a:rPr>
              <a:t>tig</a:t>
            </a:r>
            <a:r>
              <a:rPr lang="ru-RU" sz="2200" dirty="0">
                <a:effectLst/>
                <a:latin typeface="Times New Roman" pitchFamily="18" charset="0"/>
                <a:cs typeface="Times New Roman" pitchFamily="18" charset="0"/>
              </a:rPr>
              <a:t> сварки алюминия требуется чистый газ аргон с концентрацией 98 — 99%. Поэтому покупать его нужно у надежных продавцов. Редуктор и манометры лучше выбрать импортные, поскольку они позволяют точнее настраивать расход, чем отечественные модели.</a:t>
            </a:r>
          </a:p>
          <a:p>
            <a:pPr marL="18288" indent="0" fontAlgn="base">
              <a:buNone/>
            </a:pPr>
            <a:r>
              <a:rPr lang="ru-RU" sz="2200" b="1" dirty="0">
                <a:effectLst/>
                <a:latin typeface="Times New Roman" pitchFamily="18" charset="0"/>
                <a:cs typeface="Times New Roman" pitchFamily="18" charset="0"/>
              </a:rPr>
              <a:t>Настройка аргонового аппарата</a:t>
            </a:r>
          </a:p>
          <a:p>
            <a:pPr marL="18288" indent="0" fontAlgn="base">
              <a:buNone/>
            </a:pPr>
            <a:r>
              <a:rPr lang="ru-RU" sz="2200" dirty="0">
                <a:effectLst/>
                <a:latin typeface="Times New Roman" pitchFamily="18" charset="0"/>
                <a:cs typeface="Times New Roman" pitchFamily="18" charset="0"/>
              </a:rPr>
              <a:t>Сначала настраивается расход газа в диапазоне 6 — 12 л/мин по манометру, который ближе к шлангу. Работая в помещении, значение устанавливается в 1,5 раза меньше чем на улице. Завышенный расход создает турбулентные завихрения, которые газ смешивают с воздухом, снижая тем самым надежность защиты зоны сварки.</a:t>
            </a:r>
          </a:p>
          <a:p>
            <a:pPr marL="18288" indent="0" fontAlgn="base">
              <a:buNone/>
            </a:pPr>
            <a:r>
              <a:rPr lang="ru-RU" sz="2200" dirty="0">
                <a:effectLst/>
                <a:latin typeface="Times New Roman" pitchFamily="18" charset="0"/>
                <a:cs typeface="Times New Roman" pitchFamily="18" charset="0"/>
              </a:rPr>
              <a:t>Для алюминия устанавливается полярность 50/50. Однако при работе с чистым металлом для получения тонкого шва и меньшего разогрева электрода регулятор баланса тока сдвигают в сторону отрицательных значений. Для сплавов лучше пользоваться положительным диапазоном, но не увлекаясь. Переменный ток с большой положительной полуволной губителен для электрода.</a:t>
            </a:r>
          </a:p>
          <a:p>
            <a:pPr marL="18288" indent="0" fontAlgn="base">
              <a:buNone/>
            </a:pPr>
            <a:r>
              <a:rPr lang="ru-RU" sz="2200" dirty="0">
                <a:effectLst/>
                <a:latin typeface="Times New Roman" pitchFamily="18" charset="0"/>
                <a:cs typeface="Times New Roman" pitchFamily="18" charset="0"/>
              </a:rPr>
              <a:t>Время затухания дуги при заваривании кратера, в зависимости от толщины заготовок устанавливается 2 — 4 секунды. Продолжительность подачи аргона после завершения сварки 3 — 5 секунд.</a:t>
            </a:r>
          </a:p>
          <a:p>
            <a:pPr marL="18288" indent="0">
              <a:buNone/>
            </a:pPr>
            <a:endParaRPr lang="ru-RU" dirty="0"/>
          </a:p>
        </p:txBody>
      </p:sp>
    </p:spTree>
    <p:extLst>
      <p:ext uri="{BB962C8B-B14F-4D97-AF65-F5344CB8AC3E}">
        <p14:creationId xmlns:p14="http://schemas.microsoft.com/office/powerpoint/2010/main" val="18010619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0" y="-1"/>
            <a:ext cx="9144000" cy="6858001"/>
          </a:xfrm>
        </p:spPr>
        <p:txBody>
          <a:bodyPr>
            <a:normAutofit fontScale="62500" lnSpcReduction="20000"/>
          </a:bodyPr>
          <a:lstStyle/>
          <a:p>
            <a:pPr marL="18288" indent="0" algn="ctr" fontAlgn="base">
              <a:buNone/>
            </a:pPr>
            <a:r>
              <a:rPr lang="ru-RU" sz="2900" b="1" dirty="0">
                <a:effectLst/>
                <a:latin typeface="Times New Roman" pitchFamily="18" charset="0"/>
                <a:cs typeface="Times New Roman" pitchFamily="18" charset="0"/>
              </a:rPr>
              <a:t>Подготовка деталей к сварке</a:t>
            </a:r>
          </a:p>
          <a:p>
            <a:pPr marL="18288" indent="0" fontAlgn="base">
              <a:buNone/>
            </a:pPr>
            <a:r>
              <a:rPr lang="ru-RU" sz="2900" dirty="0">
                <a:effectLst/>
                <a:latin typeface="Times New Roman" pitchFamily="18" charset="0"/>
                <a:cs typeface="Times New Roman" pitchFamily="18" charset="0"/>
              </a:rPr>
              <a:t>Прежде чем начинать сваривать детали их очищают от грязи и жира любым растворителем. Оксидную пленку удаляют щеткой с металлическим ворсом или напильником. Использование абразивного инструмента нежелательно. Крупинки, оставшиеся в царапинах, попадут внутрь шва, что не лучшим образом скажется на его качестве. С кромок толстого алюминия (больше 4 мм) снимают фаски под углом 45 — 65⁰.</a:t>
            </a:r>
          </a:p>
          <a:p>
            <a:pPr marL="18288" indent="0" fontAlgn="base">
              <a:buNone/>
            </a:pPr>
            <a:r>
              <a:rPr lang="ru-RU" sz="2900" dirty="0">
                <a:effectLst/>
                <a:latin typeface="Times New Roman" pitchFamily="18" charset="0"/>
                <a:cs typeface="Times New Roman" pitchFamily="18" charset="0"/>
              </a:rPr>
              <a:t>Для удаления влаги заготовки подогреваются до 150⁰C. Для снижения риска прожога тонкого металла до нуля под заготовки подкладывают стальные или медные пластины. Они улучшают отвод тепла, что позволяет ускорить процесс, за счет чего экономится энергия и газ. Сварку в среде аргона проводят сразу после подготовки, чтобы алюминий не успел окислиться</a:t>
            </a:r>
            <a:r>
              <a:rPr lang="ru-RU" sz="2900" dirty="0" smtClean="0">
                <a:effectLst/>
                <a:latin typeface="Times New Roman" pitchFamily="18" charset="0"/>
                <a:cs typeface="Times New Roman" pitchFamily="18" charset="0"/>
              </a:rPr>
              <a:t>.</a:t>
            </a:r>
          </a:p>
          <a:p>
            <a:pPr marL="18288" indent="0" algn="ctr" fontAlgn="base">
              <a:buNone/>
            </a:pPr>
            <a:r>
              <a:rPr lang="ru-RU" sz="2900" b="1" dirty="0">
                <a:effectLst/>
                <a:latin typeface="Times New Roman" pitchFamily="18" charset="0"/>
                <a:cs typeface="Times New Roman" pitchFamily="18" charset="0"/>
              </a:rPr>
              <a:t>Процесс сварки алюминия</a:t>
            </a:r>
          </a:p>
          <a:p>
            <a:pPr marL="532638" indent="-514350" fontAlgn="base">
              <a:buFont typeface="+mj-lt"/>
              <a:buAutoNum type="arabicPeriod"/>
            </a:pPr>
            <a:r>
              <a:rPr lang="ru-RU" sz="2900" dirty="0">
                <a:effectLst/>
                <a:latin typeface="Times New Roman" pitchFamily="18" charset="0"/>
                <a:cs typeface="Times New Roman" pitchFamily="18" charset="0"/>
              </a:rPr>
              <a:t>Для создания ровного шва заготовки предварительно прихватываются с обеих сторон.</a:t>
            </a:r>
          </a:p>
          <a:p>
            <a:pPr marL="532638" indent="-514350" fontAlgn="base">
              <a:buFont typeface="+mj-lt"/>
              <a:buAutoNum type="arabicPeriod"/>
            </a:pPr>
            <a:r>
              <a:rPr lang="ru-RU" sz="2900" dirty="0">
                <a:effectLst/>
                <a:latin typeface="Times New Roman" pitchFamily="18" charset="0"/>
                <a:cs typeface="Times New Roman" pitchFamily="18" charset="0"/>
              </a:rPr>
              <a:t>Присадочную проволоку подают после появления сварочной ванны. Важно не промедлить, чтобы не прожечь в металле дырку.</a:t>
            </a:r>
          </a:p>
          <a:p>
            <a:pPr marL="532638" indent="-514350" fontAlgn="base">
              <a:buFont typeface="+mj-lt"/>
              <a:buAutoNum type="arabicPeriod"/>
            </a:pPr>
            <a:r>
              <a:rPr lang="ru-RU" sz="2900" dirty="0">
                <a:effectLst/>
                <a:latin typeface="Times New Roman" pitchFamily="18" charset="0"/>
                <a:cs typeface="Times New Roman" pitchFamily="18" charset="0"/>
              </a:rPr>
              <a:t>При сваривании алюминия аргоном длину дуги выдерживают на уровне 3 мм.</a:t>
            </a:r>
          </a:p>
          <a:p>
            <a:pPr marL="532638" indent="-514350" fontAlgn="base">
              <a:buFont typeface="+mj-lt"/>
              <a:buAutoNum type="arabicPeriod"/>
            </a:pPr>
            <a:r>
              <a:rPr lang="ru-RU" sz="2900" dirty="0">
                <a:effectLst/>
                <a:latin typeface="Times New Roman" pitchFamily="18" charset="0"/>
                <a:cs typeface="Times New Roman" pitchFamily="18" charset="0"/>
              </a:rPr>
              <a:t>Электрод располагают под углом 80⁰, а проволоку перпендикулярно к нему. Для предотвращения разбрызгивания алюминия ее подают плавно, без рывков.</a:t>
            </a:r>
          </a:p>
          <a:p>
            <a:pPr marL="532638" indent="-514350" fontAlgn="base">
              <a:buFont typeface="+mj-lt"/>
              <a:buAutoNum type="arabicPeriod"/>
            </a:pPr>
            <a:r>
              <a:rPr lang="ru-RU" sz="2900" dirty="0">
                <a:effectLst/>
                <a:latin typeface="Times New Roman" pitchFamily="18" charset="0"/>
                <a:cs typeface="Times New Roman" pitchFamily="18" charset="0"/>
              </a:rPr>
              <a:t>Если сваривается тонкий алюминий, электрод ведут вдоль стыка без поперечных движений. При работе с заготовками толще 3 мм допускаются зигзагообразные колебания.</a:t>
            </a:r>
          </a:p>
          <a:p>
            <a:pPr marL="532638" indent="-514350" fontAlgn="base">
              <a:buFont typeface="+mj-lt"/>
              <a:buAutoNum type="arabicPeriod"/>
            </a:pPr>
            <a:r>
              <a:rPr lang="ru-RU" sz="2900" dirty="0">
                <a:effectLst/>
                <a:latin typeface="Times New Roman" pitchFamily="18" charset="0"/>
                <a:cs typeface="Times New Roman" pitchFamily="18" charset="0"/>
              </a:rPr>
              <a:t>Технология сваривания аргоном предусматривает движение проволоки перед электродом.</a:t>
            </a:r>
          </a:p>
          <a:p>
            <a:pPr marL="532638" indent="-514350" fontAlgn="base">
              <a:buFont typeface="+mj-lt"/>
              <a:buAutoNum type="arabicPeriod"/>
            </a:pPr>
            <a:r>
              <a:rPr lang="ru-RU" sz="2900" dirty="0">
                <a:effectLst/>
                <a:latin typeface="Times New Roman" pitchFamily="18" charset="0"/>
                <a:cs typeface="Times New Roman" pitchFamily="18" charset="0"/>
              </a:rPr>
              <a:t>Шов завершается нажатием кнопки на аппарате, которая включает таймер затухания дуги.</a:t>
            </a:r>
          </a:p>
          <a:p>
            <a:pPr marL="532638" indent="-514350" fontAlgn="base">
              <a:buFont typeface="+mj-lt"/>
              <a:buAutoNum type="arabicPeriod"/>
            </a:pPr>
            <a:r>
              <a:rPr lang="ru-RU" sz="2900" dirty="0">
                <a:effectLst/>
                <a:latin typeface="Times New Roman" pitchFamily="18" charset="0"/>
                <a:cs typeface="Times New Roman" pitchFamily="18" charset="0"/>
              </a:rPr>
              <a:t>Положение горелки не меняют до окончания продувки аргоном.</a:t>
            </a:r>
          </a:p>
          <a:p>
            <a:pPr marL="532638" indent="-514350" fontAlgn="base">
              <a:buFont typeface="+mj-lt"/>
              <a:buAutoNum type="arabicPeriod"/>
            </a:pPr>
            <a:r>
              <a:rPr lang="ru-RU" sz="2900" dirty="0">
                <a:effectLst/>
                <a:latin typeface="Times New Roman" pitchFamily="18" charset="0"/>
                <a:cs typeface="Times New Roman" pitchFamily="18" charset="0"/>
              </a:rPr>
              <a:t>У правильно сделанного шва поверхность получается ребристой без пор и трещин.</a:t>
            </a:r>
          </a:p>
          <a:p>
            <a:pPr marL="18288" indent="0" fontAlgn="base">
              <a:buNone/>
            </a:pPr>
            <a:endParaRPr lang="ru-RU" dirty="0">
              <a:effectLst/>
            </a:endParaRPr>
          </a:p>
          <a:p>
            <a:pPr marL="18288" indent="0">
              <a:buNone/>
            </a:pPr>
            <a:endParaRPr lang="ru-RU" dirty="0"/>
          </a:p>
        </p:txBody>
      </p:sp>
    </p:spTree>
    <p:extLst>
      <p:ext uri="{BB962C8B-B14F-4D97-AF65-F5344CB8AC3E}">
        <p14:creationId xmlns:p14="http://schemas.microsoft.com/office/powerpoint/2010/main" val="387087225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Базовая">
  <a:themeElements>
    <a:clrScheme name="Базовая">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Базовая">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Базовая">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154</TotalTime>
  <Words>2848</Words>
  <Application>Microsoft Office PowerPoint</Application>
  <PresentationFormat>Экран (4:3)</PresentationFormat>
  <Paragraphs>146</Paragraphs>
  <Slides>22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22</vt:i4>
      </vt:variant>
    </vt:vector>
  </HeadingPairs>
  <TitlesOfParts>
    <vt:vector size="23" baseType="lpstr">
      <vt:lpstr>Базовая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Технология сварки цветных металлов частично механизированной сваркой</dc:title>
  <dc:creator>Пользователь</dc:creator>
  <cp:lastModifiedBy>Владос савченко</cp:lastModifiedBy>
  <cp:revision>16</cp:revision>
  <dcterms:created xsi:type="dcterms:W3CDTF">2020-04-22T09:57:03Z</dcterms:created>
  <dcterms:modified xsi:type="dcterms:W3CDTF">2024-05-19T13:34:28Z</dcterms:modified>
</cp:coreProperties>
</file>