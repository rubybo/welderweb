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21" r:id="rId3"/>
    <p:sldId id="289" r:id="rId4"/>
    <p:sldId id="290" r:id="rId5"/>
    <p:sldId id="270" r:id="rId6"/>
    <p:sldId id="266" r:id="rId7"/>
    <p:sldId id="264" r:id="rId8"/>
    <p:sldId id="271" r:id="rId9"/>
    <p:sldId id="305" r:id="rId10"/>
    <p:sldId id="274" r:id="rId11"/>
    <p:sldId id="281" r:id="rId12"/>
    <p:sldId id="283" r:id="rId13"/>
    <p:sldId id="282" r:id="rId14"/>
    <p:sldId id="288" r:id="rId15"/>
    <p:sldId id="303" r:id="rId16"/>
    <p:sldId id="293" r:id="rId17"/>
    <p:sldId id="294" r:id="rId18"/>
    <p:sldId id="299" r:id="rId19"/>
    <p:sldId id="300" r:id="rId20"/>
    <p:sldId id="273" r:id="rId21"/>
    <p:sldId id="301" r:id="rId22"/>
    <p:sldId id="276" r:id="rId23"/>
    <p:sldId id="279" r:id="rId24"/>
    <p:sldId id="259" r:id="rId25"/>
    <p:sldId id="306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11" r:id="rId34"/>
    <p:sldId id="267" r:id="rId35"/>
    <p:sldId id="312" r:id="rId36"/>
    <p:sldId id="275" r:id="rId37"/>
    <p:sldId id="313" r:id="rId38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>
        <p:scale>
          <a:sx n="29" d="100"/>
          <a:sy n="29" d="100"/>
        </p:scale>
        <p:origin x="-2322" y="-9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10">
            <a:extLst>
              <a:ext uri="{FF2B5EF4-FFF2-40B4-BE49-F238E27FC236}">
                <a16:creationId xmlns:a16="http://schemas.microsoft.com/office/drawing/2014/main" xmlns="" id="{CF6FAD3D-EAA0-426A-BE65-DF787619B151}"/>
              </a:ext>
            </a:extLst>
          </p:cNvPr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5" name="Группа 15">
            <a:extLst>
              <a:ext uri="{FF2B5EF4-FFF2-40B4-BE49-F238E27FC236}">
                <a16:creationId xmlns:a16="http://schemas.microsoft.com/office/drawing/2014/main" xmlns="" id="{2D7D94D4-1A4C-4B18-A846-E857E66C6D23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Полилиния 16">
              <a:extLst>
                <a:ext uri="{FF2B5EF4-FFF2-40B4-BE49-F238E27FC236}">
                  <a16:creationId xmlns:a16="http://schemas.microsoft.com/office/drawing/2014/main" xmlns="" id="{774120CD-9A4B-4321-A35C-8AA66306A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7" name="Полилиния 18">
              <a:extLst>
                <a:ext uri="{FF2B5EF4-FFF2-40B4-BE49-F238E27FC236}">
                  <a16:creationId xmlns:a16="http://schemas.microsoft.com/office/drawing/2014/main" xmlns="" id="{38B797F5-57AF-47B4-ADA2-95CE705BF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5760 w 5760"/>
                <a:gd name="T3" fmla="*/ 0 h 528"/>
                <a:gd name="T4" fmla="*/ 5760 w 5760"/>
                <a:gd name="T5" fmla="*/ 528 h 528"/>
                <a:gd name="T6" fmla="*/ 48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Полилиния 19">
              <a:extLst>
                <a:ext uri="{FF2B5EF4-FFF2-40B4-BE49-F238E27FC236}">
                  <a16:creationId xmlns:a16="http://schemas.microsoft.com/office/drawing/2014/main" xmlns="" id="{915293C8-BC40-4C00-BD1A-0593418CA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10" name="Прямая соединительная линия 20">
              <a:extLst>
                <a:ext uri="{FF2B5EF4-FFF2-40B4-BE49-F238E27FC236}">
                  <a16:creationId xmlns:a16="http://schemas.microsoft.com/office/drawing/2014/main" xmlns="" id="{F1401D13-598B-4226-8677-5951D249397F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11" name="Дата 29">
            <a:extLst>
              <a:ext uri="{FF2B5EF4-FFF2-40B4-BE49-F238E27FC236}">
                <a16:creationId xmlns:a16="http://schemas.microsoft.com/office/drawing/2014/main" xmlns="" id="{1E029B79-B489-4DC4-8781-643406FF7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54307D33-2892-4727-801E-E2EEC6E80D0F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12" name="Нижний колонтитул 18">
            <a:extLst>
              <a:ext uri="{FF2B5EF4-FFF2-40B4-BE49-F238E27FC236}">
                <a16:creationId xmlns:a16="http://schemas.microsoft.com/office/drawing/2014/main" xmlns="" id="{B4908CCB-F2AE-4B9D-AEDF-D012BE67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13" name="Номер слайда 26">
            <a:extLst>
              <a:ext uri="{FF2B5EF4-FFF2-40B4-BE49-F238E27FC236}">
                <a16:creationId xmlns:a16="http://schemas.microsoft.com/office/drawing/2014/main" xmlns="" id="{F48C1A57-8253-4D8B-9328-CA32AED4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D04648B-4C95-4249-A799-3E32377EA01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4877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Дата 9">
            <a:extLst>
              <a:ext uri="{FF2B5EF4-FFF2-40B4-BE49-F238E27FC236}">
                <a16:creationId xmlns:a16="http://schemas.microsoft.com/office/drawing/2014/main" xmlns="" id="{D0953902-720B-467D-9C25-0A8BD393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302E-0C60-480D-9528-5BFA04FD2411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5" name="Нижний колонтитул 21">
            <a:extLst>
              <a:ext uri="{FF2B5EF4-FFF2-40B4-BE49-F238E27FC236}">
                <a16:creationId xmlns:a16="http://schemas.microsoft.com/office/drawing/2014/main" xmlns="" id="{5BB1D730-53A6-4CA0-985E-D755261BF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>
            <a:extLst>
              <a:ext uri="{FF2B5EF4-FFF2-40B4-BE49-F238E27FC236}">
                <a16:creationId xmlns:a16="http://schemas.microsoft.com/office/drawing/2014/main" xmlns="" id="{690A0779-74C1-497C-B7F6-30149024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85E5A5-8062-4A72-AFAD-3BBE109E84E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4951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ашивка 10">
            <a:extLst>
              <a:ext uri="{FF2B5EF4-FFF2-40B4-BE49-F238E27FC236}">
                <a16:creationId xmlns:a16="http://schemas.microsoft.com/office/drawing/2014/main" xmlns="" id="{86FC264B-BF03-4838-A0F4-80E3A656B644}"/>
              </a:ext>
            </a:extLst>
          </p:cNvPr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Нашивка 15">
            <a:extLst>
              <a:ext uri="{FF2B5EF4-FFF2-40B4-BE49-F238E27FC236}">
                <a16:creationId xmlns:a16="http://schemas.microsoft.com/office/drawing/2014/main" xmlns="" id="{DD793C5F-9346-437B-B5E4-0C3AE95A6027}"/>
              </a:ext>
            </a:extLst>
          </p:cNvPr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Дата 3">
            <a:extLst>
              <a:ext uri="{FF2B5EF4-FFF2-40B4-BE49-F238E27FC236}">
                <a16:creationId xmlns:a16="http://schemas.microsoft.com/office/drawing/2014/main" xmlns="" id="{FCF82589-FAAD-4807-9EAE-AA696E477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5F9BFA3-E7CD-41AB-9A51-8D9078DFE9CA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xmlns="" id="{8969B993-5C5F-485D-8A3E-5BC2100F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1CD597E0-2546-47BA-B817-50DAF45F4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7FAE46-04D1-4A24-81C3-721B52A9178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18115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82E59358-5329-4BC4-8DCE-5E827941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98A1E53-5824-4E39-92A8-69093DE0F961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D923A212-EB1C-4B13-A787-E2AB1EA8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9DD86E7F-09E3-49D1-B244-04B7115FA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14D2C2-9543-41EC-853F-DE8ADB1130A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66023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32A2C0DF-1F22-4CE9-8FEF-19CB3A7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7DDF5FE-C7E1-467B-A679-ED202F316543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C1FC42DD-ED82-42B3-A0C5-74355DE36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48EEE022-268F-4AB6-B4A0-9C69489A8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ACCBA-06F3-448A-924C-1B0867C3206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88883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873A89B3-9A40-46E0-8B58-F3D9A4B2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BF14EE1-B1AB-4117-9FF0-93346B79D350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2D82FA79-7773-4AD8-B17B-94291AC6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DFAC5A43-1460-4847-AD9A-1BB53F0A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03AE6B-6107-424D-B2D9-F0235137127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63203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9">
            <a:extLst>
              <a:ext uri="{FF2B5EF4-FFF2-40B4-BE49-F238E27FC236}">
                <a16:creationId xmlns:a16="http://schemas.microsoft.com/office/drawing/2014/main" xmlns="" id="{330A9D45-9557-439C-8FC4-724F4A97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A41FF7-8A03-4869-B6E3-B76A0C6301EA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3" name="Нижний колонтитул 21">
            <a:extLst>
              <a:ext uri="{FF2B5EF4-FFF2-40B4-BE49-F238E27FC236}">
                <a16:creationId xmlns:a16="http://schemas.microsoft.com/office/drawing/2014/main" xmlns="" id="{C6D316FA-656C-40EB-8048-95629195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17">
            <a:extLst>
              <a:ext uri="{FF2B5EF4-FFF2-40B4-BE49-F238E27FC236}">
                <a16:creationId xmlns:a16="http://schemas.microsoft.com/office/drawing/2014/main" xmlns="" id="{FEEF20C7-F160-4F28-8321-60E55AE2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70F651-DBAF-49F2-9795-1D3DF13C44F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5871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42C998C-1801-45D2-B142-31A78F8C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2E83AE2-5BC9-429B-B01F-4A11864860A6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EC190B0B-F993-4C3F-8B9C-3B14B5A4A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BAB7F37-B154-4FB4-B70E-2A4199C7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317D0F-66FD-48EA-A735-EFE4593FC78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34507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10">
            <a:extLst>
              <a:ext uri="{FF2B5EF4-FFF2-40B4-BE49-F238E27FC236}">
                <a16:creationId xmlns:a16="http://schemas.microsoft.com/office/drawing/2014/main" xmlns="" id="{B8FAAF55-49D0-438A-8D4B-446CE3B3B589}"/>
              </a:ext>
            </a:extLst>
          </p:cNvPr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6" name="Полилиния 15">
            <a:extLst>
              <a:ext uri="{FF2B5EF4-FFF2-40B4-BE49-F238E27FC236}">
                <a16:creationId xmlns:a16="http://schemas.microsoft.com/office/drawing/2014/main" xmlns="" id="{92280277-1343-49AD-9266-FBF88EE92E42}"/>
              </a:ext>
            </a:extLst>
          </p:cNvPr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Прямоугольный треугольник 16">
            <a:extLst>
              <a:ext uri="{FF2B5EF4-FFF2-40B4-BE49-F238E27FC236}">
                <a16:creationId xmlns:a16="http://schemas.microsoft.com/office/drawing/2014/main" xmlns="" id="{350FEBBE-D323-481D-BBF1-5ADD03FD80EC}"/>
              </a:ext>
            </a:extLst>
          </p:cNvPr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Прямая соединительная линия 18">
            <a:extLst>
              <a:ext uri="{FF2B5EF4-FFF2-40B4-BE49-F238E27FC236}">
                <a16:creationId xmlns:a16="http://schemas.microsoft.com/office/drawing/2014/main" xmlns="" id="{558BA6B5-97C8-4F11-9011-D14658A88557}"/>
              </a:ext>
            </a:extLst>
          </p:cNvPr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Нашивка 19">
            <a:extLst>
              <a:ext uri="{FF2B5EF4-FFF2-40B4-BE49-F238E27FC236}">
                <a16:creationId xmlns:a16="http://schemas.microsoft.com/office/drawing/2014/main" xmlns="" id="{967EB14D-F8B5-46DB-B763-4224A6F9B228}"/>
              </a:ext>
            </a:extLst>
          </p:cNvPr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Нашивка 20">
            <a:extLst>
              <a:ext uri="{FF2B5EF4-FFF2-40B4-BE49-F238E27FC236}">
                <a16:creationId xmlns:a16="http://schemas.microsoft.com/office/drawing/2014/main" xmlns="" id="{3AE767BD-8FF7-42F7-AA2B-752C2F28A702}"/>
              </a:ext>
            </a:extLst>
          </p:cNvPr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1" name="Дата 4">
            <a:extLst>
              <a:ext uri="{FF2B5EF4-FFF2-40B4-BE49-F238E27FC236}">
                <a16:creationId xmlns:a16="http://schemas.microsoft.com/office/drawing/2014/main" xmlns="" id="{6F17F93A-2B4C-4C88-AE07-7809C817F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C06D5176-C195-4DAB-BC83-3D51F7EE795C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12" name="Нижний колонтитул 5">
            <a:extLst>
              <a:ext uri="{FF2B5EF4-FFF2-40B4-BE49-F238E27FC236}">
                <a16:creationId xmlns:a16="http://schemas.microsoft.com/office/drawing/2014/main" xmlns="" id="{8688947B-C5DC-4748-BCCA-ADE3095C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13" name="Номер слайда 6">
            <a:extLst>
              <a:ext uri="{FF2B5EF4-FFF2-40B4-BE49-F238E27FC236}">
                <a16:creationId xmlns:a16="http://schemas.microsoft.com/office/drawing/2014/main" xmlns="" id="{3D362719-EEE3-46AA-9776-2FC528FA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AB132-F43E-4484-A3ED-A811DE9C0F7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932083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9">
            <a:extLst>
              <a:ext uri="{FF2B5EF4-FFF2-40B4-BE49-F238E27FC236}">
                <a16:creationId xmlns:a16="http://schemas.microsoft.com/office/drawing/2014/main" xmlns="" id="{666D0612-DB01-4999-8956-7DA7ADAC2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0579A-34EF-48C0-AB3F-71A5334FAB30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5" name="Нижний колонтитул 21">
            <a:extLst>
              <a:ext uri="{FF2B5EF4-FFF2-40B4-BE49-F238E27FC236}">
                <a16:creationId xmlns:a16="http://schemas.microsoft.com/office/drawing/2014/main" xmlns="" id="{048D8B9D-BBE2-428E-B208-F4DA04CC4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>
            <a:extLst>
              <a:ext uri="{FF2B5EF4-FFF2-40B4-BE49-F238E27FC236}">
                <a16:creationId xmlns:a16="http://schemas.microsoft.com/office/drawing/2014/main" xmlns="" id="{ADC3690E-E39D-4709-823F-0FCA8676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862985-56DE-4E70-AE01-588D42BD311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5840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9">
            <a:extLst>
              <a:ext uri="{FF2B5EF4-FFF2-40B4-BE49-F238E27FC236}">
                <a16:creationId xmlns:a16="http://schemas.microsoft.com/office/drawing/2014/main" xmlns="" id="{77806C7B-8306-49E0-B1C5-C4A314C2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0F0B56-C7E8-47FB-B4D4-6E5D9F5EC72A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5" name="Нижний колонтитул 21">
            <a:extLst>
              <a:ext uri="{FF2B5EF4-FFF2-40B4-BE49-F238E27FC236}">
                <a16:creationId xmlns:a16="http://schemas.microsoft.com/office/drawing/2014/main" xmlns="" id="{77EA3742-CF43-4A08-AA64-1843BE048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17">
            <a:extLst>
              <a:ext uri="{FF2B5EF4-FFF2-40B4-BE49-F238E27FC236}">
                <a16:creationId xmlns:a16="http://schemas.microsoft.com/office/drawing/2014/main" xmlns="" id="{3A47D84B-72B4-4325-8F6C-932A867E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85B0B7-6945-4146-8B61-70D10C1C52E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65044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67EF9C45-F058-437D-987E-997B3622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BBCBD59C-20C0-470C-9365-7CD64847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161C5A67-4B2A-4C93-B86E-D1186F10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B280039-CA86-404F-B6BB-CFFDE05AEF2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15894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xmlns="" id="{DD8D8E04-41F1-4F5B-98D7-6C999549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xmlns="" id="{0FE21254-8257-40A9-A5F8-AEA82E0B1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xmlns="" id="{3E4C6EEA-C950-441B-B885-C7449F35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DF841E6-6D38-4AC6-990D-EDC18EF8FC8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95294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1_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481138"/>
            <a:ext cx="4038600" cy="45259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481138"/>
            <a:ext cx="4038600" cy="21859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8200" y="3819525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9">
            <a:extLst>
              <a:ext uri="{FF2B5EF4-FFF2-40B4-BE49-F238E27FC236}">
                <a16:creationId xmlns:a16="http://schemas.microsoft.com/office/drawing/2014/main" xmlns="" id="{C4A99570-F876-4C07-AB62-AB1B3083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F775A-F7CA-492F-AE74-485698A18558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7" name="Нижний колонтитул 21">
            <a:extLst>
              <a:ext uri="{FF2B5EF4-FFF2-40B4-BE49-F238E27FC236}">
                <a16:creationId xmlns:a16="http://schemas.microsoft.com/office/drawing/2014/main" xmlns="" id="{7B9FB2D1-5683-47CB-B075-4CB14B4A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17">
            <a:extLst>
              <a:ext uri="{FF2B5EF4-FFF2-40B4-BE49-F238E27FC236}">
                <a16:creationId xmlns:a16="http://schemas.microsoft.com/office/drawing/2014/main" xmlns="" id="{522954E3-EEEE-4B99-B3CA-3A7B7849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443BB-5140-477E-A62E-879CB3C7FC5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1726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A9CBD8"/>
            </a:gs>
            <a:gs pos="50000">
              <a:srgbClr val="CADEE6"/>
            </a:gs>
            <a:gs pos="100000">
              <a:srgbClr val="E5EEF2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>
            <a:extLst>
              <a:ext uri="{FF2B5EF4-FFF2-40B4-BE49-F238E27FC236}">
                <a16:creationId xmlns:a16="http://schemas.microsoft.com/office/drawing/2014/main" xmlns="" id="{966EDE8E-7BB5-4C55-A7C3-C96BA2941493}"/>
              </a:ext>
            </a:extLst>
          </p:cNvPr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27" name="Полилиния 11">
            <a:extLst>
              <a:ext uri="{FF2B5EF4-FFF2-40B4-BE49-F238E27FC236}">
                <a16:creationId xmlns:a16="http://schemas.microsoft.com/office/drawing/2014/main" xmlns="" id="{8816E6CC-0DD3-465E-8B20-1DFC49B051AA}"/>
              </a:ext>
            </a:extLst>
          </p:cNvPr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Прямоугольный треугольник 13">
            <a:extLst>
              <a:ext uri="{FF2B5EF4-FFF2-40B4-BE49-F238E27FC236}">
                <a16:creationId xmlns:a16="http://schemas.microsoft.com/office/drawing/2014/main" xmlns="" id="{11406DA2-0E96-4817-8575-84D6C54D42C4}"/>
              </a:ext>
            </a:extLst>
          </p:cNvPr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6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xmlns="" id="{327A6047-0376-449E-A35A-026CFF6F915E}"/>
              </a:ext>
            </a:extLst>
          </p:cNvPr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>
            <a:extLst>
              <a:ext uri="{FF2B5EF4-FFF2-40B4-BE49-F238E27FC236}">
                <a16:creationId xmlns:a16="http://schemas.microsoft.com/office/drawing/2014/main" xmlns="" id="{68F0D6CE-0470-496B-84F9-1E0F7813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33" name="Текст 29">
            <a:extLst>
              <a:ext uri="{FF2B5EF4-FFF2-40B4-BE49-F238E27FC236}">
                <a16:creationId xmlns:a16="http://schemas.microsoft.com/office/drawing/2014/main" xmlns="" id="{C6DAB52A-F4BB-4E00-B591-488516CB4B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10" name="Дата 9">
            <a:extLst>
              <a:ext uri="{FF2B5EF4-FFF2-40B4-BE49-F238E27FC236}">
                <a16:creationId xmlns:a16="http://schemas.microsoft.com/office/drawing/2014/main" xmlns="" id="{EB5F5CBF-FA64-4D77-A51C-5FD783819A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2D90021-8169-4CE3-8900-EAEAB89178C7}" type="datetimeFigureOut">
              <a:rPr lang="ru-RU"/>
              <a:pPr>
                <a:defRPr/>
              </a:pPr>
              <a:t>26.05.2024</a:t>
            </a:fld>
            <a:endParaRPr lang="ru-RU"/>
          </a:p>
        </p:txBody>
      </p:sp>
      <p:sp>
        <p:nvSpPr>
          <p:cNvPr id="22" name="Нижний колонтитул 21">
            <a:extLst>
              <a:ext uri="{FF2B5EF4-FFF2-40B4-BE49-F238E27FC236}">
                <a16:creationId xmlns:a16="http://schemas.microsoft.com/office/drawing/2014/main" xmlns="" id="{7A1D7FDC-4A14-4D2A-BB8D-07A6D8137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xmlns="" id="{A11EEEBF-9917-4F4D-8C3D-BD6C74D9E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FC7F8BB4-25A8-4905-9A10-2C419A33B716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15" r:id="rId2"/>
    <p:sldLayoutId id="2147483821" r:id="rId3"/>
    <p:sldLayoutId id="2147483822" r:id="rId4"/>
    <p:sldLayoutId id="2147483823" r:id="rId5"/>
    <p:sldLayoutId id="2147483824" r:id="rId6"/>
    <p:sldLayoutId id="2147483816" r:id="rId7"/>
    <p:sldLayoutId id="2147483825" r:id="rId8"/>
    <p:sldLayoutId id="2147483826" r:id="rId9"/>
    <p:sldLayoutId id="2147483817" r:id="rId10"/>
    <p:sldLayoutId id="2147483818" r:id="rId11"/>
    <p:sldLayoutId id="2147483827" r:id="rId12"/>
    <p:sldLayoutId id="2147483828" r:id="rId13"/>
    <p:sldLayoutId id="2147483819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36.xml"/><Relationship Id="rId5" Type="http://schemas.openxmlformats.org/officeDocument/2006/relationships/slide" Target="slide26.xml"/><Relationship Id="rId4" Type="http://schemas.openxmlformats.org/officeDocument/2006/relationships/slide" Target="slide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9.xml"/><Relationship Id="rId7" Type="http://schemas.openxmlformats.org/officeDocument/2006/relationships/slide" Target="slide18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20.xml"/><Relationship Id="rId4" Type="http://schemas.openxmlformats.org/officeDocument/2006/relationships/slide" Target="slide25.xml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slide" Target="slide8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8.xml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slide" Target="slide8.xml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slide" Target="slide8.xml"/><Relationship Id="rId4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6.jpeg"/><Relationship Id="rId7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0.jpeg"/><Relationship Id="rId7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24.jpeg"/><Relationship Id="rId7" Type="http://schemas.openxmlformats.org/officeDocument/2006/relationships/image" Target="../media/image28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9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Relationship Id="rId9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>
            <a:extLst>
              <a:ext uri="{FF2B5EF4-FFF2-40B4-BE49-F238E27FC236}">
                <a16:creationId xmlns:a16="http://schemas.microsoft.com/office/drawing/2014/main" xmlns="" id="{E1F8CF7C-DC81-4598-982A-27E6BFFF2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925" y="1344613"/>
            <a:ext cx="7772400" cy="1830388"/>
          </a:xfrm>
        </p:spPr>
        <p:txBody>
          <a:bodyPr anchor="t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dirty="0"/>
              <a:t>Перспективные направления развития робототехники </a:t>
            </a:r>
          </a:p>
        </p:txBody>
      </p:sp>
      <p:sp>
        <p:nvSpPr>
          <p:cNvPr id="11267" name="Подзаголовок 1">
            <a:extLst>
              <a:ext uri="{FF2B5EF4-FFF2-40B4-BE49-F238E27FC236}">
                <a16:creationId xmlns:a16="http://schemas.microsoft.com/office/drawing/2014/main" xmlns="" id="{4624386A-DF4C-41DB-954E-351A97535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952" y="6857998"/>
            <a:ext cx="206575" cy="45719"/>
          </a:xfrm>
        </p:spPr>
        <p:txBody>
          <a:bodyPr/>
          <a:lstStyle/>
          <a:p>
            <a:pPr marR="0" algn="l"/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76672"/>
            <a:ext cx="8568952" cy="6120680"/>
          </a:xfrm>
        </p:spPr>
        <p:txBody>
          <a:bodyPr>
            <a:normAutofit fontScale="90000"/>
          </a:bodyPr>
          <a:lstStyle/>
          <a:p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Содержание:</a:t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История создания робототехники</a:t>
            </a: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Виды  и значение робототехники</a:t>
            </a: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Развитие робототехники</a:t>
            </a: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/>
              </a:rPr>
              <a:t>Перспективные развития робототехники</a:t>
            </a: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/>
              </a:rPr>
              <a:t>Итог</a:t>
            </a: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400" b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482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:a16="http://schemas.microsoft.com/office/drawing/2014/main" xmlns="" id="{7380B732-FDA9-4BE1-8CD6-80A03C15B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48680"/>
            <a:ext cx="8075613" cy="5458420"/>
          </a:xfrm>
        </p:spPr>
        <p:txBody>
          <a:bodyPr/>
          <a:lstStyle/>
          <a:p>
            <a:endParaRPr lang="ru-RU" alt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sldjump"/>
              </a:rPr>
              <a:t>История создания робототехники.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alt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Слова </a:t>
            </a:r>
            <a:r>
              <a:rPr lang="ru-RU" alt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«Робот »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alt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«Робототехника»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были придуманы писателями фантастами.</a:t>
            </a:r>
          </a:p>
          <a:p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1922 году </a:t>
            </a:r>
            <a:r>
              <a:rPr lang="ru-RU" alt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Карел Чапек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подарил миру робота в своей пьесе «</a:t>
            </a:r>
            <a:r>
              <a:rPr lang="en-US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».</a:t>
            </a:r>
          </a:p>
          <a:p>
            <a:pPr>
              <a:buFont typeface="Wingdings 3" panose="05040102010807070707" pitchFamily="18" charset="2"/>
              <a:buNone/>
            </a:pPr>
            <a:endParaRPr lang="ru-RU" alt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ru-RU" altLang="ru-RU" sz="24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Робот</a:t>
            </a:r>
            <a:r>
              <a:rPr lang="ru-RU" alt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машина с человекоподобным поведением, которая частично или полностью выполняет функции человека при взаимодействии с окружающим миром.</a:t>
            </a:r>
          </a:p>
          <a:p>
            <a:endParaRPr lang="ru-RU" altLang="ru-RU" sz="2400" dirty="0">
              <a:latin typeface="Times New Roman" panose="02020603050405020304" pitchFamily="18" charset="0"/>
            </a:endParaRPr>
          </a:p>
          <a:p>
            <a:pPr>
              <a:buFont typeface="Wingdings 3" panose="05040102010807070707" pitchFamily="18" charset="2"/>
              <a:buNone/>
            </a:pP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2" name="Стрелка влево 1">
            <a:hlinkClick r:id="rId2" action="ppaction://hlinksldjump"/>
          </p:cNvPr>
          <p:cNvSpPr/>
          <p:nvPr/>
        </p:nvSpPr>
        <p:spPr>
          <a:xfrm>
            <a:off x="7668344" y="5517232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xmlns="" id="{6D14A055-78AD-4D38-AB04-9AB5F4047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476250"/>
            <a:ext cx="8208963" cy="2740025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ru-RU" altLang="ru-RU" sz="25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Искусственные создания упоминаются в большинстве европейских мифов, начиная с </a:t>
            </a:r>
            <a:r>
              <a:rPr lang="ru-RU" alt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Пигмалиона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и Галатеи.</a:t>
            </a:r>
          </a:p>
          <a:p>
            <a:pPr>
              <a:buFont typeface="Wingdings 3" panose="05040102010807070707" pitchFamily="18" charset="2"/>
              <a:buNone/>
            </a:pPr>
            <a:r>
              <a:rPr lang="ru-RU" alt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Многие учёные и чернокнижники стремились создать существо, подобное человеку 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 вдохнуть в него душу.   Так рождались предания и легенды. </a:t>
            </a:r>
          </a:p>
          <a:p>
            <a:endParaRPr lang="ru-RU" altLang="ru-RU" sz="2400" dirty="0">
              <a:latin typeface="Times New Roman" panose="02020603050405020304" pitchFamily="18" charset="0"/>
            </a:endParaRPr>
          </a:p>
        </p:txBody>
      </p:sp>
      <p:pic>
        <p:nvPicPr>
          <p:cNvPr id="13315" name="Picture 4" descr="5">
            <a:extLst>
              <a:ext uri="{FF2B5EF4-FFF2-40B4-BE49-F238E27FC236}">
                <a16:creationId xmlns:a16="http://schemas.microsoft.com/office/drawing/2014/main" xmlns="" id="{A35A9B23-8861-4098-9827-62D932348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3284538"/>
            <a:ext cx="1795462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5" descr="6">
            <a:extLst>
              <a:ext uri="{FF2B5EF4-FFF2-40B4-BE49-F238E27FC236}">
                <a16:creationId xmlns:a16="http://schemas.microsoft.com/office/drawing/2014/main" xmlns="" id="{01E7ABFC-8491-4537-B07D-00F1617FC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20"/>
          <a:stretch>
            <a:fillRect/>
          </a:stretch>
        </p:blipFill>
        <p:spPr bwMode="auto">
          <a:xfrm>
            <a:off x="2195513" y="3213100"/>
            <a:ext cx="2241550" cy="267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 Box 4">
            <a:extLst>
              <a:ext uri="{FF2B5EF4-FFF2-40B4-BE49-F238E27FC236}">
                <a16:creationId xmlns:a16="http://schemas.microsoft.com/office/drawing/2014/main" xmlns="" id="{67B06A84-1E8A-4CB5-AC02-89E00BBF3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5949950"/>
            <a:ext cx="38877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>
                <a:solidFill>
                  <a:srgbClr val="404040"/>
                </a:solidFill>
                <a:latin typeface="Arial" panose="020B0604020202020204" pitchFamily="34" charset="0"/>
              </a:rPr>
              <a:t>Писец Пьера-Жака Дро </a:t>
            </a:r>
          </a:p>
        </p:txBody>
      </p:sp>
      <p:sp>
        <p:nvSpPr>
          <p:cNvPr id="13318" name="Rectangle 7">
            <a:extLst>
              <a:ext uri="{FF2B5EF4-FFF2-40B4-BE49-F238E27FC236}">
                <a16:creationId xmlns:a16="http://schemas.microsoft.com/office/drawing/2014/main" xmlns="" id="{F23A6126-A067-48CA-AE41-E2191A8E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5229225"/>
            <a:ext cx="37163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dirty="0">
                <a:solidFill>
                  <a:srgbClr val="404040"/>
                </a:solidFill>
                <a:latin typeface="Arial" panose="020B0604020202020204" pitchFamily="34" charset="0"/>
              </a:rPr>
              <a:t>механическая утка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dirty="0" err="1">
                <a:solidFill>
                  <a:srgbClr val="404040"/>
                </a:solidFill>
                <a:latin typeface="Arial" panose="020B0604020202020204" pitchFamily="34" charset="0"/>
              </a:rPr>
              <a:t>Вокансона</a:t>
            </a:r>
            <a:endParaRPr lang="ru-RU" altLang="ru-RU" sz="1800" b="1" dirty="0">
              <a:solidFill>
                <a:srgbClr val="404040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206" y="6133306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Содержимое 1">
            <a:extLst>
              <a:ext uri="{FF2B5EF4-FFF2-40B4-BE49-F238E27FC236}">
                <a16:creationId xmlns:a16="http://schemas.microsoft.com/office/drawing/2014/main" xmlns="" id="{A7CAEA9C-19E7-4038-AD65-6EC4108B1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138"/>
            <a:ext cx="8435975" cy="4525962"/>
          </a:xfrm>
        </p:spPr>
        <p:txBody>
          <a:bodyPr/>
          <a:lstStyle/>
          <a:p>
            <a:pPr marL="419100" indent="-382588"/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начале 40-х годов </a:t>
            </a:r>
            <a:r>
              <a:rPr lang="en-US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XX 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века </a:t>
            </a:r>
            <a:r>
              <a:rPr lang="ru-RU" alt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Айзек Азимов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ввёл термин </a:t>
            </a:r>
            <a:r>
              <a:rPr lang="ru-RU" alt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«Робототехника»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для обозначения отрасли науки и искусства, занимающихся созданием и применением роботов. </a:t>
            </a:r>
          </a:p>
          <a:p>
            <a:pPr marL="419100" indent="-382588">
              <a:buFont typeface="Wingdings 3" panose="05040102010807070707" pitchFamily="18" charset="2"/>
              <a:buNone/>
            </a:pPr>
            <a:endParaRPr lang="ru-RU" alt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9100" indent="-382588" eaLnBrk="1" hangingPunct="1">
              <a:buFont typeface="Wingdings 2" panose="05020102010507070707" pitchFamily="18" charset="2"/>
              <a:buChar char=""/>
            </a:pP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Робототехника требует большого запаса знаний в области электроники, механики, информатики  и многих других дисциплин.</a:t>
            </a:r>
          </a:p>
        </p:txBody>
      </p:sp>
      <p:pic>
        <p:nvPicPr>
          <p:cNvPr id="2050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949280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xmlns="" id="{2AD5FB73-3C85-4931-ADB3-65B3DB38D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4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Программные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 Жестко заданная программа (циклограмма).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Адаптивные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 Возможность автоматически перепрограммироваться (адаптироваться) в зависимости от обстановки. Изначально задаются лишь основы программы действий.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Интеллектуальные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 Задание вводится в общей форме, а сам робот обладает возможностью принимать решения или планировать свои действия в распознаваемой им неопределенной или сложной обстановке.</a:t>
            </a:r>
          </a:p>
          <a:p>
            <a:pPr eaLnBrk="1" hangingPunct="1">
              <a:lnSpc>
                <a:spcPct val="90000"/>
              </a:lnSpc>
            </a:pPr>
            <a:endParaRPr lang="ru-RU" altLang="ru-RU" sz="2400" dirty="0"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xmlns="" id="{2483AC48-3AAB-4A51-AD66-7061315EB96E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pPr algn="ctr" eaLnBrk="1" hangingPunct="1">
              <a:defRPr/>
            </a:pPr>
            <a:r>
              <a:rPr lang="ru-RU" sz="3700" dirty="0">
                <a:effectLst/>
                <a:hlinkClick r:id="rId2" action="ppaction://hlinksldjump"/>
              </a:rPr>
              <a:t>Поколения роботов:</a:t>
            </a:r>
            <a:r>
              <a:rPr lang="ru-RU" sz="3700" dirty="0">
                <a:effectLst/>
              </a:rPr>
              <a:t/>
            </a:r>
            <a:br>
              <a:rPr lang="ru-RU" sz="3700" dirty="0">
                <a:effectLst/>
              </a:rPr>
            </a:br>
            <a:endParaRPr lang="ru-RU" sz="3700" dirty="0">
              <a:effectLst/>
            </a:endParaRPr>
          </a:p>
        </p:txBody>
      </p:sp>
      <p:pic>
        <p:nvPicPr>
          <p:cNvPr id="3074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189" y="5669628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xmlns="" id="{2E848412-3986-4AD4-ABD7-0BE1FE066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5175"/>
            <a:ext cx="3178175" cy="5360988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ru-RU" altLang="ru-RU" b="1" dirty="0">
                <a:hlinkClick r:id="rId2" action="ppaction://hlinksldjump"/>
              </a:rPr>
              <a:t>Производители</a:t>
            </a:r>
            <a:endParaRPr lang="ru-RU" altLang="ru-RU" b="1" dirty="0">
              <a:latin typeface="Arial" panose="020B0604020202020204" pitchFamily="34" charset="0"/>
              <a:hlinkClick r:id="rId2" action="ppaction://hlinksldjump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ru-RU" altLang="ru-RU" b="1" dirty="0">
                <a:hlinkClick r:id="rId2" action="ppaction://hlinksldjump"/>
              </a:rPr>
              <a:t>       роботов:</a:t>
            </a:r>
            <a:endParaRPr lang="ru-RU" altLang="ru-RU" dirty="0"/>
          </a:p>
          <a:p>
            <a:pPr eaLnBrk="1" hangingPunct="1">
              <a:buFont typeface="Arial" panose="020B0604020202020204" pitchFamily="34" charset="0"/>
              <a:buNone/>
            </a:pPr>
            <a:endParaRPr lang="ru-RU" altLang="ru-RU" dirty="0"/>
          </a:p>
          <a:p>
            <a:pPr eaLnBrk="1" hangingPunct="1"/>
            <a:r>
              <a:rPr lang="ru-RU" altLang="ru-RU" dirty="0" err="1"/>
              <a:t>Honda</a:t>
            </a:r>
            <a:endParaRPr lang="ru-RU" altLang="ru-RU" dirty="0"/>
          </a:p>
          <a:p>
            <a:pPr eaLnBrk="1" hangingPunct="1"/>
            <a:r>
              <a:rPr lang="ru-RU" altLang="ru-RU" dirty="0" err="1"/>
              <a:t>Mitsubishi</a:t>
            </a:r>
            <a:endParaRPr lang="ru-RU" altLang="ru-RU" dirty="0"/>
          </a:p>
          <a:p>
            <a:pPr eaLnBrk="1" hangingPunct="1"/>
            <a:r>
              <a:rPr lang="ru-RU" altLang="ru-RU" dirty="0" err="1"/>
              <a:t>Sony</a:t>
            </a:r>
            <a:endParaRPr lang="ru-RU" altLang="ru-RU" dirty="0"/>
          </a:p>
          <a:p>
            <a:pPr eaLnBrk="1" hangingPunct="1"/>
            <a:r>
              <a:rPr lang="ru-RU" altLang="ru-RU" dirty="0" err="1"/>
              <a:t>WowWee</a:t>
            </a:r>
            <a:endParaRPr lang="ru-RU" altLang="ru-RU" dirty="0"/>
          </a:p>
          <a:p>
            <a:pPr eaLnBrk="1" hangingPunct="1"/>
            <a:r>
              <a:rPr lang="ru-RU" altLang="ru-RU" dirty="0" err="1"/>
              <a:t>IRobot</a:t>
            </a:r>
            <a:endParaRPr lang="ru-RU" altLang="ru-RU" dirty="0"/>
          </a:p>
          <a:p>
            <a:pPr eaLnBrk="1" hangingPunct="1"/>
            <a:endParaRPr lang="ru-RU" altLang="ru-RU" dirty="0"/>
          </a:p>
        </p:txBody>
      </p:sp>
      <p:sp>
        <p:nvSpPr>
          <p:cNvPr id="16387" name="Text Box 4">
            <a:extLst>
              <a:ext uri="{FF2B5EF4-FFF2-40B4-BE49-F238E27FC236}">
                <a16:creationId xmlns:a16="http://schemas.microsoft.com/office/drawing/2014/main" xmlns="" id="{C555DE4F-31EE-4354-B205-0AE20B856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765175"/>
            <a:ext cx="3600450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800" b="1" dirty="0">
                <a:latin typeface="Calibri" panose="020F0502020204030204" pitchFamily="34" charset="0"/>
              </a:rPr>
              <a:t>Известные коммерческие модели роботов</a:t>
            </a:r>
            <a:r>
              <a:rPr lang="ru-RU" altLang="ru-RU" sz="2800" dirty="0">
                <a:latin typeface="Calibri" panose="020F0502020204030204" pitchFamily="34" charset="0"/>
                <a:hlinkClick r:id="rId3" action="ppaction://hlinksldjump"/>
              </a:rPr>
              <a:t>:</a:t>
            </a:r>
            <a:endParaRPr lang="ru-RU" altLang="ru-RU" sz="28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28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ru-RU" altLang="ru-RU" sz="2800" dirty="0">
                <a:latin typeface="Calibri" panose="020F0502020204030204" pitchFamily="34" charset="0"/>
              </a:rPr>
              <a:t>AIBO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ru-RU" altLang="ru-RU" sz="2800" dirty="0">
                <a:latin typeface="Calibri" panose="020F0502020204030204" pitchFamily="34" charset="0"/>
              </a:rPr>
              <a:t>QRIO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ru-RU" altLang="ru-RU" sz="2800" dirty="0">
                <a:latin typeface="Calibri" panose="020F0502020204030204" pitchFamily="34" charset="0"/>
              </a:rPr>
              <a:t>ASIMO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ru-RU" altLang="ru-RU" sz="2800" dirty="0" err="1">
                <a:latin typeface="Calibri" panose="020F0502020204030204" pitchFamily="34" charset="0"/>
              </a:rPr>
              <a:t>Pleo</a:t>
            </a:r>
            <a:endParaRPr lang="ru-RU" altLang="ru-RU" sz="28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ru-RU" altLang="ru-RU" sz="2800" dirty="0">
                <a:latin typeface="Calibri" panose="020F0502020204030204" pitchFamily="34" charset="0"/>
              </a:rPr>
              <a:t>SCORBOT-ER 4u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ru-RU" altLang="ru-RU" sz="2800" dirty="0" err="1">
                <a:latin typeface="Calibri" panose="020F0502020204030204" pitchFamily="34" charset="0"/>
              </a:rPr>
              <a:t>Wakamaru</a:t>
            </a:r>
            <a:endParaRPr lang="ru-RU" altLang="ru-RU" sz="28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ru-RU" altLang="ru-RU" sz="2800" dirty="0">
              <a:latin typeface="Calibri" panose="020F0502020204030204" pitchFamily="34" charset="0"/>
            </a:endParaRPr>
          </a:p>
        </p:txBody>
      </p:sp>
      <p:pic>
        <p:nvPicPr>
          <p:cNvPr id="4098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869" y="5768975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Содержимое 1">
            <a:extLst>
              <a:ext uri="{FF2B5EF4-FFF2-40B4-BE49-F238E27FC236}">
                <a16:creationId xmlns:a16="http://schemas.microsoft.com/office/drawing/2014/main" xmlns="" id="{08D052B3-5D54-4992-8366-AE0F80D3E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sldjump"/>
              </a:rPr>
              <a:t>морские;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  <a:hlinkClick r:id="rId3" action="ppaction://hlinksldjump"/>
              </a:rPr>
              <a:t>промышленная;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  <a:hlinkClick r:id="rId4" action="ppaction://hlinksldjump"/>
              </a:rPr>
              <a:t>авиационная;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  <a:hlinkClick r:id="rId5" action="ppaction://hlinksldjump"/>
              </a:rPr>
              <a:t>военная;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  <a:hlinkClick r:id="rId6" action="ppaction://hlinksldjump"/>
              </a:rPr>
              <a:t>медицинская;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  <a:hlinkClick r:id="rId7" action="ppaction://hlinksldjump"/>
              </a:rPr>
              <a:t>бытовая.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ru-RU" alt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310D5AD7-1E7E-455F-B56C-182E2CAB4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>
                <a:hlinkClick r:id="rId8" action="ppaction://hlinksldjump"/>
              </a:rPr>
              <a:t>Виды робототехники:</a:t>
            </a:r>
            <a:endParaRPr lang="ru-RU" dirty="0"/>
          </a:p>
        </p:txBody>
      </p:sp>
      <p:pic>
        <p:nvPicPr>
          <p:cNvPr id="5122" name="Picture 2">
            <a:hlinkClick r:id="rId8" action="ppaction://hlinksldjump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877272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xmlns="" id="{F40E41DF-CCFE-4241-AC6D-9AD6ADD4FD2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773237" y="188913"/>
            <a:ext cx="7184188" cy="63341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ru-RU" sz="3700" b="0" dirty="0">
                <a:effectLst/>
                <a:latin typeface="Arial" pitchFamily="34" charset="0"/>
                <a:hlinkClick r:id="rId2" action="ppaction://hlinksldjump"/>
              </a:rPr>
              <a:t>Промышленная робототехника</a:t>
            </a:r>
            <a:endParaRPr lang="ru-RU" sz="3700" b="0" dirty="0">
              <a:effectLst/>
              <a:latin typeface="Arial" pitchFamily="34" charset="0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xmlns="" id="{75308E78-16DE-480A-80EA-B5587B80A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981075"/>
            <a:ext cx="8351837" cy="50260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sz="2400" dirty="0">
                <a:latin typeface="Arial" panose="020B0604020202020204" pitchFamily="34" charset="0"/>
              </a:rPr>
              <a:t> </a:t>
            </a:r>
            <a:r>
              <a:rPr lang="ru-RU" altLang="ru-RU" sz="2600" dirty="0">
                <a:latin typeface="Times New Roman" panose="02020603050405020304" pitchFamily="18" charset="0"/>
              </a:rPr>
              <a:t>по большей части предназначена для использования роботов в производстве и сборке в </a:t>
            </a:r>
            <a:r>
              <a:rPr lang="ru-RU" altLang="ru-RU" sz="2600" b="1" dirty="0">
                <a:latin typeface="Times New Roman" panose="02020603050405020304" pitchFamily="18" charset="0"/>
              </a:rPr>
              <a:t>автомобильной, электронной</a:t>
            </a:r>
            <a:r>
              <a:rPr lang="ru-RU" altLang="ru-RU" sz="2600" dirty="0">
                <a:latin typeface="Times New Roman" panose="02020603050405020304" pitchFamily="18" charset="0"/>
              </a:rPr>
              <a:t> промышленности, а так же в </a:t>
            </a:r>
            <a:r>
              <a:rPr lang="ru-RU" altLang="ru-RU" sz="2600" b="1" dirty="0">
                <a:latin typeface="Times New Roman" panose="02020603050405020304" pitchFamily="18" charset="0"/>
              </a:rPr>
              <a:t>производстве продуктов питания и напитков. </a:t>
            </a:r>
          </a:p>
          <a:p>
            <a:pPr>
              <a:lnSpc>
                <a:spcPct val="80000"/>
              </a:lnSpc>
              <a:buFont typeface="Wingdings 3" panose="05040102010807070707" pitchFamily="18" charset="2"/>
              <a:buNone/>
            </a:pPr>
            <a:endParaRPr lang="ru-RU" altLang="ru-RU" sz="26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ru-RU" altLang="ru-RU" sz="2600" dirty="0">
                <a:latin typeface="Times New Roman" panose="02020603050405020304" pitchFamily="18" charset="0"/>
              </a:rPr>
              <a:t>Чаще всего роботы используются для автоматизации таких процессов, как </a:t>
            </a:r>
            <a:r>
              <a:rPr lang="ru-RU" altLang="ru-RU" sz="2600" b="1" dirty="0">
                <a:latin typeface="Times New Roman" panose="02020603050405020304" pitchFamily="18" charset="0"/>
              </a:rPr>
              <a:t>сварка, окраска, сборка, контроль продукции, тестирование и упаковка</a:t>
            </a:r>
            <a:r>
              <a:rPr lang="ru-RU" altLang="ru-RU" sz="2600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80000"/>
              </a:lnSpc>
              <a:buFont typeface="Wingdings 3" panose="05040102010807070707" pitchFamily="18" charset="2"/>
              <a:buNone/>
            </a:pPr>
            <a:endParaRPr lang="ru-RU" altLang="ru-RU" sz="26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ru-RU" altLang="ru-RU" sz="2600" dirty="0">
                <a:latin typeface="Times New Roman" panose="02020603050405020304" pitchFamily="18" charset="0"/>
              </a:rPr>
              <a:t>Согласно прогнозам аналитиков компании </a:t>
            </a:r>
            <a:r>
              <a:rPr lang="ru-RU" altLang="ru-RU" sz="2600" b="1" dirty="0" err="1">
                <a:latin typeface="Times New Roman" panose="02020603050405020304" pitchFamily="18" charset="0"/>
              </a:rPr>
              <a:t>TechNavio</a:t>
            </a:r>
            <a:r>
              <a:rPr lang="ru-RU" altLang="ru-RU" sz="2600" dirty="0">
                <a:latin typeface="Times New Roman" panose="02020603050405020304" pitchFamily="18" charset="0"/>
              </a:rPr>
              <a:t>, среднегодовой прирост мирового рынка промышленной робототехники в машиностроении составит 6,27% в период с 2013 г. по 2018 г</a:t>
            </a:r>
            <a:r>
              <a:rPr lang="ru-RU" altLang="ru-RU" sz="2400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80000"/>
              </a:lnSpc>
            </a:pPr>
            <a:endParaRPr lang="ru-RU" altLang="ru-RU" sz="24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ru-RU" altLang="ru-RU" sz="2000" dirty="0"/>
          </a:p>
        </p:txBody>
      </p:sp>
      <p:pic>
        <p:nvPicPr>
          <p:cNvPr id="2050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6021288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xmlns="" id="{10300350-7DB9-4F8B-938B-A3A72B2A9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1913" y="188913"/>
            <a:ext cx="6202362" cy="558800"/>
          </a:xfrm>
        </p:spPr>
        <p:txBody>
          <a:bodyPr/>
          <a:lstStyle/>
          <a:p>
            <a:pPr eaLnBrk="1" hangingPunct="1">
              <a:defRPr/>
            </a:pPr>
            <a:r>
              <a:rPr lang="ru-RU" sz="2800" dirty="0">
                <a:hlinkClick r:id="rId2" action="ppaction://hlinksldjump"/>
              </a:rPr>
              <a:t>Промышленные роботы</a:t>
            </a:r>
            <a:endParaRPr lang="ru-RU" sz="2800" dirty="0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xmlns="" id="{F0BA511E-1D1C-4A1F-A487-F688DDF8D2C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908050"/>
            <a:ext cx="8353425" cy="3889375"/>
          </a:xfrm>
        </p:spPr>
        <p:txBody>
          <a:bodyPr/>
          <a:lstStyle/>
          <a:p>
            <a:pPr eaLnBrk="1" hangingPunct="1"/>
            <a:r>
              <a:rPr lang="ru-RU" altLang="ru-RU" sz="1800"/>
              <a:t>К 2010 г. в мире разработано более 270 моделей промышленных роботов,  выпущено 1 млн. роботов</a:t>
            </a:r>
          </a:p>
          <a:p>
            <a:pPr eaLnBrk="1" hangingPunct="1"/>
            <a:r>
              <a:rPr lang="ru-RU" altLang="ru-RU" sz="1800"/>
              <a:t>В США внедрено 178 тысяч роботов</a:t>
            </a:r>
          </a:p>
          <a:p>
            <a:pPr eaLnBrk="1" hangingPunct="1"/>
            <a:r>
              <a:rPr lang="ru-RU" altLang="ru-RU" sz="1800"/>
              <a:t>В 2005 году в Японии работало 370 тысяч роботов - 40 процентов от общего количества во всем мире. На каждую тысячу заводских сотрудников-людей приходилось 32 робота</a:t>
            </a:r>
          </a:p>
          <a:p>
            <a:pPr eaLnBrk="1" hangingPunct="1"/>
            <a:r>
              <a:rPr lang="ru-RU" altLang="ru-RU" sz="1800"/>
              <a:t>К 2025 году из-за старения населения Японии 3,5 миллиона рабочих мест будет приходиться на роботов</a:t>
            </a:r>
          </a:p>
          <a:p>
            <a:pPr eaLnBrk="1" hangingPunct="1"/>
            <a:r>
              <a:rPr lang="ru-RU" altLang="ru-RU" sz="1800"/>
              <a:t>Современное высокоточное производство невозможно без использования роботов</a:t>
            </a:r>
          </a:p>
          <a:p>
            <a:pPr eaLnBrk="1" hangingPunct="1"/>
            <a:r>
              <a:rPr lang="ru-RU" altLang="ru-RU" sz="1800" b="1"/>
              <a:t>Россия в</a:t>
            </a:r>
            <a:r>
              <a:rPr lang="en-US" altLang="ru-RU" sz="1800" b="1"/>
              <a:t> 90-</a:t>
            </a:r>
            <a:r>
              <a:rPr lang="ru-RU" altLang="ru-RU" sz="1800" b="1"/>
              <a:t>е годы потеряла свой парк промышленных роботов</a:t>
            </a:r>
            <a:r>
              <a:rPr lang="ru-RU" altLang="ru-RU" sz="1800"/>
              <a:t>. Массовое производство роботов отсутствует.</a:t>
            </a:r>
            <a:r>
              <a:rPr lang="ru-RU" altLang="ru-RU" sz="2800"/>
              <a:t> </a:t>
            </a:r>
            <a:endParaRPr lang="ru-RU" altLang="ru-RU" sz="2000"/>
          </a:p>
        </p:txBody>
      </p:sp>
      <p:pic>
        <p:nvPicPr>
          <p:cNvPr id="19460" name="Picture 2" descr="C:\Users\Админ\Desktop\пром_робот_ниссан2.jpg">
            <a:extLst>
              <a:ext uri="{FF2B5EF4-FFF2-40B4-BE49-F238E27FC236}">
                <a16:creationId xmlns:a16="http://schemas.microsoft.com/office/drawing/2014/main" xmlns="" id="{A00FA572-27BE-4FF6-9515-5EE023D98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4652963"/>
            <a:ext cx="2865438" cy="188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Заголовок 2">
            <a:extLst>
              <a:ext uri="{FF2B5EF4-FFF2-40B4-BE49-F238E27FC236}">
                <a16:creationId xmlns:a16="http://schemas.microsoft.com/office/drawing/2014/main" xmlns="" id="{6BA86998-79B9-498D-B0AA-1CDC6F8AD8A3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5516563"/>
            <a:ext cx="347345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595144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Содержимое 1">
            <a:extLst>
              <a:ext uri="{FF2B5EF4-FFF2-40B4-BE49-F238E27FC236}">
                <a16:creationId xmlns:a16="http://schemas.microsoft.com/office/drawing/2014/main" xmlns="" id="{C47FD573-D637-4C0D-AB7F-8F2CD5B33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sz="2200">
                <a:latin typeface="Arial" panose="020B0604020202020204" pitchFamily="34" charset="0"/>
              </a:rPr>
              <a:t>Современный российский рынок промышленной робототехники невелик.</a:t>
            </a:r>
          </a:p>
          <a:p>
            <a:r>
              <a:rPr lang="ru-RU" altLang="ru-RU" sz="2200">
                <a:latin typeface="Arial" panose="020B0604020202020204" pitchFamily="34" charset="0"/>
              </a:rPr>
              <a:t> В 2012 году, по статистике Международной федерации</a:t>
            </a:r>
            <a:br>
              <a:rPr lang="ru-RU" altLang="ru-RU" sz="2200">
                <a:latin typeface="Arial" panose="020B0604020202020204" pitchFamily="34" charset="0"/>
              </a:rPr>
            </a:br>
            <a:r>
              <a:rPr lang="ru-RU" altLang="ru-RU" sz="2200">
                <a:latin typeface="Arial" panose="020B0604020202020204" pitchFamily="34" charset="0"/>
              </a:rPr>
              <a:t>робототехники, в России было продано </a:t>
            </a:r>
            <a:r>
              <a:rPr lang="ru-RU" altLang="ru-RU" sz="2200" b="1">
                <a:latin typeface="Arial" panose="020B0604020202020204" pitchFamily="34" charset="0"/>
              </a:rPr>
              <a:t>307 промышленных роботов. </a:t>
            </a:r>
            <a:r>
              <a:rPr lang="ru-RU" altLang="ru-RU" sz="2200">
                <a:latin typeface="Arial" panose="020B0604020202020204" pitchFamily="34" charset="0"/>
              </a:rPr>
              <a:t>Годом позже картина не сильно изменилась. </a:t>
            </a:r>
          </a:p>
          <a:p>
            <a:r>
              <a:rPr lang="ru-RU" altLang="ru-RU" sz="2200">
                <a:latin typeface="Arial" panose="020B0604020202020204" pitchFamily="34" charset="0"/>
              </a:rPr>
              <a:t>В 2013 году всеми производителями продано около </a:t>
            </a:r>
            <a:r>
              <a:rPr lang="ru-RU" altLang="ru-RU" sz="2200" b="1">
                <a:latin typeface="Arial" panose="020B0604020202020204" pitchFamily="34" charset="0"/>
              </a:rPr>
              <a:t>350 роботов</a:t>
            </a:r>
            <a:r>
              <a:rPr lang="ru-RU" altLang="ru-RU" sz="2200">
                <a:latin typeface="Arial" panose="020B0604020202020204" pitchFamily="34" charset="0"/>
              </a:rPr>
              <a:t> . (Для сравнения: в Испании   в 2013 году было продано </a:t>
            </a:r>
            <a:r>
              <a:rPr lang="ru-RU" altLang="ru-RU" sz="2200" b="1">
                <a:latin typeface="Arial" panose="020B0604020202020204" pitchFamily="34" charset="0"/>
              </a:rPr>
              <a:t>2800 роботов</a:t>
            </a:r>
            <a:r>
              <a:rPr lang="ru-RU" altLang="ru-RU" sz="2200">
                <a:latin typeface="Arial" panose="020B0604020202020204" pitchFamily="34" charset="0"/>
              </a:rPr>
              <a:t>).</a:t>
            </a:r>
          </a:p>
          <a:p>
            <a:r>
              <a:rPr lang="ru-RU" altLang="ru-RU" sz="2200">
                <a:latin typeface="Arial" panose="020B0604020202020204" pitchFamily="34" charset="0"/>
              </a:rPr>
              <a:t>В 2013 году  российский рынок промышленной робототехники не показал роста, в то время как мировой рынок промышленных роботов в 2013 году </a:t>
            </a:r>
            <a:r>
              <a:rPr lang="ru-RU" altLang="ru-RU" sz="2200" u="sng">
                <a:latin typeface="Arial" panose="020B0604020202020204" pitchFamily="34" charset="0"/>
              </a:rPr>
              <a:t>вырос на 12%.</a:t>
            </a:r>
          </a:p>
          <a:p>
            <a:endParaRPr lang="ru-RU" altLang="ru-RU" sz="2000">
              <a:latin typeface="Arial" panose="020B0604020202020204" pitchFamily="34" charset="0"/>
            </a:endParaRPr>
          </a:p>
        </p:txBody>
      </p:sp>
      <p:pic>
        <p:nvPicPr>
          <p:cNvPr id="8194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148" y="6125268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Содержимое 1">
            <a:extLst>
              <a:ext uri="{FF2B5EF4-FFF2-40B4-BE49-F238E27FC236}">
                <a16:creationId xmlns:a16="http://schemas.microsoft.com/office/drawing/2014/main" xmlns="" id="{646F6AFD-6AD6-4C08-837B-49B75F0E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Несмотря </a:t>
            </a:r>
            <a:r>
              <a:rPr lang="ru-RU" alt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на зафиксированные продажи 300 штук в год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оценить, как много роботов ежегодно внедряется в производство на российских предприятиях, непросто: в немалой степени на рынок идут поставки в составе линий, спроектированных за рубежом.</a:t>
            </a:r>
          </a:p>
          <a:p>
            <a:r>
              <a:rPr lang="ru-RU" alt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 Около половины </a:t>
            </a:r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всех установленных в России роботов были завезены в составе готовых технологических линий, разработанных и смонтированных зарубежными системными интеграторами.</a:t>
            </a:r>
          </a:p>
          <a:p>
            <a:r>
              <a:rPr lang="ru-RU" alt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Таким образом, верхнюю планку числа устанавливаемых в России промышленных роботов можно ограничить 800 шт.</a:t>
            </a:r>
            <a:r>
              <a:rPr lang="ru-RU" altLang="ru-RU" sz="1800" dirty="0"/>
              <a:t/>
            </a:r>
            <a:br>
              <a:rPr lang="ru-RU" altLang="ru-RU" sz="1800" dirty="0"/>
            </a:br>
            <a:endParaRPr lang="ru-RU" altLang="ru-RU" sz="1800" dirty="0"/>
          </a:p>
        </p:txBody>
      </p:sp>
      <p:pic>
        <p:nvPicPr>
          <p:cNvPr id="9218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877272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>
            <a:extLst>
              <a:ext uri="{FF2B5EF4-FFF2-40B4-BE49-F238E27FC236}">
                <a16:creationId xmlns:a16="http://schemas.microsoft.com/office/drawing/2014/main" xmlns="" id="{9CA257E2-05CF-4CC3-995C-3B9E938F1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ru-RU" altLang="ru-RU" sz="2400">
                <a:latin typeface="Arial" panose="020B0604020202020204" pitchFamily="34" charset="0"/>
              </a:rPr>
              <a:t>       Сейчас российская робототехника в недоразвитом состоянии. Есть много энтузиастов, которые развиваются в различных областях робототехники.</a:t>
            </a:r>
            <a:br>
              <a:rPr lang="ru-RU" altLang="ru-RU" sz="2400">
                <a:latin typeface="Arial" panose="020B0604020202020204" pitchFamily="34" charset="0"/>
              </a:rPr>
            </a:br>
            <a:r>
              <a:rPr lang="ru-RU" altLang="ru-RU" sz="2400">
                <a:latin typeface="Arial" panose="020B0604020202020204" pitchFamily="34" charset="0"/>
              </a:rPr>
              <a:t>Кто-то занимается механикой, кто-то электроникой, кто-то софтом.</a:t>
            </a:r>
          </a:p>
          <a:p>
            <a:pPr>
              <a:buFont typeface="Wingdings 3" panose="05040102010807070707" pitchFamily="18" charset="2"/>
              <a:buNone/>
            </a:pPr>
            <a:r>
              <a:rPr lang="ru-RU" altLang="ru-RU" sz="2400">
                <a:latin typeface="Arial" panose="020B0604020202020204" pitchFamily="34" charset="0"/>
              </a:rPr>
              <a:t>        Но все они развиваются отдельно, сообщество очень разобщено, а ведь только от мощного сообщества зависит успех каждого его участника и робототехники в целом.</a:t>
            </a:r>
            <a:r>
              <a:rPr lang="ru-RU" altLang="ru-RU" sz="2000">
                <a:latin typeface="Arial" panose="020B0604020202020204" pitchFamily="34" charset="0"/>
              </a:rPr>
              <a:t/>
            </a:r>
            <a:br>
              <a:rPr lang="ru-RU" altLang="ru-RU" sz="2000">
                <a:latin typeface="Arial" panose="020B0604020202020204" pitchFamily="34" charset="0"/>
              </a:rPr>
            </a:br>
            <a:endParaRPr lang="ru-RU" altLang="ru-RU" sz="2000">
              <a:latin typeface="Arial" panose="020B0604020202020204" pitchFamily="34" charset="0"/>
            </a:endParaRPr>
          </a:p>
        </p:txBody>
      </p:sp>
      <p:pic>
        <p:nvPicPr>
          <p:cNvPr id="10242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5805264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xmlns="" id="{EC558051-05F2-43A6-BBAC-13AD778C6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sz="2400">
                <a:latin typeface="Arial" panose="020B0604020202020204" pitchFamily="34" charset="0"/>
                <a:cs typeface="Arial" panose="020B0604020202020204" pitchFamily="34" charset="0"/>
              </a:rPr>
              <a:t>Но не только отрасли промышленности выигрывают от использования роботов. </a:t>
            </a:r>
          </a:p>
          <a:p>
            <a:r>
              <a:rPr lang="ru-RU" altLang="ru-RU" sz="2400">
                <a:latin typeface="Arial" panose="020B0604020202020204" pitchFamily="34" charset="0"/>
                <a:cs typeface="Arial" panose="020B0604020202020204" pitchFamily="34" charset="0"/>
              </a:rPr>
              <a:t>Что касается исследования космоса и недр земли, пустынь и океанов, то открытия в этой области вообще невозможны без использования специальных роботов. </a:t>
            </a:r>
          </a:p>
          <a:p>
            <a:r>
              <a:rPr lang="ru-RU" altLang="ru-RU" sz="2400">
                <a:latin typeface="Arial" panose="020B0604020202020204" pitchFamily="34" charset="0"/>
                <a:cs typeface="Arial" panose="020B0604020202020204" pitchFamily="34" charset="0"/>
              </a:rPr>
              <a:t>Именно они позволяют человеку заглянуть в неизведанные тайны без риска для жизни </a:t>
            </a:r>
          </a:p>
        </p:txBody>
      </p:sp>
      <p:pic>
        <p:nvPicPr>
          <p:cNvPr id="11266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805264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xmlns="" id="{9893EA28-1882-4F8B-88D8-DA99B953F22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5588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2500" dirty="0">
                <a:effectLst/>
                <a:hlinkClick r:id="rId2" action="ppaction://hlinksldjump"/>
              </a:rPr>
              <a:t>Морские роботы</a:t>
            </a:r>
            <a:endParaRPr lang="ru-RU" sz="2500" dirty="0">
              <a:effectLst/>
            </a:endParaRPr>
          </a:p>
        </p:txBody>
      </p:sp>
      <p:pic>
        <p:nvPicPr>
          <p:cNvPr id="24579" name="Picture 3" descr="Подводный REMUS100">
            <a:extLst>
              <a:ext uri="{FF2B5EF4-FFF2-40B4-BE49-F238E27FC236}">
                <a16:creationId xmlns:a16="http://schemas.microsoft.com/office/drawing/2014/main" xmlns="" id="{A6E3004F-5DC0-4DA2-9F8F-23C270782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3716338"/>
            <a:ext cx="280670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 Box 4">
            <a:extLst>
              <a:ext uri="{FF2B5EF4-FFF2-40B4-BE49-F238E27FC236}">
                <a16:creationId xmlns:a16="http://schemas.microsoft.com/office/drawing/2014/main" xmlns="" id="{0D252FB3-C005-4782-B2DC-40BE333C2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876925"/>
            <a:ext cx="2881312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Подводный робот </a:t>
            </a:r>
            <a:r>
              <a:rPr lang="en-US" altLang="ru-RU" sz="1800">
                <a:latin typeface="Arial" panose="020B0604020202020204" pitchFamily="34" charset="0"/>
              </a:rPr>
              <a:t>REMUS 100 (Hydroid)</a:t>
            </a:r>
            <a:r>
              <a:rPr lang="ru-RU" altLang="ru-RU" sz="1800">
                <a:latin typeface="Arial" panose="020B0604020202020204" pitchFamily="34" charset="0"/>
              </a:rPr>
              <a:t> создано </a:t>
            </a:r>
            <a:r>
              <a:rPr lang="en-US" altLang="ru-RU" sz="1800">
                <a:latin typeface="Arial" panose="020B0604020202020204" pitchFamily="34" charset="0"/>
              </a:rPr>
              <a:t>200 </a:t>
            </a:r>
            <a:r>
              <a:rPr lang="ru-RU" altLang="ru-RU" sz="1800">
                <a:latin typeface="Arial" panose="020B0604020202020204" pitchFamily="34" charset="0"/>
              </a:rPr>
              <a:t>экз.</a:t>
            </a:r>
          </a:p>
        </p:txBody>
      </p:sp>
      <p:pic>
        <p:nvPicPr>
          <p:cNvPr id="24581" name="Picture 5" descr="Морской Protector">
            <a:extLst>
              <a:ext uri="{FF2B5EF4-FFF2-40B4-BE49-F238E27FC236}">
                <a16:creationId xmlns:a16="http://schemas.microsoft.com/office/drawing/2014/main" xmlns="" id="{C6FEC166-407A-40A2-9D0C-9A7B8B955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908050"/>
            <a:ext cx="3709988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 Box 6">
            <a:extLst>
              <a:ext uri="{FF2B5EF4-FFF2-40B4-BE49-F238E27FC236}">
                <a16:creationId xmlns:a16="http://schemas.microsoft.com/office/drawing/2014/main" xmlns="" id="{58C0A98B-DDC4-42A7-847B-5D3DD88A0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4826000" cy="243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ru-RU" altLang="ru-RU" sz="1800" dirty="0">
                <a:latin typeface="Arial" panose="020B0604020202020204" pitchFamily="34" charset="0"/>
              </a:rPr>
              <a:t>Выполняемые задачи:</a:t>
            </a:r>
          </a:p>
          <a:p>
            <a:pPr eaLnBrk="1" hangingPunct="1">
              <a:spcBef>
                <a:spcPct val="50000"/>
              </a:spcBef>
              <a:buClr>
                <a:srgbClr val="FF3300"/>
              </a:buClr>
              <a:buSzTx/>
              <a:buFontTx/>
              <a:buChar char="•"/>
            </a:pPr>
            <a:r>
              <a:rPr lang="ru-RU" altLang="ru-RU" sz="1800" dirty="0">
                <a:latin typeface="Arial" panose="020B0604020202020204" pitchFamily="34" charset="0"/>
              </a:rPr>
              <a:t>Обнаружение и уничтожение подлодок</a:t>
            </a:r>
          </a:p>
          <a:p>
            <a:pPr eaLnBrk="1" hangingPunct="1">
              <a:spcBef>
                <a:spcPct val="50000"/>
              </a:spcBef>
              <a:buClr>
                <a:srgbClr val="FF3300"/>
              </a:buClr>
              <a:buSzTx/>
              <a:buFontTx/>
              <a:buChar char="•"/>
            </a:pPr>
            <a:r>
              <a:rPr lang="ru-RU" altLang="ru-RU" sz="1800" dirty="0">
                <a:latin typeface="Arial" panose="020B0604020202020204" pitchFamily="34" charset="0"/>
              </a:rPr>
              <a:t>Патрулирование акватории</a:t>
            </a:r>
          </a:p>
          <a:p>
            <a:pPr eaLnBrk="1" hangingPunct="1">
              <a:spcBef>
                <a:spcPct val="50000"/>
              </a:spcBef>
              <a:buClr>
                <a:srgbClr val="FF3300"/>
              </a:buClr>
              <a:buSzTx/>
              <a:buFontTx/>
              <a:buChar char="•"/>
            </a:pPr>
            <a:r>
              <a:rPr lang="ru-RU" altLang="ru-RU" sz="1800" dirty="0">
                <a:latin typeface="Arial" panose="020B0604020202020204" pitchFamily="34" charset="0"/>
              </a:rPr>
              <a:t>Борьба с морскими пиратами</a:t>
            </a:r>
          </a:p>
          <a:p>
            <a:pPr eaLnBrk="1" hangingPunct="1">
              <a:spcBef>
                <a:spcPct val="50000"/>
              </a:spcBef>
              <a:buClr>
                <a:srgbClr val="FF3300"/>
              </a:buClr>
              <a:buSzTx/>
              <a:buFontTx/>
              <a:buChar char="•"/>
            </a:pPr>
            <a:r>
              <a:rPr lang="ru-RU" altLang="ru-RU" sz="1800" dirty="0">
                <a:latin typeface="Arial" panose="020B0604020202020204" pitchFamily="34" charset="0"/>
              </a:rPr>
              <a:t>Обнаружение и уничтожение мин</a:t>
            </a:r>
          </a:p>
          <a:p>
            <a:pPr eaLnBrk="1" hangingPunct="1">
              <a:spcBef>
                <a:spcPct val="50000"/>
              </a:spcBef>
              <a:buClr>
                <a:srgbClr val="FF3300"/>
              </a:buClr>
              <a:buSzTx/>
              <a:buFontTx/>
              <a:buChar char="•"/>
            </a:pPr>
            <a:r>
              <a:rPr lang="ru-RU" altLang="ru-RU" sz="1800" dirty="0">
                <a:latin typeface="Arial" panose="020B0604020202020204" pitchFamily="34" charset="0"/>
              </a:rPr>
              <a:t>Картография морского дна</a:t>
            </a:r>
          </a:p>
        </p:txBody>
      </p:sp>
      <p:sp>
        <p:nvSpPr>
          <p:cNvPr id="24583" name="Text Box 7">
            <a:extLst>
              <a:ext uri="{FF2B5EF4-FFF2-40B4-BE49-F238E27FC236}">
                <a16:creationId xmlns:a16="http://schemas.microsoft.com/office/drawing/2014/main" xmlns="" id="{09DDDBE7-920A-4CC7-9FA2-7E45CAD86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716338"/>
            <a:ext cx="561657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К 2020 г. в мире будет выпущено 1142 аппарата на общую сумму 2,3 млрд. долл., из которой 1,1 млрд. потратят военные. Произведено будет 394 крупных, 285 средних и 463 миниатюрных подводных устройства. В случае оптимистичного развития событий объем продаж достигнет 3,8 млрд. долл., а в “штучном” выражении — 1870 роботов. </a:t>
            </a:r>
          </a:p>
        </p:txBody>
      </p:sp>
      <p:sp>
        <p:nvSpPr>
          <p:cNvPr id="24584" name="Text Box 8">
            <a:extLst>
              <a:ext uri="{FF2B5EF4-FFF2-40B4-BE49-F238E27FC236}">
                <a16:creationId xmlns:a16="http://schemas.microsoft.com/office/drawing/2014/main" xmlns="" id="{14701B4D-155A-47C7-B155-7DAAD2FF9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3284538"/>
            <a:ext cx="338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катер ВМС США </a:t>
            </a:r>
            <a:r>
              <a:rPr lang="en-US" altLang="ru-RU" sz="1800">
                <a:latin typeface="Arial" panose="020B0604020202020204" pitchFamily="34" charset="0"/>
              </a:rPr>
              <a:t>Protector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12290" name="Picture 2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206" y="6034542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xmlns="" id="{836A8E2F-E47B-48B1-9D6A-E0A33C096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20713"/>
            <a:ext cx="8229600" cy="1655762"/>
          </a:xfrm>
        </p:spPr>
        <p:txBody>
          <a:bodyPr/>
          <a:lstStyle/>
          <a:p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alt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медицине</a:t>
            </a:r>
            <a:r>
              <a:rPr lang="ru-RU" alt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они играют очень важную роль. Многие манипуляции выполняются сверхчувствительными и микроскопическими механизмами, которые тоже можно назвать роботами.</a:t>
            </a:r>
          </a:p>
        </p:txBody>
      </p:sp>
      <p:pic>
        <p:nvPicPr>
          <p:cNvPr id="25603" name="Picture 3">
            <a:extLst>
              <a:ext uri="{FF2B5EF4-FFF2-40B4-BE49-F238E27FC236}">
                <a16:creationId xmlns:a16="http://schemas.microsoft.com/office/drawing/2014/main" xmlns="" id="{B0F5BC2D-A405-485B-BE86-7FB152391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2492375"/>
            <a:ext cx="3133725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Текст 3">
            <a:extLst>
              <a:ext uri="{FF2B5EF4-FFF2-40B4-BE49-F238E27FC236}">
                <a16:creationId xmlns:a16="http://schemas.microsoft.com/office/drawing/2014/main" xmlns="" id="{A60791F1-3560-46A7-A1DE-C4A2F03B6A25}"/>
              </a:ext>
            </a:extLst>
          </p:cNvPr>
          <p:cNvSpPr>
            <a:spLocks/>
          </p:cNvSpPr>
          <p:nvPr/>
        </p:nvSpPr>
        <p:spPr bwMode="auto">
          <a:xfrm>
            <a:off x="4787900" y="5876925"/>
            <a:ext cx="40417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Хирургический робот                           </a:t>
            </a:r>
            <a:r>
              <a:rPr lang="en-US" altLang="ru-RU" sz="1800" dirty="0">
                <a:latin typeface="Arial" panose="020B0604020202020204" pitchFamily="34" charset="0"/>
              </a:rPr>
              <a:t>DA VINCI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sp>
        <p:nvSpPr>
          <p:cNvPr id="25605" name="AutoShape 7" descr="%D0%BF%D0%BE%D0%B4%D0%B2%D0%BE%D0%B4%D0%BD%D1%8B%D0%B5_%D1%80%D0%BE%D0%B1%D0%BE%D1%82%D1%8B1">
            <a:extLst>
              <a:ext uri="{FF2B5EF4-FFF2-40B4-BE49-F238E27FC236}">
                <a16:creationId xmlns:a16="http://schemas.microsoft.com/office/drawing/2014/main" xmlns="" id="{24ECE582-AEAB-41C8-90F9-E8F0DED6F4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25606" name="AutoShape 9" descr="%D0%BF%D0%BE%D0%B4%D0%B2%D0%BE%D0%B4%D0%BD%D1%8B%D0%B5_%D1%80%D0%BE%D0%B1%D0%BE%D1%82%D1%8B1">
            <a:extLst>
              <a:ext uri="{FF2B5EF4-FFF2-40B4-BE49-F238E27FC236}">
                <a16:creationId xmlns:a16="http://schemas.microsoft.com/office/drawing/2014/main" xmlns="" id="{27DFA5B7-9C1C-4E3F-8F74-D2C65441FE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25607" name="AutoShape 11" descr="%D0%BF%D0%BE%D0%B4%D0%B2%D0%BE%D0%B4%D0%BD%D1%8B%D0%B5_%D1%80%D0%BE%D0%B1%D0%BE%D1%82%D1%8B1">
            <a:extLst>
              <a:ext uri="{FF2B5EF4-FFF2-40B4-BE49-F238E27FC236}">
                <a16:creationId xmlns:a16="http://schemas.microsoft.com/office/drawing/2014/main" xmlns="" id="{ECAF769C-DD17-4E09-B0BE-1885DB2EF3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25608" name="Picture 12" descr="Медицинский MKR003">
            <a:extLst>
              <a:ext uri="{FF2B5EF4-FFF2-40B4-BE49-F238E27FC236}">
                <a16:creationId xmlns:a16="http://schemas.microsoft.com/office/drawing/2014/main" xmlns="" id="{5E0C0DEC-DFF9-46A4-95DE-90594DCD9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492375"/>
            <a:ext cx="327660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9" name="Text Box 13">
            <a:extLst>
              <a:ext uri="{FF2B5EF4-FFF2-40B4-BE49-F238E27FC236}">
                <a16:creationId xmlns:a16="http://schemas.microsoft.com/office/drawing/2014/main" xmlns="" id="{34CC8FB0-59FE-4273-8219-350AF76B2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805488"/>
            <a:ext cx="4105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Развозчик лекарств </a:t>
            </a:r>
            <a:r>
              <a:rPr lang="en-US" altLang="ru-RU" sz="1800">
                <a:latin typeface="Arial" panose="020B0604020202020204" pitchFamily="34" charset="0"/>
              </a:rPr>
              <a:t>MRK-03 (</a:t>
            </a:r>
            <a:r>
              <a:rPr lang="ru-RU" altLang="ru-RU" sz="1800">
                <a:latin typeface="Arial" panose="020B0604020202020204" pitchFamily="34" charset="0"/>
              </a:rPr>
              <a:t>Япония</a:t>
            </a:r>
            <a:r>
              <a:rPr lang="en-US" altLang="ru-RU" sz="1800">
                <a:latin typeface="Arial" panose="020B0604020202020204" pitchFamily="34" charset="0"/>
              </a:rPr>
              <a:t>)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1026" name="Picture 2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388" y="6165056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xmlns="" id="{81B2F38E-AEBE-4808-B489-57AA20105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0237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2500" dirty="0">
                <a:effectLst/>
                <a:hlinkClick r:id="rId2" action="ppaction://hlinksldjump"/>
              </a:rPr>
              <a:t>Роботы для медицины</a:t>
            </a:r>
            <a:r>
              <a:rPr lang="en-US" sz="2500" dirty="0">
                <a:effectLst/>
                <a:hlinkClick r:id="rId2" action="ppaction://hlinksldjump"/>
              </a:rPr>
              <a:t> -</a:t>
            </a:r>
            <a:r>
              <a:rPr lang="ru-RU" sz="2500" dirty="0">
                <a:effectLst/>
                <a:hlinkClick r:id="rId2" action="ppaction://hlinksldjump"/>
              </a:rPr>
              <a:t> тренажеры для врачей</a:t>
            </a:r>
            <a:endParaRPr lang="ru-RU" sz="2500" dirty="0">
              <a:effectLst/>
            </a:endParaRPr>
          </a:p>
        </p:txBody>
      </p:sp>
      <p:pic>
        <p:nvPicPr>
          <p:cNvPr id="26627" name="Picture 3" descr="Медицина Стен">
            <a:extLst>
              <a:ext uri="{FF2B5EF4-FFF2-40B4-BE49-F238E27FC236}">
                <a16:creationId xmlns:a16="http://schemas.microsoft.com/office/drawing/2014/main" xmlns="" id="{FD567C9C-FBB0-4BC8-89EB-2D405B74A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214438"/>
            <a:ext cx="2852737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4" descr="медицина - hanako">
            <a:extLst>
              <a:ext uri="{FF2B5EF4-FFF2-40B4-BE49-F238E27FC236}">
                <a16:creationId xmlns:a16="http://schemas.microsoft.com/office/drawing/2014/main" xmlns="" id="{8E649A06-8CA7-4440-A460-981499913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1143000"/>
            <a:ext cx="2816225" cy="220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 Box 5">
            <a:extLst>
              <a:ext uri="{FF2B5EF4-FFF2-40B4-BE49-F238E27FC236}">
                <a16:creationId xmlns:a16="http://schemas.microsoft.com/office/drawing/2014/main" xmlns="" id="{FAE7E916-3758-4BC7-B127-053F6F691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643313"/>
            <a:ext cx="40005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Робот-пациент </a:t>
            </a:r>
            <a:r>
              <a:rPr lang="en-US" altLang="ru-RU" sz="1800">
                <a:latin typeface="Arial" panose="020B0604020202020204" pitchFamily="34" charset="0"/>
              </a:rPr>
              <a:t>STAN (</a:t>
            </a:r>
            <a:r>
              <a:rPr lang="ru-RU" altLang="ru-RU" sz="1800">
                <a:latin typeface="Arial" panose="020B0604020202020204" pitchFamily="34" charset="0"/>
              </a:rPr>
              <a:t>США</a:t>
            </a:r>
            <a:r>
              <a:rPr lang="en-US" altLang="ru-RU" sz="1800">
                <a:latin typeface="Arial" panose="020B0604020202020204" pitchFamily="34" charset="0"/>
              </a:rPr>
              <a:t>)</a:t>
            </a:r>
            <a:endParaRPr lang="ru-RU" altLang="ru-RU" sz="1800"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Робот дышит и говорит. И многих студентов регулярно шокирует "смерть" манекена — настолько он реалистичен.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Используется в 370 госпиталях и медицинских школах. </a:t>
            </a:r>
          </a:p>
        </p:txBody>
      </p:sp>
      <p:sp>
        <p:nvSpPr>
          <p:cNvPr id="26630" name="Text Box 6">
            <a:extLst>
              <a:ext uri="{FF2B5EF4-FFF2-40B4-BE49-F238E27FC236}">
                <a16:creationId xmlns:a16="http://schemas.microsoft.com/office/drawing/2014/main" xmlns="" id="{402F89B7-C407-4EB4-A3AA-EBFEFAB3B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3714750"/>
            <a:ext cx="3748088" cy="244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Робот для стоматологов </a:t>
            </a:r>
            <a:r>
              <a:rPr lang="en-US" altLang="ru-RU" sz="1800" dirty="0" err="1">
                <a:latin typeface="Arial" panose="020B0604020202020204" pitchFamily="34" charset="0"/>
              </a:rPr>
              <a:t>Hanako</a:t>
            </a:r>
            <a:r>
              <a:rPr lang="en-US" altLang="ru-RU" sz="1800" dirty="0">
                <a:latin typeface="Arial" panose="020B0604020202020204" pitchFamily="34" charset="0"/>
              </a:rPr>
              <a:t> (</a:t>
            </a:r>
            <a:r>
              <a:rPr lang="ru-RU" altLang="ru-RU" sz="1800" dirty="0">
                <a:latin typeface="Arial" panose="020B0604020202020204" pitchFamily="34" charset="0"/>
              </a:rPr>
              <a:t>Япония)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Она может изображать боль, закатывать глаза и даже пускать слюну. Кроме того, </a:t>
            </a:r>
            <a:r>
              <a:rPr lang="ru-RU" altLang="ru-RU" sz="1800" dirty="0" err="1">
                <a:latin typeface="Arial" panose="020B0604020202020204" pitchFamily="34" charset="0"/>
              </a:rPr>
              <a:t>Hanako</a:t>
            </a:r>
            <a:r>
              <a:rPr lang="ru-RU" altLang="ru-RU" sz="1800" dirty="0">
                <a:latin typeface="Arial" panose="020B0604020202020204" pitchFamily="34" charset="0"/>
              </a:rPr>
              <a:t> может общаться с врачом и говорить, например, «Мне больно». </a:t>
            </a:r>
          </a:p>
        </p:txBody>
      </p:sp>
      <p:pic>
        <p:nvPicPr>
          <p:cNvPr id="3074" name="Picture 2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564" y="6161088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xmlns="" id="{E1B06C57-D8F7-41B3-B9A4-97607F6F17C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8313" y="115888"/>
            <a:ext cx="8229600" cy="630237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2500" dirty="0">
                <a:effectLst/>
                <a:hlinkClick r:id="rId2" action="ppaction://hlinksldjump"/>
              </a:rPr>
              <a:t>Домашние роботы – </a:t>
            </a:r>
            <a:r>
              <a:rPr lang="en-US" sz="2500" dirty="0">
                <a:effectLst/>
                <a:hlinkClick r:id="rId2" action="ppaction://hlinksldjump"/>
              </a:rPr>
              <a:t>PR2 (Willow Garage)</a:t>
            </a:r>
            <a:endParaRPr lang="ru-RU" sz="2500" dirty="0">
              <a:effectLst/>
            </a:endParaRPr>
          </a:p>
        </p:txBody>
      </p:sp>
      <p:pic>
        <p:nvPicPr>
          <p:cNvPr id="30723" name="Picture 3" descr="PR2">
            <a:extLst>
              <a:ext uri="{FF2B5EF4-FFF2-40B4-BE49-F238E27FC236}">
                <a16:creationId xmlns:a16="http://schemas.microsoft.com/office/drawing/2014/main" xmlns="" id="{E6B8442C-2705-4858-834A-2A374A46F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573463"/>
            <a:ext cx="3024187" cy="225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Text Box 4">
            <a:extLst>
              <a:ext uri="{FF2B5EF4-FFF2-40B4-BE49-F238E27FC236}">
                <a16:creationId xmlns:a16="http://schemas.microsoft.com/office/drawing/2014/main" xmlns="" id="{9F4BBC7E-5705-4250-B086-1FF52E40C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2708275"/>
            <a:ext cx="5545138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Эта робототехническая платформа призвана помочь исследователям в том, чтобы не идти по сложному и дорогостоящему пути создания робота с нуля, а сосредоточить свои усилия на еще нерешенных проблемах. </a:t>
            </a:r>
            <a:br>
              <a:rPr lang="ru-RU" altLang="ru-RU" sz="1800" dirty="0">
                <a:latin typeface="Arial" panose="020B0604020202020204" pitchFamily="34" charset="0"/>
              </a:rPr>
            </a:br>
            <a:r>
              <a:rPr lang="ru-RU" altLang="ru-RU" sz="1800" b="1" dirty="0">
                <a:latin typeface="Arial" panose="020B0604020202020204" pitchFamily="34" charset="0"/>
              </a:rPr>
              <a:t>Робот демонстрирует </a:t>
            </a:r>
            <a:r>
              <a:rPr lang="ru-RU" altLang="ru-RU" sz="1800" dirty="0">
                <a:latin typeface="Arial" panose="020B0604020202020204" pitchFamily="34" charset="0"/>
              </a:rPr>
              <a:t>свои возможности: самостоятельно находит, открывает и закрывает двери, закладывает и достает посуду в посудомоечную машину, а когда уровень заряда батареи становится слишком низким, самостоятельно вставляет штекер в розетку. Также робот может выполнять и достаточно тонкую работу, например, перелистывать страницы обычной книги. </a:t>
            </a:r>
          </a:p>
        </p:txBody>
      </p:sp>
      <p:pic>
        <p:nvPicPr>
          <p:cNvPr id="30725" name="Picture 5" descr="PR2_1">
            <a:extLst>
              <a:ext uri="{FF2B5EF4-FFF2-40B4-BE49-F238E27FC236}">
                <a16:creationId xmlns:a16="http://schemas.microsoft.com/office/drawing/2014/main" xmlns="" id="{89C29886-432A-4EF1-8ECB-73FAECDFF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908050"/>
            <a:ext cx="3024187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 Box 6">
            <a:extLst>
              <a:ext uri="{FF2B5EF4-FFF2-40B4-BE49-F238E27FC236}">
                <a16:creationId xmlns:a16="http://schemas.microsoft.com/office/drawing/2014/main" xmlns="" id="{0C999DC3-0F7F-42CA-9693-F1AC324C1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836613"/>
            <a:ext cx="5040313" cy="17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Personal Robot 2 (PR2)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Вес 145 кг, туловище 4 степени свободы, голова 3 степени, 2 манипулятора по 8 степеней, 22 датчика давления на схватах.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Открытая ОС для роботов (</a:t>
            </a:r>
            <a:r>
              <a:rPr lang="en-US" altLang="ru-RU" sz="1800">
                <a:latin typeface="Arial" panose="020B0604020202020204" pitchFamily="34" charset="0"/>
              </a:rPr>
              <a:t>ROS)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5122" name="Picture 2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769" y="6118225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xmlns="" id="{6BFF188A-6D00-470E-8D7A-1177BB1544B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8313" y="115888"/>
            <a:ext cx="8229600" cy="7032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ru-RU" sz="2500" dirty="0">
                <a:effectLst/>
                <a:hlinkClick r:id="rId2" action="ppaction://hlinksldjump"/>
              </a:rPr>
              <a:t>Домашние роботы</a:t>
            </a:r>
            <a:endParaRPr lang="ru-RU" sz="2500" dirty="0">
              <a:effectLst/>
            </a:endParaRPr>
          </a:p>
        </p:txBody>
      </p:sp>
      <p:pic>
        <p:nvPicPr>
          <p:cNvPr id="31747" name="Picture 3" descr="Кухонный робот IRT">
            <a:extLst>
              <a:ext uri="{FF2B5EF4-FFF2-40B4-BE49-F238E27FC236}">
                <a16:creationId xmlns:a16="http://schemas.microsoft.com/office/drawing/2014/main" xmlns="" id="{678AADFE-94A2-4A94-8A09-53D752E4F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836613"/>
            <a:ext cx="2232025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4" descr="Кухонный робот ReadyBot">
            <a:extLst>
              <a:ext uri="{FF2B5EF4-FFF2-40B4-BE49-F238E27FC236}">
                <a16:creationId xmlns:a16="http://schemas.microsoft.com/office/drawing/2014/main" xmlns="" id="{505BA106-EC4B-43D1-817C-EA7B34AEF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908050"/>
            <a:ext cx="3241675" cy="251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 descr="Кухонный робот panasonic">
            <a:extLst>
              <a:ext uri="{FF2B5EF4-FFF2-40B4-BE49-F238E27FC236}">
                <a16:creationId xmlns:a16="http://schemas.microsoft.com/office/drawing/2014/main" xmlns="" id="{FF6F3EBF-6C74-4166-8893-9B4BD424D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4076700"/>
            <a:ext cx="367030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Text Box 6">
            <a:extLst>
              <a:ext uri="{FF2B5EF4-FFF2-40B4-BE49-F238E27FC236}">
                <a16:creationId xmlns:a16="http://schemas.microsoft.com/office/drawing/2014/main" xmlns="" id="{5515A6FB-00DA-4A12-8F68-F4A969970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5876925"/>
            <a:ext cx="2376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IRT (</a:t>
            </a:r>
            <a:r>
              <a:rPr lang="ru-RU" altLang="ru-RU" sz="1800">
                <a:latin typeface="Arial" panose="020B0604020202020204" pitchFamily="34" charset="0"/>
              </a:rPr>
              <a:t>Япония</a:t>
            </a:r>
            <a:r>
              <a:rPr lang="en-US" altLang="ru-RU" sz="1800">
                <a:latin typeface="Arial" panose="020B0604020202020204" pitchFamily="34" charset="0"/>
              </a:rPr>
              <a:t>)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xmlns="" id="{FC65517F-6295-4975-9249-C6E1F800E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6165850"/>
            <a:ext cx="2447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Panasonic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31752" name="Text Box 8">
            <a:extLst>
              <a:ext uri="{FF2B5EF4-FFF2-40B4-BE49-F238E27FC236}">
                <a16:creationId xmlns:a16="http://schemas.microsoft.com/office/drawing/2014/main" xmlns="" id="{BC5FDC70-8090-4F1A-89A5-5BA49BC6F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3429000"/>
            <a:ext cx="2016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ReadyBot (</a:t>
            </a:r>
            <a:r>
              <a:rPr lang="ru-RU" altLang="ru-RU" sz="1800">
                <a:latin typeface="Arial" panose="020B0604020202020204" pitchFamily="34" charset="0"/>
              </a:rPr>
              <a:t>США</a:t>
            </a:r>
            <a:r>
              <a:rPr lang="en-US" altLang="ru-RU" sz="1800">
                <a:latin typeface="Arial" panose="020B0604020202020204" pitchFamily="34" charset="0"/>
              </a:rPr>
              <a:t>)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31753" name="Picture 9" descr="Домашний робот IRT_1">
            <a:extLst>
              <a:ext uri="{FF2B5EF4-FFF2-40B4-BE49-F238E27FC236}">
                <a16:creationId xmlns:a16="http://schemas.microsoft.com/office/drawing/2014/main" xmlns="" id="{C7121204-001F-4985-A098-2C4BCAB35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997200"/>
            <a:ext cx="222885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>
            <a:hlinkClick r:id="rId7" action="ppaction://hlinksldjump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738" y="6243638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A9BB2D58-A170-4715-BFDC-279CB699E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703262"/>
          </a:xfrm>
        </p:spPr>
        <p:txBody>
          <a:bodyPr/>
          <a:lstStyle/>
          <a:p>
            <a:pPr eaLnBrk="1" hangingPunct="1">
              <a:defRPr/>
            </a:pPr>
            <a:r>
              <a:rPr lang="ru-RU" sz="2800" dirty="0">
                <a:hlinkClick r:id="rId2" action="ppaction://hlinksldjump"/>
              </a:rPr>
              <a:t>Военные роботы (Россия)</a:t>
            </a:r>
            <a:endParaRPr lang="ru-RU" sz="2800" dirty="0"/>
          </a:p>
        </p:txBody>
      </p:sp>
      <p:pic>
        <p:nvPicPr>
          <p:cNvPr id="38915" name="Picture 8" descr="Боевой МРК_27">
            <a:extLst>
              <a:ext uri="{FF2B5EF4-FFF2-40B4-BE49-F238E27FC236}">
                <a16:creationId xmlns:a16="http://schemas.microsoft.com/office/drawing/2014/main" xmlns="" id="{AB7354E0-B862-40DB-9C01-ACF9B29C6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3789363"/>
            <a:ext cx="32385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9" descr="Боевые Туполев">
            <a:extLst>
              <a:ext uri="{FF2B5EF4-FFF2-40B4-BE49-F238E27FC236}">
                <a16:creationId xmlns:a16="http://schemas.microsoft.com/office/drawing/2014/main" xmlns="" id="{C4925C50-6109-4A0C-9AFA-E82808196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4221163"/>
            <a:ext cx="25908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Text Box 10">
            <a:extLst>
              <a:ext uri="{FF2B5EF4-FFF2-40B4-BE49-F238E27FC236}">
                <a16:creationId xmlns:a16="http://schemas.microsoft.com/office/drawing/2014/main" xmlns="" id="{3C5A46C8-3B73-4A5B-BD9A-0BC0453BC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6237288"/>
            <a:ext cx="16557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ТУ-300</a:t>
            </a:r>
          </a:p>
        </p:txBody>
      </p:sp>
      <p:sp>
        <p:nvSpPr>
          <p:cNvPr id="38918" name="Text Box 11">
            <a:extLst>
              <a:ext uri="{FF2B5EF4-FFF2-40B4-BE49-F238E27FC236}">
                <a16:creationId xmlns:a16="http://schemas.microsoft.com/office/drawing/2014/main" xmlns="" id="{1878782D-765D-4DCF-AA08-56668C144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6308725"/>
            <a:ext cx="1584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МРК-27 - БТ </a:t>
            </a:r>
          </a:p>
        </p:txBody>
      </p:sp>
      <p:pic>
        <p:nvPicPr>
          <p:cNvPr id="38919" name="Picture 12" descr="Боевые Дозор">
            <a:extLst>
              <a:ext uri="{FF2B5EF4-FFF2-40B4-BE49-F238E27FC236}">
                <a16:creationId xmlns:a16="http://schemas.microsoft.com/office/drawing/2014/main" xmlns="" id="{DE757612-A556-4234-9127-E3618C392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4149725"/>
            <a:ext cx="2735262" cy="205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0" name="Text Box 13">
            <a:extLst>
              <a:ext uri="{FF2B5EF4-FFF2-40B4-BE49-F238E27FC236}">
                <a16:creationId xmlns:a16="http://schemas.microsoft.com/office/drawing/2014/main" xmlns="" id="{8EB0D7EA-A132-4199-A6AB-17C34DD30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6237288"/>
            <a:ext cx="1871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Дозор-600 </a:t>
            </a:r>
          </a:p>
        </p:txBody>
      </p:sp>
      <p:pic>
        <p:nvPicPr>
          <p:cNvPr id="38921" name="Picture 15" descr="Боевые Типачак">
            <a:extLst>
              <a:ext uri="{FF2B5EF4-FFF2-40B4-BE49-F238E27FC236}">
                <a16:creationId xmlns:a16="http://schemas.microsoft.com/office/drawing/2014/main" xmlns="" id="{417F3878-1BB8-41F2-99C3-D2AAE25FE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836613"/>
            <a:ext cx="25400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2" name="Text Box 16">
            <a:extLst>
              <a:ext uri="{FF2B5EF4-FFF2-40B4-BE49-F238E27FC236}">
                <a16:creationId xmlns:a16="http://schemas.microsoft.com/office/drawing/2014/main" xmlns="" id="{FD4C9DA1-3D7E-43D1-9A18-982F849C6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2708275"/>
            <a:ext cx="252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БЛА-05 «Типчак»</a:t>
            </a:r>
          </a:p>
        </p:txBody>
      </p:sp>
      <p:sp>
        <p:nvSpPr>
          <p:cNvPr id="38923" name="Rectangle 17">
            <a:extLst>
              <a:ext uri="{FF2B5EF4-FFF2-40B4-BE49-F238E27FC236}">
                <a16:creationId xmlns:a16="http://schemas.microsoft.com/office/drawing/2014/main" xmlns="" id="{3E056091-A951-4CCD-8C64-6233F855D28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052513"/>
            <a:ext cx="4038600" cy="2260600"/>
          </a:xfrm>
        </p:spPr>
        <p:txBody>
          <a:bodyPr/>
          <a:lstStyle/>
          <a:p>
            <a:pPr eaLnBrk="1" hangingPunct="1"/>
            <a:r>
              <a:rPr lang="ru-RU" altLang="ru-RU" sz="1800">
                <a:latin typeface="Arial" panose="020B0604020202020204" pitchFamily="34" charset="0"/>
                <a:cs typeface="Arial" panose="020B0604020202020204" pitchFamily="34" charset="0"/>
              </a:rPr>
              <a:t>Имеется много разработок БПЛА различных типов</a:t>
            </a:r>
          </a:p>
          <a:p>
            <a:pPr eaLnBrk="1" hangingPunct="1"/>
            <a:r>
              <a:rPr lang="ru-RU" altLang="ru-RU" sz="1800">
                <a:latin typeface="Arial" panose="020B0604020202020204" pitchFamily="34" charset="0"/>
                <a:cs typeface="Arial" panose="020B0604020202020204" pitchFamily="34" charset="0"/>
              </a:rPr>
              <a:t>Имеются единичные образцы наземной техники</a:t>
            </a:r>
          </a:p>
          <a:p>
            <a:pPr eaLnBrk="1" hangingPunct="1"/>
            <a:r>
              <a:rPr lang="ru-RU" altLang="ru-RU" sz="1800">
                <a:latin typeface="Arial" panose="020B0604020202020204" pitchFamily="34" charset="0"/>
                <a:cs typeface="Arial" panose="020B0604020202020204" pitchFamily="34" charset="0"/>
              </a:rPr>
              <a:t>Нет концепции применения БПЛА в армии</a:t>
            </a:r>
          </a:p>
          <a:p>
            <a:pPr eaLnBrk="1" hangingPunct="1"/>
            <a:r>
              <a:rPr lang="ru-RU" altLang="ru-RU" sz="1800">
                <a:latin typeface="Arial" panose="020B0604020202020204" pitchFamily="34" charset="0"/>
                <a:cs typeface="Arial" panose="020B0604020202020204" pitchFamily="34" charset="0"/>
              </a:rPr>
              <a:t>Нет массового производства</a:t>
            </a:r>
          </a:p>
        </p:txBody>
      </p:sp>
      <p:pic>
        <p:nvPicPr>
          <p:cNvPr id="8194" name="Picture 2">
            <a:hlinkClick r:id="rId7" action="ppaction://hlinksldjump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769" y="39913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xmlns="" id="{C2668BDE-36C1-4C9C-AB4D-AFB456B5089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747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2500" dirty="0">
                <a:effectLst/>
                <a:hlinkClick r:id="rId2" action="ppaction://hlinksldjump"/>
              </a:rPr>
              <a:t>Военные роботы США</a:t>
            </a:r>
            <a:endParaRPr lang="ru-RU" sz="2500" dirty="0">
              <a:effectLst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xmlns="" id="{3CCE881B-D829-4596-8639-1D6AD42C357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68313" y="1052513"/>
            <a:ext cx="4103687" cy="3484562"/>
          </a:xfrm>
        </p:spPr>
        <p:txBody>
          <a:bodyPr/>
          <a:lstStyle/>
          <a:p>
            <a:pPr algn="ctr">
              <a:buFont typeface="Wingdings 3" panose="05040102010807070707" pitchFamily="18" charset="2"/>
              <a:buNone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Планы </a:t>
            </a:r>
            <a:r>
              <a:rPr lang="en-US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DARPA </a:t>
            </a: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по перевооружению армии:</a:t>
            </a:r>
          </a:p>
          <a:p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 2015 году одна треть транспортных средств будет беспилотной</a:t>
            </a:r>
            <a:endParaRPr lang="en-US" alt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За 6 лет с 2006 г. планируется потратить </a:t>
            </a:r>
            <a:r>
              <a:rPr lang="en-US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$14.78 </a:t>
            </a: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млрд</a:t>
            </a:r>
          </a:p>
          <a:p>
            <a:r>
              <a:rPr lang="ru-RU" alt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К 2025 году планируется переход к полноценной робототехнической армии</a:t>
            </a:r>
          </a:p>
        </p:txBody>
      </p:sp>
      <p:pic>
        <p:nvPicPr>
          <p:cNvPr id="39940" name="Picture 4" descr="04GlobalHawk">
            <a:extLst>
              <a:ext uri="{FF2B5EF4-FFF2-40B4-BE49-F238E27FC236}">
                <a16:creationId xmlns:a16="http://schemas.microsoft.com/office/drawing/2014/main" xmlns="" id="{613A2140-092C-4610-B5CF-FC94546E645E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67400" y="1196975"/>
            <a:ext cx="2806700" cy="2189163"/>
          </a:xfrm>
          <a:noFill/>
        </p:spPr>
      </p:pic>
      <p:pic>
        <p:nvPicPr>
          <p:cNvPr id="39941" name="Picture 5" descr="01_gladiator">
            <a:extLst>
              <a:ext uri="{FF2B5EF4-FFF2-40B4-BE49-F238E27FC236}">
                <a16:creationId xmlns:a16="http://schemas.microsoft.com/office/drawing/2014/main" xmlns="" id="{114724F6-63EE-4205-90F8-47DCCC7B5AB5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524250"/>
            <a:ext cx="4038600" cy="1136650"/>
          </a:xfrm>
          <a:noFill/>
        </p:spPr>
      </p:pic>
      <p:pic>
        <p:nvPicPr>
          <p:cNvPr id="39942" name="Picture 6" descr="04stryker_930p">
            <a:extLst>
              <a:ext uri="{FF2B5EF4-FFF2-40B4-BE49-F238E27FC236}">
                <a16:creationId xmlns:a16="http://schemas.microsoft.com/office/drawing/2014/main" xmlns="" id="{99D61856-86D4-4B1A-A613-EAA12904D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941888"/>
            <a:ext cx="2801937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3" name="Picture 7" descr="04_ugv_03">
            <a:extLst>
              <a:ext uri="{FF2B5EF4-FFF2-40B4-BE49-F238E27FC236}">
                <a16:creationId xmlns:a16="http://schemas.microsoft.com/office/drawing/2014/main" xmlns="" id="{4D0049D9-0C89-47B6-8C71-523CEB50C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4941888"/>
            <a:ext cx="2303463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4" name="Picture 8" descr="06Matilda">
            <a:extLst>
              <a:ext uri="{FF2B5EF4-FFF2-40B4-BE49-F238E27FC236}">
                <a16:creationId xmlns:a16="http://schemas.microsoft.com/office/drawing/2014/main" xmlns="" id="{8354767B-BCF8-4A38-B79C-DA1E5120E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4941888"/>
            <a:ext cx="2663825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2">
            <a:hlinkClick r:id="rId8" action="ppaction://hlinksldjump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963" y="130629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5">
            <a:extLst>
              <a:ext uri="{FF2B5EF4-FFF2-40B4-BE49-F238E27FC236}">
                <a16:creationId xmlns:a16="http://schemas.microsoft.com/office/drawing/2014/main" xmlns="" id="{9507B44E-8F05-4346-8504-F3748CE61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05263"/>
            <a:ext cx="8135937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/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/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/>
            </a:r>
            <a:br>
              <a:rPr lang="ru-RU" altLang="ru-RU" sz="1800">
                <a:latin typeface="Arial" panose="020B0604020202020204" pitchFamily="34" charset="0"/>
              </a:rPr>
            </a:b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34819" name="Text Box 6">
            <a:extLst>
              <a:ext uri="{FF2B5EF4-FFF2-40B4-BE49-F238E27FC236}">
                <a16:creationId xmlns:a16="http://schemas.microsoft.com/office/drawing/2014/main" xmlns="" id="{1492591E-720F-4374-9AE4-163F9E94F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52513"/>
            <a:ext cx="8208962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2000" b="1" dirty="0">
                <a:latin typeface="Arial" panose="020B0604020202020204" pitchFamily="34" charset="0"/>
                <a:hlinkClick r:id="rId2" action="ppaction://hlinksldjump"/>
              </a:rPr>
              <a:t>В Советском Союзе у</a:t>
            </a:r>
            <a:r>
              <a:rPr lang="ru-RU" altLang="ru-RU" sz="1800" b="1" dirty="0">
                <a:latin typeface="Arial" panose="020B0604020202020204" pitchFamily="34" charset="0"/>
                <a:hlinkClick r:id="rId2" action="ppaction://hlinksldjump"/>
              </a:rPr>
              <a:t>спехи робототехники </a:t>
            </a:r>
            <a:r>
              <a:rPr lang="ru-RU" altLang="ru-RU" sz="2000" b="1" dirty="0">
                <a:latin typeface="Arial" panose="020B0604020202020204" pitchFamily="34" charset="0"/>
                <a:hlinkClick r:id="rId2" action="ppaction://hlinksldjump"/>
              </a:rPr>
              <a:t>были связаны с развитием космической и атомной отраслей, а так же военных технологий.</a:t>
            </a:r>
            <a:endParaRPr lang="ru-RU" altLang="ru-RU" sz="20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ru-RU" altLang="ru-RU" sz="2000" dirty="0">
                <a:latin typeface="Arial" panose="020B0604020202020204" pitchFamily="34" charset="0"/>
              </a:rPr>
              <a:t>1936 год - был создан первый советский робот </a:t>
            </a:r>
            <a:r>
              <a:rPr lang="ru-RU" altLang="ru-RU" sz="2000" b="1" dirty="0">
                <a:latin typeface="Arial" panose="020B0604020202020204" pitchFamily="34" charset="0"/>
              </a:rPr>
              <a:t>«В2М»;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ru-RU" altLang="ru-RU" sz="2000" dirty="0">
                <a:latin typeface="Arial" panose="020B0604020202020204" pitchFamily="34" charset="0"/>
              </a:rPr>
              <a:t>1961 год - запуск автоматической межпланетной станции </a:t>
            </a:r>
            <a:r>
              <a:rPr lang="ru-RU" altLang="ru-RU" sz="2000" b="1" dirty="0">
                <a:latin typeface="Arial" panose="020B0604020202020204" pitchFamily="34" charset="0"/>
              </a:rPr>
              <a:t>«Венера-1».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ru-RU" altLang="ru-RU" sz="2000" dirty="0">
                <a:latin typeface="Arial" panose="020B0604020202020204" pitchFamily="34" charset="0"/>
              </a:rPr>
              <a:t>1966 год -  аппарат </a:t>
            </a:r>
            <a:r>
              <a:rPr lang="ru-RU" altLang="ru-RU" sz="2000" b="1" dirty="0">
                <a:latin typeface="Arial" panose="020B0604020202020204" pitchFamily="34" charset="0"/>
              </a:rPr>
              <a:t>«Луна-9»</a:t>
            </a:r>
            <a:r>
              <a:rPr lang="ru-RU" altLang="ru-RU" sz="2000" dirty="0">
                <a:latin typeface="Arial" panose="020B0604020202020204" pitchFamily="34" charset="0"/>
              </a:rPr>
              <a:t> впервые совершил мягкую посадку на поверхности Луны и провел сеанс связи с Землей.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ru-RU" altLang="ru-RU" sz="2000" b="1" dirty="0">
                <a:latin typeface="Arial" panose="020B0604020202020204" pitchFamily="34" charset="0"/>
              </a:rPr>
              <a:t>Ярким достижением советских конструкторов </a:t>
            </a:r>
            <a:r>
              <a:rPr lang="ru-RU" altLang="ru-RU" sz="2000" dirty="0">
                <a:latin typeface="Arial" panose="020B0604020202020204" pitchFamily="34" charset="0"/>
              </a:rPr>
              <a:t>стал первый в мире дистанционно управляемый самоходный аппарат — </a:t>
            </a:r>
            <a:r>
              <a:rPr lang="ru-RU" altLang="ru-RU" sz="2000" b="1" dirty="0">
                <a:latin typeface="Arial" panose="020B0604020202020204" pitchFamily="34" charset="0"/>
              </a:rPr>
              <a:t>«Луноход-1», </a:t>
            </a:r>
            <a:r>
              <a:rPr lang="ru-RU" altLang="ru-RU" sz="2000" dirty="0">
                <a:latin typeface="Arial" panose="020B0604020202020204" pitchFamily="34" charset="0"/>
              </a:rPr>
              <a:t>запущенный в 1970 году.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  <p:pic>
        <p:nvPicPr>
          <p:cNvPr id="23554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048" y="5877272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4">
            <a:extLst>
              <a:ext uri="{FF2B5EF4-FFF2-40B4-BE49-F238E27FC236}">
                <a16:creationId xmlns:a16="http://schemas.microsoft.com/office/drawing/2014/main" xmlns="" id="{D174B82F-C36C-458B-B683-D600E99F0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65175"/>
            <a:ext cx="8532813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 b="1">
                <a:latin typeface="Arial" panose="020B0604020202020204" pitchFamily="34" charset="0"/>
              </a:rPr>
              <a:t>Катастрофа на Чернобыльской АЭС в 1986 году </a:t>
            </a:r>
            <a:r>
              <a:rPr lang="ru-RU" altLang="ru-RU" sz="1800">
                <a:latin typeface="Arial" panose="020B0604020202020204" pitchFamily="34" charset="0"/>
              </a:rPr>
              <a:t>привела к</a:t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>необходимости срочно создать </a:t>
            </a:r>
            <a:r>
              <a:rPr lang="ru-RU" altLang="ru-RU" sz="1800" b="1">
                <a:latin typeface="Arial" panose="020B0604020202020204" pitchFamily="34" charset="0"/>
              </a:rPr>
              <a:t>специальных роботов</a:t>
            </a:r>
            <a:r>
              <a:rPr lang="ru-RU" altLang="ru-RU" sz="1800">
                <a:latin typeface="Arial" panose="020B0604020202020204" pitchFamily="34" charset="0"/>
              </a:rPr>
              <a:t> для применения в</a:t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> опасных для людей жестких радиационных условиях.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 В кратчайшие сроки в МВТУ им. Н.Э. Баумана были разработаны мобильные</a:t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>робототехнические комплексы (МРК).  Всего за три месяца в 1986 году был</a:t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>создан </a:t>
            </a:r>
            <a:r>
              <a:rPr lang="ru-RU" altLang="ru-RU" sz="1800" b="1">
                <a:latin typeface="Arial" panose="020B0604020202020204" pitchFamily="34" charset="0"/>
              </a:rPr>
              <a:t>«Мобот-Ч-ХВ»,</a:t>
            </a:r>
            <a:r>
              <a:rPr lang="ru-RU" altLang="ru-RU" sz="1800">
                <a:latin typeface="Arial" panose="020B0604020202020204" pitchFamily="34" charset="0"/>
              </a:rPr>
              <a:t> а после </a:t>
            </a:r>
            <a:r>
              <a:rPr lang="ru-RU" altLang="ru-RU" sz="1800" b="1">
                <a:latin typeface="Arial" panose="020B0604020202020204" pitchFamily="34" charset="0"/>
              </a:rPr>
              <a:t>«Мобот-Ч-ХВ2».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 Они смогли успешно</a:t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>действовать в тех условиях, где импортные модели, такие как японские</a:t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>«Komatsu» и немецкие MF-2 и MF-3, оказались непригодны для работы.</a:t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>Кроме того, для ликвидации последствий аварии на Чернобыльской АЭС</a:t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>был разработан </a:t>
            </a:r>
            <a:r>
              <a:rPr lang="ru-RU" altLang="ru-RU" sz="1800" b="1">
                <a:latin typeface="Arial" panose="020B0604020202020204" pitchFamily="34" charset="0"/>
              </a:rPr>
              <a:t>роботизированный комплекс «Клин-1»</a:t>
            </a:r>
            <a:r>
              <a:rPr lang="ru-RU" altLang="ru-RU" sz="1800">
                <a:latin typeface="Arial" panose="020B0604020202020204" pitchFamily="34" charset="0"/>
              </a:rPr>
              <a:t> с дистанционно-</a:t>
            </a:r>
            <a:br>
              <a:rPr lang="ru-RU" altLang="ru-RU" sz="1800">
                <a:latin typeface="Arial" panose="020B0604020202020204" pitchFamily="34" charset="0"/>
              </a:rPr>
            </a:br>
            <a:r>
              <a:rPr lang="ru-RU" altLang="ru-RU" sz="1800">
                <a:latin typeface="Arial" panose="020B0604020202020204" pitchFamily="34" charset="0"/>
              </a:rPr>
              <a:t>управляемой машиной для утилизации погибшего от радиации леса</a:t>
            </a:r>
            <a:br>
              <a:rPr lang="ru-RU" altLang="ru-RU" sz="1800">
                <a:latin typeface="Arial" panose="020B0604020202020204" pitchFamily="34" charset="0"/>
              </a:rPr>
            </a:b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24578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346" y="6184446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Содержимое 2">
            <a:extLst>
              <a:ext uri="{FF2B5EF4-FFF2-40B4-BE49-F238E27FC236}">
                <a16:creationId xmlns:a16="http://schemas.microsoft.com/office/drawing/2014/main" xmlns="" id="{C79A355A-F98A-42BB-9436-F5D038383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203" y="1499129"/>
            <a:ext cx="8026460" cy="4897351"/>
          </a:xfrm>
        </p:spPr>
        <p:txBody>
          <a:bodyPr/>
          <a:lstStyle/>
          <a:p>
            <a:pPr eaLnBrk="1" hangingPunct="1"/>
            <a:r>
              <a:rPr lang="ru-RU" altLang="ru-RU" sz="2400">
                <a:latin typeface="Arial" panose="020B0604020202020204" pitchFamily="34" charset="0"/>
              </a:rPr>
              <a:t> </a:t>
            </a:r>
            <a:r>
              <a:rPr lang="ru-RU" altLang="ru-RU" sz="2400" b="1">
                <a:latin typeface="Arial" panose="020B0604020202020204" pitchFamily="34" charset="0"/>
              </a:rPr>
              <a:t>единственно развитая в России отрасль</a:t>
            </a:r>
            <a:r>
              <a:rPr lang="ru-RU" altLang="ru-RU" sz="2400">
                <a:latin typeface="Arial" panose="020B0604020202020204" pitchFamily="34" charset="0"/>
              </a:rPr>
              <a:t> </a:t>
            </a:r>
            <a:r>
              <a:rPr lang="ru-RU" altLang="ru-RU" sz="2400" b="1">
                <a:latin typeface="Arial" panose="020B0604020202020204" pitchFamily="34" charset="0"/>
              </a:rPr>
              <a:t>робототехники</a:t>
            </a:r>
            <a:r>
              <a:rPr lang="ru-RU" altLang="ru-RU" sz="2400">
                <a:latin typeface="Arial" panose="020B0604020202020204" pitchFamily="34" charset="0"/>
              </a:rPr>
              <a:t> </a:t>
            </a:r>
            <a:r>
              <a:rPr lang="ru-RU" altLang="ru-RU" sz="2400" b="1">
                <a:latin typeface="Arial" panose="020B0604020202020204" pitchFamily="34" charset="0"/>
              </a:rPr>
              <a:t>— военная</a:t>
            </a:r>
            <a:r>
              <a:rPr lang="ru-RU" altLang="ru-RU" sz="2400">
                <a:latin typeface="Arial" panose="020B0604020202020204" pitchFamily="34" charset="0"/>
              </a:rPr>
              <a:t>, имеет колоссальные перспективы развития. Несмотря на заметное отставание и в этой области, боевые и специальные роботы российских ученых пока получают признание на международных выставках вооружения и получают специальные премии.</a:t>
            </a:r>
          </a:p>
        </p:txBody>
      </p:sp>
      <p:pic>
        <p:nvPicPr>
          <p:cNvPr id="25602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805264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xmlns="" id="{0260F680-ADB3-4A76-9145-E98230872DD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68313" y="188913"/>
            <a:ext cx="8229600" cy="5588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ru-RU" sz="2500" dirty="0">
                <a:effectLst/>
                <a:hlinkClick r:id="rId2" action="ppaction://hlinksldjump"/>
              </a:rPr>
              <a:t>Беспилотные летательные аппараты (БПЛА)</a:t>
            </a:r>
            <a:endParaRPr lang="ru-RU" sz="2500" dirty="0">
              <a:effectLst/>
            </a:endParaRP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xmlns="" id="{4FCC41D0-FE5D-4CE6-9A31-1F101D5E3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445125"/>
            <a:ext cx="4968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32 страны мира производят около 250 типов беспилотных самолетов и вертолетов </a:t>
            </a:r>
          </a:p>
        </p:txBody>
      </p:sp>
      <p:pic>
        <p:nvPicPr>
          <p:cNvPr id="40964" name="Picture 4" descr="Боевой RQ7">
            <a:extLst>
              <a:ext uri="{FF2B5EF4-FFF2-40B4-BE49-F238E27FC236}">
                <a16:creationId xmlns:a16="http://schemas.microsoft.com/office/drawing/2014/main" xmlns="" id="{EBEA92EE-813B-4C06-AE63-B7E83074E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636838"/>
            <a:ext cx="2016125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 descr="Боевой X47B">
            <a:extLst>
              <a:ext uri="{FF2B5EF4-FFF2-40B4-BE49-F238E27FC236}">
                <a16:creationId xmlns:a16="http://schemas.microsoft.com/office/drawing/2014/main" xmlns="" id="{92EAEE1F-5FCF-4213-A327-A8C0B9E98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908050"/>
            <a:ext cx="1671638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6" descr="Боевой GlobalHawk">
            <a:extLst>
              <a:ext uri="{FF2B5EF4-FFF2-40B4-BE49-F238E27FC236}">
                <a16:creationId xmlns:a16="http://schemas.microsoft.com/office/drawing/2014/main" xmlns="" id="{E8CA400C-3C7A-42E2-9CEF-2F06466A6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908050"/>
            <a:ext cx="1743075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7" name="Text Box 7">
            <a:extLst>
              <a:ext uri="{FF2B5EF4-FFF2-40B4-BE49-F238E27FC236}">
                <a16:creationId xmlns:a16="http://schemas.microsoft.com/office/drawing/2014/main" xmlns="" id="{FC61A581-7069-4C24-80EA-EED763B23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292600"/>
            <a:ext cx="215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RQ-7 Shadow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40968" name="Text Box 8">
            <a:extLst>
              <a:ext uri="{FF2B5EF4-FFF2-40B4-BE49-F238E27FC236}">
                <a16:creationId xmlns:a16="http://schemas.microsoft.com/office/drawing/2014/main" xmlns="" id="{25D75C50-EE8A-4E7F-B8BE-05D0510EA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2276475"/>
            <a:ext cx="2124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RQ-4 Global Hawk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40969" name="Text Box 9">
            <a:extLst>
              <a:ext uri="{FF2B5EF4-FFF2-40B4-BE49-F238E27FC236}">
                <a16:creationId xmlns:a16="http://schemas.microsoft.com/office/drawing/2014/main" xmlns="" id="{96EEDB69-3E5E-4ECA-A8C6-E08994AA1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2205038"/>
            <a:ext cx="1511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X47B</a:t>
            </a:r>
            <a:r>
              <a:rPr lang="ru-RU" altLang="ru-RU" sz="1800">
                <a:latin typeface="Arial" panose="020B0604020202020204" pitchFamily="34" charset="0"/>
              </a:rPr>
              <a:t> </a:t>
            </a:r>
            <a:r>
              <a:rPr lang="en-US" altLang="ru-RU" sz="1800">
                <a:latin typeface="Arial" panose="020B0604020202020204" pitchFamily="34" charset="0"/>
              </a:rPr>
              <a:t>UCAS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40970" name="Picture 10" descr="Боевой Hammingbird">
            <a:extLst>
              <a:ext uri="{FF2B5EF4-FFF2-40B4-BE49-F238E27FC236}">
                <a16:creationId xmlns:a16="http://schemas.microsoft.com/office/drawing/2014/main" xmlns="" id="{CAE007B6-7957-4B38-A587-89733908A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4868863"/>
            <a:ext cx="2160587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1" name="Text Box 11">
            <a:extLst>
              <a:ext uri="{FF2B5EF4-FFF2-40B4-BE49-F238E27FC236}">
                <a16:creationId xmlns:a16="http://schemas.microsoft.com/office/drawing/2014/main" xmlns="" id="{EF15D598-2B90-46DE-A3FB-28354AC10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6491288"/>
            <a:ext cx="295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A160T Hummingbird </a:t>
            </a:r>
          </a:p>
        </p:txBody>
      </p:sp>
      <p:sp>
        <p:nvSpPr>
          <p:cNvPr id="40972" name="Text Box 12">
            <a:extLst>
              <a:ext uri="{FF2B5EF4-FFF2-40B4-BE49-F238E27FC236}">
                <a16:creationId xmlns:a16="http://schemas.microsoft.com/office/drawing/2014/main" xmlns="" id="{0B50BDB1-2CAC-4FA4-B6C0-5EBE51B8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36613"/>
            <a:ext cx="4897438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Беспилотники ВВС и армии США: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        2000 г. – 50 единиц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       2010 г. – 6800 единиц (136 раз)</a:t>
            </a:r>
          </a:p>
        </p:txBody>
      </p:sp>
      <p:pic>
        <p:nvPicPr>
          <p:cNvPr id="40973" name="Picture 13" descr="Боевой RAVEN">
            <a:extLst>
              <a:ext uri="{FF2B5EF4-FFF2-40B4-BE49-F238E27FC236}">
                <a16:creationId xmlns:a16="http://schemas.microsoft.com/office/drawing/2014/main" xmlns="" id="{31145FC7-D754-4979-B551-C7E0E490D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2708275"/>
            <a:ext cx="1906588" cy="143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Text Box 14">
            <a:extLst>
              <a:ext uri="{FF2B5EF4-FFF2-40B4-BE49-F238E27FC236}">
                <a16:creationId xmlns:a16="http://schemas.microsoft.com/office/drawing/2014/main" xmlns="" id="{63DC62B9-52E4-4CA1-9AD3-8DB63AEC4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4221163"/>
            <a:ext cx="165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RQ-11 Raven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40975" name="Text Box 15">
            <a:extLst>
              <a:ext uri="{FF2B5EF4-FFF2-40B4-BE49-F238E27FC236}">
                <a16:creationId xmlns:a16="http://schemas.microsoft.com/office/drawing/2014/main" xmlns="" id="{AF4AA482-B97A-495A-8C3C-845F42F98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060575"/>
            <a:ext cx="4608513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В 2010 г. командование ВВС США впервые в своей истории намерено приобрести больше беспилотных аппаратов, нежели пилотируемых самолетов. К 2035 все вертолеты станут беспилотными.</a:t>
            </a:r>
          </a:p>
        </p:txBody>
      </p:sp>
      <p:sp>
        <p:nvSpPr>
          <p:cNvPr id="40976" name="Text Box 16">
            <a:extLst>
              <a:ext uri="{FF2B5EF4-FFF2-40B4-BE49-F238E27FC236}">
                <a16:creationId xmlns:a16="http://schemas.microsoft.com/office/drawing/2014/main" xmlns="" id="{ADDFA1CA-531C-400F-82FF-F281C3195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789363"/>
            <a:ext cx="4105275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Рынок </a:t>
            </a:r>
            <a:r>
              <a:rPr lang="ru-RU" altLang="ru-RU" sz="1800" dirty="0" err="1">
                <a:latin typeface="Arial" panose="020B0604020202020204" pitchFamily="34" charset="0"/>
              </a:rPr>
              <a:t>беспилотников</a:t>
            </a:r>
            <a:r>
              <a:rPr lang="ru-RU" altLang="ru-RU" sz="1800" dirty="0">
                <a:latin typeface="Arial" panose="020B0604020202020204" pitchFamily="34" charset="0"/>
              </a:rPr>
              <a:t>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2010 г. – 4.4 млрд. </a:t>
            </a:r>
            <a:r>
              <a:rPr lang="en-US" altLang="ru-RU" sz="1800" dirty="0">
                <a:latin typeface="Arial" panose="020B0604020202020204" pitchFamily="34" charset="0"/>
              </a:rPr>
              <a:t>$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Arial" panose="020B0604020202020204" pitchFamily="34" charset="0"/>
              </a:rPr>
              <a:t>2020 </a:t>
            </a:r>
            <a:r>
              <a:rPr lang="ru-RU" altLang="ru-RU" sz="1800" dirty="0">
                <a:latin typeface="Arial" panose="020B0604020202020204" pitchFamily="34" charset="0"/>
              </a:rPr>
              <a:t>г. – 8.7 млрд. </a:t>
            </a:r>
            <a:r>
              <a:rPr lang="en-US" altLang="ru-RU" sz="1800" dirty="0">
                <a:latin typeface="Arial" panose="020B0604020202020204" pitchFamily="34" charset="0"/>
              </a:rPr>
              <a:t>$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Доля США – 72% всего рынка</a:t>
            </a:r>
          </a:p>
        </p:txBody>
      </p:sp>
      <p:pic>
        <p:nvPicPr>
          <p:cNvPr id="26626" name="Picture 2">
            <a:hlinkClick r:id="rId8" action="ppaction://hlinksldjump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01" y="6244999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4D2D972-2A9C-D645-99F7-C4AC917DB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241DCE2-B3F5-E04D-9454-55D53146F68C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8">
            <a:extLst>
              <a:ext uri="{FF2B5EF4-FFF2-40B4-BE49-F238E27FC236}">
                <a16:creationId xmlns:a16="http://schemas.microsoft.com/office/drawing/2014/main" xmlns="" id="{B7417D03-B227-6C49-A8DB-426841C73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8398" cy="6858000"/>
          </a:xfrm>
          <a:prstGeom prst="rect">
            <a:avLst/>
          </a:prstGeom>
        </p:spPr>
      </p:pic>
      <p:pic>
        <p:nvPicPr>
          <p:cNvPr id="29698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4725144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5755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56858AA-A880-3344-B5F4-0464EDC57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25" y="229654"/>
            <a:ext cx="8229600" cy="170458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Перспективные направления</a:t>
            </a:r>
            <a:r>
              <a:rPr lang="ru-RU" sz="3600" dirty="0">
                <a:solidFill>
                  <a:schemeClr val="tx1"/>
                </a:solidFill>
                <a:hlinkClick r:id="rId2" action="ppaction://hlinksldjump"/>
              </a:rPr>
              <a:t> </a:t>
            </a:r>
            <a:br>
              <a:rPr lang="ru-RU" sz="3600" dirty="0">
                <a:solidFill>
                  <a:schemeClr val="tx1"/>
                </a:solidFill>
                <a:hlinkClick r:id="rId2" action="ppaction://hlinksldjump"/>
              </a:rPr>
            </a:br>
            <a:r>
              <a:rPr lang="ru-RU" sz="3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Атлас новых профессий</a:t>
            </a:r>
            <a:endParaRPr lang="ru-RU" sz="3600" dirty="0">
              <a:solidFill>
                <a:schemeClr val="tx1"/>
              </a:solidFill>
            </a:endParaRPr>
          </a:p>
        </p:txBody>
      </p:sp>
      <p:pic>
        <p:nvPicPr>
          <p:cNvPr id="10" name="Рисунок 10">
            <a:extLst>
              <a:ext uri="{FF2B5EF4-FFF2-40B4-BE49-F238E27FC236}">
                <a16:creationId xmlns:a16="http://schemas.microsoft.com/office/drawing/2014/main" xmlns="" id="{CC718137-4201-8945-8438-65ACF056E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99976"/>
            <a:ext cx="9130214" cy="4258023"/>
          </a:xfrm>
          <a:prstGeom prst="rect">
            <a:avLst/>
          </a:prstGeom>
        </p:spPr>
      </p:pic>
      <p:pic>
        <p:nvPicPr>
          <p:cNvPr id="30722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6093296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5067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10">
            <a:extLst>
              <a:ext uri="{FF2B5EF4-FFF2-40B4-BE49-F238E27FC236}">
                <a16:creationId xmlns:a16="http://schemas.microsoft.com/office/drawing/2014/main" xmlns="" id="{70365015-F430-9044-AC53-90D474D6A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1309"/>
            <a:ext cx="9144000" cy="47366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BBE49F4-7EB5-FE47-8E71-58DA70E84551}"/>
              </a:ext>
            </a:extLst>
          </p:cNvPr>
          <p:cNvSpPr txBox="1"/>
          <p:nvPr/>
        </p:nvSpPr>
        <p:spPr>
          <a:xfrm>
            <a:off x="701724" y="555449"/>
            <a:ext cx="8222762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Перспективные направления</a:t>
            </a:r>
            <a:r>
              <a:rPr lang="ru-RU" dirty="0">
                <a:hlinkClick r:id="rId3" action="ppaction://hlinksldjump"/>
              </a:rPr>
              <a:t> </a:t>
            </a:r>
          </a:p>
          <a:p>
            <a:pPr algn="ctr"/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Атлас новых профессий </a:t>
            </a:r>
            <a:endParaRPr lang="ru-RU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746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341" y="6043612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6134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6">
            <a:extLst>
              <a:ext uri="{FF2B5EF4-FFF2-40B4-BE49-F238E27FC236}">
                <a16:creationId xmlns:a16="http://schemas.microsoft.com/office/drawing/2014/main" xmlns="" id="{605E6108-FC06-A444-B953-B41CF77AD265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8398" cy="6858000"/>
          </a:xfrm>
        </p:spPr>
      </p:pic>
      <p:pic>
        <p:nvPicPr>
          <p:cNvPr id="32770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6043612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6790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6">
            <a:extLst>
              <a:ext uri="{FF2B5EF4-FFF2-40B4-BE49-F238E27FC236}">
                <a16:creationId xmlns:a16="http://schemas.microsoft.com/office/drawing/2014/main" xmlns="" id="{8A766EBB-C055-C840-88D5-F24BDBCB6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28236" cy="6858000"/>
          </a:xfrm>
          <a:prstGeom prst="rect">
            <a:avLst/>
          </a:prstGeom>
        </p:spPr>
      </p:pic>
      <p:pic>
        <p:nvPicPr>
          <p:cNvPr id="33794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6093296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05485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7">
            <a:extLst>
              <a:ext uri="{FF2B5EF4-FFF2-40B4-BE49-F238E27FC236}">
                <a16:creationId xmlns:a16="http://schemas.microsoft.com/office/drawing/2014/main" xmlns="" id="{FBF19805-FC03-1E47-9C8E-8E49BC09A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98" y="0"/>
            <a:ext cx="9148398" cy="6858000"/>
          </a:xfrm>
          <a:prstGeom prst="rect">
            <a:avLst/>
          </a:prstGeom>
        </p:spPr>
      </p:pic>
      <p:pic>
        <p:nvPicPr>
          <p:cNvPr id="34818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021288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4625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6">
            <a:extLst>
              <a:ext uri="{FF2B5EF4-FFF2-40B4-BE49-F238E27FC236}">
                <a16:creationId xmlns:a16="http://schemas.microsoft.com/office/drawing/2014/main" xmlns="" id="{3B7A2C82-0E89-0E4C-A463-90D857E44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8398" cy="6858000"/>
          </a:xfrm>
          <a:prstGeom prst="rect">
            <a:avLst/>
          </a:prstGeom>
        </p:spPr>
      </p:pic>
      <p:pic>
        <p:nvPicPr>
          <p:cNvPr id="35842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6021288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26081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xmlns="" id="{679F921C-1452-438B-B5A3-F984CA269B3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404664"/>
            <a:ext cx="8229600" cy="5602436"/>
          </a:xfrm>
        </p:spPr>
        <p:txBody>
          <a:bodyPr/>
          <a:lstStyle/>
          <a:p>
            <a:endParaRPr lang="ru-RU" altLang="ru-RU" sz="2400" dirty="0">
              <a:latin typeface="Arial" panose="020B0604020202020204" pitchFamily="34" charset="0"/>
            </a:endParaRPr>
          </a:p>
          <a:p>
            <a:pPr algn="ctr"/>
            <a:r>
              <a:rPr lang="ru-RU" altLang="ru-RU" sz="2800" dirty="0">
                <a:latin typeface="Arial" panose="020B0604020202020204" pitchFamily="34" charset="0"/>
                <a:hlinkClick r:id="rId2" action="ppaction://hlinksldjump"/>
              </a:rPr>
              <a:t>Тенденции развития</a:t>
            </a:r>
            <a:endParaRPr lang="ru-RU" altLang="ru-RU" sz="2800" dirty="0">
              <a:latin typeface="Arial" panose="020B0604020202020204" pitchFamily="34" charset="0"/>
            </a:endParaRPr>
          </a:p>
          <a:p>
            <a:r>
              <a:rPr lang="ru-RU" altLang="ru-RU" sz="2400" dirty="0">
                <a:latin typeface="Arial" panose="020B0604020202020204" pitchFamily="34" charset="0"/>
              </a:rPr>
              <a:t>В ближайшее десятилетие следует ожидать широкое распространение бытовых роботов. </a:t>
            </a:r>
          </a:p>
          <a:p>
            <a:r>
              <a:rPr lang="ru-RU" altLang="ru-RU" sz="2400" dirty="0">
                <a:latin typeface="Arial" panose="020B0604020202020204" pitchFamily="34" charset="0"/>
              </a:rPr>
              <a:t>К 2025 году японский рынок роботов достигнет годового объема в 8 трлн. иен ($70 млрд.) </a:t>
            </a:r>
          </a:p>
          <a:p>
            <a:r>
              <a:rPr lang="ru-RU" altLang="ru-RU" sz="2400" dirty="0">
                <a:latin typeface="Arial" panose="020B0604020202020204" pitchFamily="34" charset="0"/>
              </a:rPr>
              <a:t>Власти Южной Кореи поставили перед собой амбициозную цель: к 2020 году роботы должны быть в каждом доме. На сегодняшний день самыми известными корейскими человекоподобными машинами являются </a:t>
            </a:r>
            <a:r>
              <a:rPr lang="ru-RU" altLang="ru-RU" sz="2400" dirty="0" err="1">
                <a:latin typeface="Arial" panose="020B0604020202020204" pitchFamily="34" charset="0"/>
              </a:rPr>
              <a:t>андроид</a:t>
            </a:r>
            <a:r>
              <a:rPr lang="ru-RU" altLang="ru-RU" sz="2400" dirty="0">
                <a:latin typeface="Arial" panose="020B0604020202020204" pitchFamily="34" charset="0"/>
              </a:rPr>
              <a:t> HUBO и девушка-робот </a:t>
            </a:r>
            <a:r>
              <a:rPr lang="ru-RU" altLang="ru-RU" sz="2400" dirty="0" err="1">
                <a:latin typeface="Arial" panose="020B0604020202020204" pitchFamily="34" charset="0"/>
              </a:rPr>
              <a:t>EveR</a:t>
            </a:r>
            <a:r>
              <a:rPr lang="ru-RU" altLang="ru-RU" sz="2400" dirty="0"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44035" name="Picture 10" descr="Японские роботы ">
            <a:extLst>
              <a:ext uri="{FF2B5EF4-FFF2-40B4-BE49-F238E27FC236}">
                <a16:creationId xmlns:a16="http://schemas.microsoft.com/office/drawing/2014/main" xmlns="" id="{C55A20A7-6938-4B42-94D0-228F87626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5013325"/>
            <a:ext cx="2100262" cy="157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6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206" y="6112102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xmlns="" id="{F0A86712-4842-4E14-A494-23275F0B7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138"/>
            <a:ext cx="8435975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sz="2400">
                <a:latin typeface="Arial" panose="020B0604020202020204" pitchFamily="34" charset="0"/>
              </a:rPr>
              <a:t>Представители службы национальной разведки США полагают, что к 2025 г. злоумышленники будут активно применять роботов — к тому времени на рынке появится множество недорогих наземных и воздушных автономных устройств.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>
                <a:latin typeface="Arial" panose="020B0604020202020204" pitchFamily="34" charset="0"/>
              </a:rPr>
              <a:t>В случае нарастания напряженности в мире полностью </a:t>
            </a:r>
            <a:r>
              <a:rPr lang="ru-RU" altLang="ru-RU" sz="2400" b="1">
                <a:latin typeface="Arial" panose="020B0604020202020204" pitchFamily="34" charset="0"/>
              </a:rPr>
              <a:t>автономные боевые системы</a:t>
            </a:r>
            <a:r>
              <a:rPr lang="ru-RU" altLang="ru-RU" sz="2400">
                <a:latin typeface="Arial" panose="020B0604020202020204" pitchFamily="34" charset="0"/>
              </a:rPr>
              <a:t> могут быть созданы уже в ближайшие 30-40 лет (а может быть и раньше…). 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400">
                <a:latin typeface="Arial" panose="020B0604020202020204" pitchFamily="34" charset="0"/>
              </a:rPr>
              <a:t>Существует потенциальная опасность утраты человеком контроля над применением средств поражения в результате принятия на вооружение полностью автономных боевых систем. Последнее, кстати, рассматривается Пентагоном в качестве одного из приоритетов.</a:t>
            </a:r>
          </a:p>
          <a:p>
            <a:pPr eaLnBrk="1" hangingPunct="1">
              <a:lnSpc>
                <a:spcPct val="80000"/>
              </a:lnSpc>
            </a:pPr>
            <a:endParaRPr lang="ru-RU" altLang="ru-RU" sz="2400"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6AFEF3DC-44A7-4C7E-A30E-682C57E14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262" y="266700"/>
            <a:ext cx="8229601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dirty="0">
                <a:hlinkClick r:id="rId2" action="ppaction://hlinksldjump"/>
              </a:rPr>
              <a:t>Тенденции развития</a:t>
            </a:r>
            <a:endParaRPr lang="ru-RU" sz="3200" dirty="0"/>
          </a:p>
        </p:txBody>
      </p:sp>
      <p:pic>
        <p:nvPicPr>
          <p:cNvPr id="37890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5949280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xmlns="" id="{EF442B6B-2FCD-4F0B-8B5A-16DE842159F6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ru-RU" dirty="0">
                <a:effectLst/>
                <a:hlinkClick r:id="rId2" action="ppaction://hlinksldjump"/>
              </a:rPr>
              <a:t>Развитие</a:t>
            </a:r>
            <a:r>
              <a:rPr lang="ru-RU" dirty="0">
                <a:effectLst/>
              </a:rPr>
              <a:t> 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xmlns="" id="{72AF1AA3-9FDD-4414-ABC9-E0A6115F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825" y="1484313"/>
            <a:ext cx="8642350" cy="4525962"/>
          </a:xfrm>
        </p:spPr>
        <p:txBody>
          <a:bodyPr/>
          <a:lstStyle/>
          <a:p>
            <a:r>
              <a:rPr lang="ru-RU" alt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В настоящее время космическая робототехника в России</a:t>
            </a:r>
            <a:br>
              <a:rPr lang="ru-RU" altLang="ru-RU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переживает не самый лучший период, поскольку существуют более актуальные научные и прикладные задачи в области космонавтики.</a:t>
            </a:r>
          </a:p>
          <a:p>
            <a:r>
              <a:rPr lang="ru-RU" alt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За последние 20 лет в России были запущены лишь две межпланетные</a:t>
            </a:r>
            <a:br>
              <a:rPr lang="ru-RU" altLang="ru-RU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2300" dirty="0">
                <a:latin typeface="Arial" panose="020B0604020202020204" pitchFamily="34" charset="0"/>
                <a:cs typeface="Arial" panose="020B0604020202020204" pitchFamily="34" charset="0"/>
              </a:rPr>
              <a:t>автоматические станции: «Марс-96» и «Фобос-Грунт». Обе потерпели  неудачу с интервалом в 15 лет (в 1996 и 2011 годах). </a:t>
            </a:r>
            <a:r>
              <a:rPr lang="ru-RU" altLang="ru-RU" sz="2300" dirty="0"/>
              <a:t/>
            </a:r>
            <a:br>
              <a:rPr lang="ru-RU" altLang="ru-RU" sz="2300" dirty="0"/>
            </a:br>
            <a:endParaRPr lang="ru-RU" altLang="ru-RU" sz="2300" dirty="0"/>
          </a:p>
        </p:txBody>
      </p:sp>
      <p:pic>
        <p:nvPicPr>
          <p:cNvPr id="38914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6068537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xmlns="" id="{B8AEF3DF-F09B-4EFD-97A6-9FEE2E3203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00063" y="1785938"/>
            <a:ext cx="8218487" cy="19097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>
                <a:latin typeface="Arial" panose="020B0604020202020204" pitchFamily="34" charset="0"/>
              </a:rPr>
              <a:t>     Сегодня мы живем в стремительно изменяющемся мире, неотъемлемой частью которого будут роботы, обладающие искусственным интеллектом.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ru-RU" sz="2400">
                <a:latin typeface="Arial" panose="020B0604020202020204" pitchFamily="34" charset="0"/>
              </a:rPr>
              <a:t>      Мы не можем остановить эти изменения, но в наших силах направить их для улучшения жизни человека.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F5D63B0-E3E1-F04B-B9EA-54DDD9B1CF8F}"/>
              </a:ext>
            </a:extLst>
          </p:cNvPr>
          <p:cNvSpPr txBox="1"/>
          <p:nvPr/>
        </p:nvSpPr>
        <p:spPr>
          <a:xfrm>
            <a:off x="3657600" y="583510"/>
            <a:ext cx="182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Итог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938" name="Picture 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5877272"/>
            <a:ext cx="10302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>
            <a:extLst>
              <a:ext uri="{FF2B5EF4-FFF2-40B4-BE49-F238E27FC236}">
                <a16:creationId xmlns:a16="http://schemas.microsoft.com/office/drawing/2014/main" xmlns="" id="{E20AA441-92A9-4292-875F-2F05F8EAEDC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27088" y="2565400"/>
            <a:ext cx="7077075" cy="2176463"/>
          </a:xfrm>
        </p:spPr>
        <p:txBody>
          <a:bodyPr/>
          <a:lstStyle/>
          <a:p>
            <a:pPr algn="ctr">
              <a:buFont typeface="Wingdings 3" panose="05040102010807070707" pitchFamily="18" charset="2"/>
              <a:buNone/>
            </a:pPr>
            <a:r>
              <a:rPr lang="ru-RU" altLang="ru-RU" sz="2800" b="1">
                <a:latin typeface="Arial" panose="020B0604020202020204" pitchFamily="34" charset="0"/>
              </a:rPr>
              <a:t>СПАСИБО </a:t>
            </a:r>
          </a:p>
          <a:p>
            <a:pPr algn="ctr">
              <a:buFont typeface="Wingdings 3" panose="05040102010807070707" pitchFamily="18" charset="2"/>
              <a:buNone/>
            </a:pPr>
            <a:r>
              <a:rPr lang="ru-RU" altLang="ru-RU" sz="2800" b="1">
                <a:latin typeface="Arial" panose="020B0604020202020204" pitchFamily="34" charset="0"/>
              </a:rPr>
              <a:t>ЗА ВНИМАНИЕ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Техническая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.xml><?xml version="1.0" encoding="utf-8"?>
<a:themeOverride xmlns:a="http://schemas.openxmlformats.org/drawingml/2006/main">
  <a:clrScheme name="Техническая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.xml><?xml version="1.0" encoding="utf-8"?>
<a:themeOverride xmlns:a="http://schemas.openxmlformats.org/drawingml/2006/main">
  <a:clrScheme name="Техническая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4.xml><?xml version="1.0" encoding="utf-8"?>
<a:themeOverride xmlns:a="http://schemas.openxmlformats.org/drawingml/2006/main">
  <a:clrScheme name="Техническая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1010</TotalTime>
  <Words>1189</Words>
  <Application>Microsoft Office PowerPoint</Application>
  <PresentationFormat>Экран (4:3)</PresentationFormat>
  <Paragraphs>156</Paragraphs>
  <Slides>37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38" baseType="lpstr">
      <vt:lpstr>Открытая</vt:lpstr>
      <vt:lpstr>Перспективные направления развития робототехники </vt:lpstr>
      <vt:lpstr>   Содержание:  История создания робототехники Виды  и значение робототехники Развитие робототехники Перспективные развития робототехники Итог    </vt:lpstr>
      <vt:lpstr>Презентация PowerPoint</vt:lpstr>
      <vt:lpstr>Презентация PowerPoint</vt:lpstr>
      <vt:lpstr>Презентация PowerPoint</vt:lpstr>
      <vt:lpstr>Поколения роботов: </vt:lpstr>
      <vt:lpstr>Презентация PowerPoint</vt:lpstr>
      <vt:lpstr>Виды робототехники:</vt:lpstr>
      <vt:lpstr>Промышленная робототехника</vt:lpstr>
      <vt:lpstr>Промышленные роботы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Морские роботы</vt:lpstr>
      <vt:lpstr>Презентация PowerPoint</vt:lpstr>
      <vt:lpstr>Роботы для медицины - тренажеры для врачей</vt:lpstr>
      <vt:lpstr>Домашние роботы – PR2 (Willow Garage)</vt:lpstr>
      <vt:lpstr>Домашние роботы</vt:lpstr>
      <vt:lpstr>Военные роботы (Россия)</vt:lpstr>
      <vt:lpstr>Военные роботы США</vt:lpstr>
      <vt:lpstr>Презентация PowerPoint</vt:lpstr>
      <vt:lpstr>Презентация PowerPoint</vt:lpstr>
      <vt:lpstr>Презентация PowerPoint</vt:lpstr>
      <vt:lpstr>Беспилотные летательные аппараты (БПЛА)</vt:lpstr>
      <vt:lpstr>Презентация PowerPoint</vt:lpstr>
      <vt:lpstr>Перспективные направления  Атлас новых профессий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Тенденции развития</vt:lpstr>
      <vt:lpstr>Развитие 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Админ</dc:creator>
  <cp:lastModifiedBy>Владос савченко</cp:lastModifiedBy>
  <cp:revision>79</cp:revision>
  <dcterms:created xsi:type="dcterms:W3CDTF">2015-12-12T09:16:49Z</dcterms:created>
  <dcterms:modified xsi:type="dcterms:W3CDTF">2024-05-26T10:59:41Z</dcterms:modified>
</cp:coreProperties>
</file>