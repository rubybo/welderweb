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44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C79DB-3689-410C-9FB2-D461A4B4141A}" type="datetimeFigureOut">
              <a:rPr lang="ru-RU" smtClean="0"/>
              <a:t>03.08.2017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568A-8D06-455E-BC02-8591608BB2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7930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C79DB-3689-410C-9FB2-D461A4B4141A}" type="datetimeFigureOut">
              <a:rPr lang="ru-RU" smtClean="0"/>
              <a:t>03.08.2017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568A-8D06-455E-BC02-8591608BB2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3176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C79DB-3689-410C-9FB2-D461A4B4141A}" type="datetimeFigureOut">
              <a:rPr lang="ru-RU" smtClean="0"/>
              <a:t>03.08.2017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568A-8D06-455E-BC02-8591608BB2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3066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C79DB-3689-410C-9FB2-D461A4B4141A}" type="datetimeFigureOut">
              <a:rPr lang="ru-RU" smtClean="0"/>
              <a:t>03.08.2017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568A-8D06-455E-BC02-8591608BB2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1357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C79DB-3689-410C-9FB2-D461A4B4141A}" type="datetimeFigureOut">
              <a:rPr lang="ru-RU" smtClean="0"/>
              <a:t>03.08.2017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568A-8D06-455E-BC02-8591608BB2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018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C79DB-3689-410C-9FB2-D461A4B4141A}" type="datetimeFigureOut">
              <a:rPr lang="ru-RU" smtClean="0"/>
              <a:t>03.08.2017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568A-8D06-455E-BC02-8591608BB2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8625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C79DB-3689-410C-9FB2-D461A4B4141A}" type="datetimeFigureOut">
              <a:rPr lang="ru-RU" smtClean="0"/>
              <a:t>03.08.2017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568A-8D06-455E-BC02-8591608BB2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583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C79DB-3689-410C-9FB2-D461A4B4141A}" type="datetimeFigureOut">
              <a:rPr lang="ru-RU" smtClean="0"/>
              <a:t>03.08.2017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568A-8D06-455E-BC02-8591608BB2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106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C79DB-3689-410C-9FB2-D461A4B4141A}" type="datetimeFigureOut">
              <a:rPr lang="ru-RU" smtClean="0"/>
              <a:t>03.08.2017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568A-8D06-455E-BC02-8591608BB2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9371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C79DB-3689-410C-9FB2-D461A4B4141A}" type="datetimeFigureOut">
              <a:rPr lang="ru-RU" smtClean="0"/>
              <a:t>03.08.2017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568A-8D06-455E-BC02-8591608BB2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8699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C79DB-3689-410C-9FB2-D461A4B4141A}" type="datetimeFigureOut">
              <a:rPr lang="ru-RU" smtClean="0"/>
              <a:t>03.08.2017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568A-8D06-455E-BC02-8591608BB2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452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C79DB-3689-410C-9FB2-D461A4B4141A}" type="datetimeFigureOut">
              <a:rPr lang="ru-RU" smtClean="0"/>
              <a:t>03.08.2017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3568A-8D06-455E-BC02-8591608BB2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4863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KPoN2fVfFE" TargetMode="External"/><Relationship Id="rId2" Type="http://schemas.openxmlformats.org/officeDocument/2006/relationships/hyperlink" Target="https://www.youtube.com/watch?v=HJK7hbwLk34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57664" y="0"/>
            <a:ext cx="7772400" cy="1723366"/>
          </a:xfrm>
        </p:spPr>
        <p:txBody>
          <a:bodyPr>
            <a:normAutofit/>
          </a:bodyPr>
          <a:lstStyle/>
          <a:p>
            <a:r>
              <a:rPr lang="ru-RU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Техника механизированной сварки плавящимся электродом </a:t>
            </a:r>
            <a:br>
              <a:rPr lang="ru-RU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среде защитных газов</a:t>
            </a:r>
          </a:p>
        </p:txBody>
      </p:sp>
      <p:pic>
        <p:nvPicPr>
          <p:cNvPr id="2052" name="Picture 4" descr="Схема сварки полуавтоматом в газовой среде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921" y="1723366"/>
            <a:ext cx="6119446" cy="4904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9387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6946" y="463601"/>
            <a:ext cx="8736037" cy="549274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металла под сварку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6946" y="1448973"/>
            <a:ext cx="8693835" cy="4853353"/>
          </a:xfrm>
        </p:spPr>
        <p:txBody>
          <a:bodyPr>
            <a:normAutofit/>
          </a:bodyPr>
          <a:lstStyle/>
          <a:p>
            <a:pPr algn="just"/>
            <a:r>
              <a:rPr lang="ru-RU" dirty="0" smtClean="0"/>
              <a:t> </a:t>
            </a:r>
            <a:r>
              <a:rPr lang="ru-RU" dirty="0"/>
              <a:t>Чтобы в наплавленном металле не было пор, кромки сварных соединений необходимо зачищать от ржавчины, грязи, масла и влаги на ширину до 30мм по обе стороны от зазора. </a:t>
            </a:r>
            <a:endParaRPr lang="ru-RU" dirty="0" smtClean="0"/>
          </a:p>
          <a:p>
            <a:pPr algn="just"/>
            <a:r>
              <a:rPr lang="ru-RU" dirty="0" smtClean="0"/>
              <a:t>В </a:t>
            </a:r>
            <a:r>
              <a:rPr lang="ru-RU" dirty="0"/>
              <a:t>зависимости от степени загрязнения зачищать кромки можно протиркой ветошью, зачисткой стальной щёткой, </a:t>
            </a:r>
            <a:r>
              <a:rPr lang="ru-RU" dirty="0" err="1"/>
              <a:t>опескоструиванием</a:t>
            </a:r>
            <a:r>
              <a:rPr lang="ru-RU" dirty="0"/>
              <a:t>, а также обезжириванием с последующим травлением. </a:t>
            </a:r>
            <a:endParaRPr lang="ru-RU" dirty="0" smtClean="0"/>
          </a:p>
          <a:p>
            <a:pPr algn="just"/>
            <a:r>
              <a:rPr lang="ru-RU" dirty="0" smtClean="0"/>
              <a:t>Следует </a:t>
            </a:r>
            <a:r>
              <a:rPr lang="ru-RU" dirty="0"/>
              <a:t>заметить, что окалина почти не влияет на качество сварного шва, поэтому детали после газовой резки могут свариваться сразу после зачистки шлака</a:t>
            </a:r>
            <a:r>
              <a:rPr lang="ru-RU" dirty="0" smtClean="0"/>
              <a:t>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6534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0251" y="154745"/>
            <a:ext cx="8743072" cy="6499273"/>
          </a:xfrm>
        </p:spPr>
        <p:txBody>
          <a:bodyPr>
            <a:normAutofit fontScale="92500"/>
          </a:bodyPr>
          <a:lstStyle/>
          <a:p>
            <a:pPr algn="just"/>
            <a:r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Металлы толщиной до 4 мм сваривают без разделки кромок. </a:t>
            </a:r>
          </a:p>
          <a:p>
            <a:pPr algn="just"/>
            <a:r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улучшения формирования шва при толщине металла &gt;2—3 мм сварку проводят на медной подкладке с формирующей канавкой или на остающейся подкладке из основного металла, либо на флюсовой подушке. 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сварки тонколистового металла используют проволоку диаметром 0,5—1,2 мм. 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Металл толщиной 4—12 мм обычно сваривают за два прохода с двух сторон без разделки, толщиной 15— 20 мм — за два-три прохода с углом разделки 60°. 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 толщине 20—30 мм применяют двустороннюю разделку кромок с углом 60° и притуплением 2—4 мм. 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Металлы большей толщины целесообразно сваривать при узкой щелевой разделке кромок за несколько проходов.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535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5084" y="225083"/>
            <a:ext cx="8707902" cy="631639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Листы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толщиной 0,6... 1,0 мм сваривают 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отбортовкой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кромок.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Допускается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также сварка без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отбортовки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но с зазором между кромками не более 0,3...0,5 мм.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Листы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толщиной 1,0...8,0 мм сваривают без разделки кромок; при этом зазор между свариваемыми кромками должен быть не более 1 мм.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Листы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толщиной 8... 12 мм сваривают V-образным швом, а при больших толщинах — Х-образным швом. Перед сваркой кромки изделия должны быть тщательно очищены от грязи, краски, окислов и окалины.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Сварочный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ток и скорость сварки в значительной степени зависят от размеров разделки свариваемого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шва, т. е. от количества наплавляемого металла. 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Напряжение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устанавливается таким, чтобы получить устойчивый процесс сварки при возможно короткой дуге (1,5...4,0 мм).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большей длине дуги процесс сварки неустойчивый, увеличивается разбрызгивание металла, возрастает возможность окисления и азотирования наплавляемого металла.</a:t>
            </a:r>
          </a:p>
        </p:txBody>
      </p:sp>
    </p:spTree>
    <p:extLst>
      <p:ext uri="{BB962C8B-B14F-4D97-AF65-F5344CB8AC3E}">
        <p14:creationId xmlns:p14="http://schemas.microsoft.com/office/powerpoint/2010/main" val="3898643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5962" y="224449"/>
            <a:ext cx="8806375" cy="1325563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Движение электрода во время сварки в углекислом газе при выполнении многослойного шва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3567576" y="1702191"/>
            <a:ext cx="5464761" cy="493776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рисунке показаны движения электрода во время сварки в углекислом газе при выполнении многослойного шва.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Рекомендуется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снижения опасности образования трещин первый слой сваривать при малом сварочном токе.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Заканчивать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шов следует заполнением кратера металлом.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Затем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прекращается подача электродной проволоки и выключается ток.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Подача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газа на заваренный кратер продолжается до полного затвердевания металла.</a:t>
            </a:r>
          </a:p>
        </p:txBody>
      </p:sp>
      <p:pic>
        <p:nvPicPr>
          <p:cNvPr id="1026" name="Picture 2" descr="http://www.vevivi.ru/best/images/servus/83/77/5517783.png"/>
          <p:cNvPicPr>
            <a:picLocks noChangeAspect="1" noChangeArrowheads="1"/>
          </p:cNvPicPr>
          <p:nvPr/>
        </p:nvPicPr>
        <p:blipFill>
          <a:blip r:embed="rId2">
            <a:lum contrast="4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62" y="2802037"/>
            <a:ext cx="3341614" cy="1869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576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276958" y="278178"/>
            <a:ext cx="8670094" cy="6389907"/>
          </a:xfrm>
        </p:spPr>
        <p:txBody>
          <a:bodyPr>
            <a:no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 основным параметрам режима дуговой сварки в защитных газах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относят: </a:t>
            </a:r>
          </a:p>
          <a:p>
            <a:pPr algn="just">
              <a:buFontTx/>
              <a:buChar char="-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диаметр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электродной проволоки и ее марку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just">
              <a:buFontTx/>
              <a:buChar char="-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силу сварочного тока, 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напряжение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дуги, 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подачи электродной проволоки, 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сварки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just">
              <a:buFontTx/>
              <a:buChar char="-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вылет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электрода, 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защитного газа и его расход, 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наклон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электрода вдоль оси шва, 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род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тока, а для постоянного тока - и его полярность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сварке в углекислом газе обратная полярность тока позволяет получать более высокое качество шва, чем сварка на прямой полярности.</a:t>
            </a:r>
          </a:p>
        </p:txBody>
      </p:sp>
    </p:spTree>
    <p:extLst>
      <p:ext uri="{BB962C8B-B14F-4D97-AF65-F5344CB8AC3E}">
        <p14:creationId xmlns:p14="http://schemas.microsoft.com/office/powerpoint/2010/main" val="3170190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4745" y="250042"/>
            <a:ext cx="8862646" cy="660795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П/автоматическая сварка в защитных газах может производиться во всех пространственных положениях шва, из которых наиболее удобным является нижнее.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Сварка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нижнем положении производится с наклоном горелки вперед или назад.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Предпочтительнее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вести сварку углом назад, так как при этом обеспечивается более надежная защита расплавленного металла и лучший внешний вид шва.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Горелку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рекомендуется наклонять на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5…20°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относительно вертикали.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сварке металла толщиной 1...2 мм поперечные колебания горелки не производят.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Сварку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ведут на максимально возможной длине дуги с максимальной скоростью сварки, при которой обеспечивается хорошее формирование сварного шва и удовлетворительная газовая защита.</a:t>
            </a:r>
          </a:p>
        </p:txBody>
      </p:sp>
      <p:pic>
        <p:nvPicPr>
          <p:cNvPr id="4098" name="Picture 2" descr="Влияние положения горелк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932" y="1491176"/>
            <a:ext cx="4297041" cy="2363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3972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Видео сюжеты</a:t>
            </a:r>
            <a:endParaRPr lang="ru-RU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62890" y="1690689"/>
            <a:ext cx="8782636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YouTube Noto"/>
                <a:hlinkClick r:id="rId2"/>
              </a:rPr>
              <a:t>Сварка полуавтоматом. Как настроить давление защитного газа и его расход</a:t>
            </a:r>
            <a:r>
              <a:rPr kumimoji="0" lang="ru-RU" altLang="ru-RU" sz="13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YouTube Noto"/>
                <a:hlinkClick r:id="rId2"/>
              </a:rPr>
              <a:t>.</a:t>
            </a:r>
            <a:endParaRPr kumimoji="0" lang="ru-RU" altLang="ru-RU" sz="1300" b="0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  <a:latin typeface="YouTube Noto"/>
            </a:endParaRPr>
          </a:p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300" b="0" i="0" u="none" strike="noStrike" cap="none" normalizeH="0" baseline="0" dirty="0" smtClean="0">
              <a:ln>
                <a:noFill/>
              </a:ln>
              <a:solidFill>
                <a:srgbClr val="EEEEEE"/>
              </a:solidFill>
              <a:effectLst/>
              <a:latin typeface="YouTube Noto"/>
            </a:endParaRPr>
          </a:p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300" dirty="0">
              <a:solidFill>
                <a:srgbClr val="EEEEEE"/>
              </a:solidFill>
              <a:latin typeface="YouTube No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800" b="0" i="0" u="none" strike="noStrike" cap="none" normalizeH="0" baseline="0" dirty="0" smtClean="0">
                <a:ln>
                  <a:noFill/>
                </a:ln>
                <a:solidFill>
                  <a:srgbClr val="EEEEEE"/>
                </a:solidFill>
                <a:effectLst/>
                <a:latin typeface="YouTube Noto"/>
              </a:rPr>
              <a:t/>
            </a:r>
            <a:br>
              <a:rPr kumimoji="0" lang="ru-RU" altLang="ru-RU" sz="800" b="0" i="0" u="none" strike="noStrike" cap="none" normalizeH="0" baseline="0" dirty="0" smtClean="0">
                <a:ln>
                  <a:noFill/>
                </a:ln>
                <a:solidFill>
                  <a:srgbClr val="EEEEEE"/>
                </a:solidFill>
                <a:effectLst/>
                <a:latin typeface="YouTube Noto"/>
              </a:rPr>
            </a:b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 rot="10800000" flipV="1">
            <a:off x="262890" y="2716463"/>
            <a:ext cx="8585688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YouTube Noto"/>
                <a:hlinkClick r:id="rId3"/>
              </a:rPr>
              <a:t>Сварка в среде газовой смеси аргона и углекислого газа</a:t>
            </a:r>
            <a:endParaRPr kumimoji="0" lang="ru-RU" altLang="ru-RU" sz="2400" b="0" i="0" u="none" strike="noStrike" cap="none" normalizeH="0" baseline="0" dirty="0" smtClean="0">
              <a:ln>
                <a:noFill/>
              </a:ln>
              <a:solidFill>
                <a:srgbClr val="EEEEEE"/>
              </a:solidFill>
              <a:effectLst/>
              <a:latin typeface="YouTube No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082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0677" y="196314"/>
            <a:ext cx="8862646" cy="1325563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Сварка МИГ/МАГ порошковой проволокой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3218" y="1670880"/>
            <a:ext cx="8750105" cy="3098067"/>
          </a:xfrm>
        </p:spPr>
        <p:txBody>
          <a:bodyPr/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Сварка порошковой проволокой может выполняться на том же оборудовании, что и сварка проволокой сплошного сечения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Сокращенное наименование этого процесса, принятое за рубежом - FCAW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Flux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Welding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3258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5084" y="221908"/>
            <a:ext cx="8721968" cy="6375840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Порошковая проволока представляет собой трубку из нелегированной стали, заполненную порошком (флюсом). </a:t>
            </a:r>
            <a:endParaRPr lang="ru-RU" dirty="0" smtClean="0"/>
          </a:p>
          <a:p>
            <a:pPr algn="just"/>
            <a:r>
              <a:rPr lang="ru-RU" dirty="0" smtClean="0"/>
              <a:t>Конструкция </a:t>
            </a:r>
            <a:r>
              <a:rPr lang="ru-RU" dirty="0"/>
              <a:t>некоторых типов порошковых проволок представлена </a:t>
            </a:r>
            <a:r>
              <a:rPr lang="ru-RU" dirty="0" smtClean="0"/>
              <a:t>ниже</a:t>
            </a:r>
            <a:r>
              <a:rPr lang="ru-RU" dirty="0"/>
              <a:t>:</a:t>
            </a:r>
          </a:p>
          <a:p>
            <a:pPr algn="just"/>
            <a:endParaRPr lang="ru-RU" dirty="0" smtClean="0"/>
          </a:p>
          <a:p>
            <a:pPr algn="just"/>
            <a:endParaRPr lang="ru-RU" dirty="0"/>
          </a:p>
          <a:p>
            <a:pPr algn="just"/>
            <a:endParaRPr lang="ru-RU" dirty="0" smtClean="0"/>
          </a:p>
          <a:p>
            <a:pPr algn="just"/>
            <a:r>
              <a:rPr lang="ru-RU" dirty="0"/>
              <a:t>Каждый тип порошковой проволоки имеет свой состав флюса. </a:t>
            </a:r>
            <a:endParaRPr lang="ru-RU" dirty="0" smtClean="0"/>
          </a:p>
          <a:p>
            <a:pPr algn="just"/>
            <a:r>
              <a:rPr lang="ru-RU" dirty="0" smtClean="0"/>
              <a:t>Через </a:t>
            </a:r>
            <a:r>
              <a:rPr lang="ru-RU" dirty="0"/>
              <a:t>флюс можно изменять характеристики дуги и переноса электродного металла, а также металлургические особенности формирование сварного шва. </a:t>
            </a:r>
            <a:endParaRPr lang="ru-RU" dirty="0" smtClean="0"/>
          </a:p>
        </p:txBody>
      </p:sp>
      <p:pic>
        <p:nvPicPr>
          <p:cNvPr id="5122" name="Picture 2" descr="Порошковая проволок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1833" y="2091274"/>
            <a:ext cx="3657601" cy="183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98322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</TotalTime>
  <Words>716</Words>
  <Application>Microsoft Office PowerPoint</Application>
  <PresentationFormat>Экран (4:3)</PresentationFormat>
  <Paragraphs>64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YouTube Noto</vt:lpstr>
      <vt:lpstr>Тема Office</vt:lpstr>
      <vt:lpstr>Техника механизированной сварки плавящимся электродом  в среде защитных газов</vt:lpstr>
      <vt:lpstr>Подготовка металла под сварку</vt:lpstr>
      <vt:lpstr>Презентация PowerPoint</vt:lpstr>
      <vt:lpstr>Презентация PowerPoint</vt:lpstr>
      <vt:lpstr>Движение электрода во время сварки в углекислом газе при выполнении многослойного шва</vt:lpstr>
      <vt:lpstr>Презентация PowerPoint</vt:lpstr>
      <vt:lpstr>Презентация PowerPoint</vt:lpstr>
      <vt:lpstr>Видео сюжеты</vt:lpstr>
      <vt:lpstr>Сварка МИГ/МАГ порошковой проволокой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Техника механизированной сварки плавящимся электродом  в среде защитных газов</dc:title>
  <dc:creator>LENOVO</dc:creator>
  <cp:lastModifiedBy>LENOVO</cp:lastModifiedBy>
  <cp:revision>11</cp:revision>
  <dcterms:created xsi:type="dcterms:W3CDTF">2017-06-14T13:18:53Z</dcterms:created>
  <dcterms:modified xsi:type="dcterms:W3CDTF">2017-08-03T16:33:13Z</dcterms:modified>
</cp:coreProperties>
</file>