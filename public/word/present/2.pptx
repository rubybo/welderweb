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79" r:id="rId5"/>
    <p:sldId id="275" r:id="rId6"/>
    <p:sldId id="278" r:id="rId7"/>
    <p:sldId id="276" r:id="rId8"/>
    <p:sldId id="277" r:id="rId9"/>
    <p:sldId id="262" r:id="rId10"/>
    <p:sldId id="281" r:id="rId11"/>
    <p:sldId id="259" r:id="rId12"/>
    <p:sldId id="260" r:id="rId13"/>
    <p:sldId id="263" r:id="rId14"/>
    <p:sldId id="261" r:id="rId15"/>
    <p:sldId id="273" r:id="rId16"/>
    <p:sldId id="264" r:id="rId17"/>
    <p:sldId id="265" r:id="rId18"/>
    <p:sldId id="267" r:id="rId19"/>
    <p:sldId id="266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custDataLst>
    <p:tags r:id="rId25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392" y="-3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4246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91641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80205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0403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2575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0329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35274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2506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759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9572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5429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3648D-5B42-4C3F-A8FC-1AAFFC708AB0}" type="datetimeFigureOut">
              <a:rPr lang="ru-RU" smtClean="0"/>
              <a:pPr/>
              <a:t>20.06.2024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BE4A3-C19A-4E87-A79C-0AE4C846DBE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8142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E:\&#1057;&#1042;&#1040;&#1056;&#1065;&#1048;&#1050;\0_&#1055;&#1056;&#1045;&#1047;&#1045;&#1053;&#1058;&#1040;&#1062;&#1048;&#1048;\&#1058;&#1077;&#1084;&#1072;%20&#1054;&#1073;&#1097;&#1080;&#1077;%20&#1089;&#1074;&#1077;&#1076;&#1077;&#1085;&#1080;&#1103;%20&#1086;%20&#1089;&#1074;&#1072;&#1088;&#1082;&#1077;\&#1089;&#1074;&#1072;&#1088;&#1082;&#1072;&#1055;&#1083;&#1072;&#1074;&#1083;&#1077;&#1085;&#1080;&#1077;&#1084;.mp4" TargetMode="External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file:///E:\&#1057;&#1042;&#1040;&#1056;&#1065;&#1048;&#1050;\0_&#1055;&#1056;&#1045;&#1047;&#1045;&#1053;&#1058;&#1040;&#1062;&#1048;&#1048;\&#1058;&#1077;&#1084;&#1072;%20&#1054;&#1073;&#1097;&#1080;&#1077;%20&#1089;&#1074;&#1077;&#1076;&#1077;&#1085;&#1080;&#1103;%20&#1086;%20&#1089;&#1074;&#1072;&#1088;&#1082;&#1077;\&#1089;&#1074;&#1072;&#1088;&#1082;&#1072;&#1058;&#1088;&#1077;&#1085;&#1080;&#1077;&#1084;.mp4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slide" Target="slide17.xml"/><Relationship Id="rId7" Type="http://schemas.openxmlformats.org/officeDocument/2006/relationships/slide" Target="slide2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11" Type="http://schemas.openxmlformats.org/officeDocument/2006/relationships/image" Target="../media/image16.png"/><Relationship Id="rId5" Type="http://schemas.openxmlformats.org/officeDocument/2006/relationships/slide" Target="slide18.xml"/><Relationship Id="rId10" Type="http://schemas.openxmlformats.org/officeDocument/2006/relationships/image" Target="../media/image1.gif"/><Relationship Id="rId4" Type="http://schemas.openxmlformats.org/officeDocument/2006/relationships/slide" Target="slide19.xml"/><Relationship Id="rId9" Type="http://schemas.openxmlformats.org/officeDocument/2006/relationships/slide" Target="slide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Общие сведения о сварке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24184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Сущность процесса сварки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u="sng" dirty="0" smtClean="0"/>
              <a:t>Сварка металлов </a:t>
            </a:r>
            <a:r>
              <a:rPr lang="ru-RU" dirty="0" smtClean="0"/>
              <a:t>— технологический процесс соединения металла(</a:t>
            </a:r>
            <a:r>
              <a:rPr lang="ru-RU" dirty="0" err="1" smtClean="0"/>
              <a:t>ов</a:t>
            </a:r>
            <a:r>
              <a:rPr lang="ru-RU" dirty="0" smtClean="0"/>
              <a:t>) при таком нагреве и (или) давлении, в результате которого получается непрерывность структуры </a:t>
            </a:r>
            <a:r>
              <a:rPr lang="ru-RU" dirty="0" err="1" smtClean="0"/>
              <a:t>соедиияемого</a:t>
            </a:r>
            <a:r>
              <a:rPr lang="ru-RU" dirty="0" smtClean="0"/>
              <a:t>(</a:t>
            </a:r>
            <a:r>
              <a:rPr lang="ru-RU" dirty="0" err="1" smtClean="0"/>
              <a:t>ых</a:t>
            </a:r>
            <a:r>
              <a:rPr lang="ru-RU" dirty="0" smtClean="0"/>
              <a:t>) металла(</a:t>
            </a:r>
            <a:r>
              <a:rPr lang="ru-RU" dirty="0" err="1" smtClean="0"/>
              <a:t>ов</a:t>
            </a:r>
            <a:r>
              <a:rPr lang="ru-RU" dirty="0" smtClean="0"/>
              <a:t>) (ГОСТ Р ИСО 857-1-2009).</a:t>
            </a:r>
          </a:p>
          <a:p>
            <a:r>
              <a:rPr lang="ru-RU" b="1" u="sng" dirty="0" smtClean="0"/>
              <a:t>Сварка</a:t>
            </a:r>
            <a:r>
              <a:rPr lang="ru-RU" dirty="0" smtClean="0"/>
              <a:t> это технологический процесс получения неразъемных соединений материалов посредством установления межатомных связей между свариваемыми частями при их местном или пластическом деформировании, или совместным действием того и другого.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5105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Условия образования сварных соединений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Для образования сварных соединений необходимо выполнение следующих условий: </a:t>
            </a:r>
          </a:p>
          <a:p>
            <a:r>
              <a:rPr lang="ru-RU" dirty="0" smtClean="0"/>
              <a:t>освобождение свариваемых поверхностей от загрязнений, оксидов и адсорбированных на них инородных атомов; </a:t>
            </a:r>
          </a:p>
          <a:p>
            <a:r>
              <a:rPr lang="ru-RU" dirty="0" smtClean="0"/>
              <a:t>энергетическая активация поверхностных атомов, облегчающая их взаимодействие друг с другом; </a:t>
            </a:r>
          </a:p>
          <a:p>
            <a:r>
              <a:rPr lang="ru-RU" dirty="0" smtClean="0"/>
              <a:t>сближение свариваемых поверхностей на расстояния, сопоставимые с межатомным расстоянием в свариваемых заготовках.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817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Преимущества сварки: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1</a:t>
            </a:r>
            <a:r>
              <a:rPr lang="ru-RU" dirty="0"/>
              <a:t>. </a:t>
            </a:r>
            <a:r>
              <a:rPr lang="ru-RU" dirty="0" smtClean="0"/>
              <a:t>Экономия металла.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2</a:t>
            </a:r>
            <a:r>
              <a:rPr lang="ru-RU" dirty="0"/>
              <a:t>. Сокращение сроков работ и уменьшение стоимости изготовления </a:t>
            </a:r>
            <a:r>
              <a:rPr lang="ru-RU" dirty="0" smtClean="0"/>
              <a:t>конструкций.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3</a:t>
            </a:r>
            <a:r>
              <a:rPr lang="ru-RU" dirty="0"/>
              <a:t>. Возможность широкого использования сварки, наплавки и резки при </a:t>
            </a:r>
            <a:r>
              <a:rPr lang="ru-RU" dirty="0" smtClean="0"/>
              <a:t>ремонте.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4</a:t>
            </a:r>
            <a:r>
              <a:rPr lang="ru-RU" dirty="0"/>
              <a:t>. Возможность изготовления сварных изделий сложной </a:t>
            </a:r>
            <a:r>
              <a:rPr lang="ru-RU" dirty="0" smtClean="0"/>
              <a:t>формы.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5</a:t>
            </a:r>
            <a:r>
              <a:rPr lang="ru-RU" dirty="0"/>
              <a:t>. Удешевление технологического </a:t>
            </a:r>
            <a:r>
              <a:rPr lang="ru-RU" dirty="0" smtClean="0"/>
              <a:t>оборудования. 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6</a:t>
            </a:r>
            <a:r>
              <a:rPr lang="ru-RU" dirty="0"/>
              <a:t>. Герметичность и надежность получаемых сварных соединений. </a:t>
            </a:r>
          </a:p>
          <a:p>
            <a:pPr marL="0" indent="0">
              <a:buNone/>
            </a:pPr>
            <a:r>
              <a:rPr lang="ru-RU" dirty="0" smtClean="0"/>
              <a:t>7</a:t>
            </a:r>
            <a:r>
              <a:rPr lang="ru-RU" dirty="0"/>
              <a:t>. Уменьшение производственного шума и улучшение условий труда в цехах.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822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зависимости от вида энергии при выполнении соединения различают два вида сварки: </a:t>
            </a:r>
          </a:p>
          <a:p>
            <a:r>
              <a:rPr lang="ru-RU" dirty="0" smtClean="0"/>
              <a:t>плавлением и давлением.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019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209"/>
            <a:ext cx="7560840" cy="667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3611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 сварке плавлением детали по соединяемым кромкам оплавляются под действием источника нагрева.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  <p:pic>
        <p:nvPicPr>
          <p:cNvPr id="5" name="Picture 3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2039" y="4293096"/>
            <a:ext cx="1889787" cy="141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3825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При сварке давлением сварное соединение получают за счет пластического деформирования материала по кромкам свариваемых деталей.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3757262"/>
            <a:ext cx="2808312" cy="2282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AutoShape 2" descr="https://www.siliconrepublic.com/wp-content/uploads/2014/12/201412/youtube-800-shutterstock-169366016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7" name="Picture 3">
            <a:hlinkClick r:id="rId4" action="ppaction://hlinkfile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32039" y="4293096"/>
            <a:ext cx="1889787" cy="1417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5560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термины и определения 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9107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79512" y="620688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Все, что сопутствует или способствует сварке, называют </a:t>
            </a:r>
            <a:r>
              <a:rPr lang="ru-RU" b="1" i="1" dirty="0" smtClean="0"/>
              <a:t>сварочным</a:t>
            </a:r>
            <a:r>
              <a:rPr lang="ru-RU" dirty="0" smtClean="0"/>
              <a:t>, а все, что получается в результате сварки, — </a:t>
            </a:r>
            <a:r>
              <a:rPr lang="ru-RU" b="1" i="1" dirty="0" smtClean="0"/>
              <a:t>сварным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Например, </a:t>
            </a:r>
            <a:r>
              <a:rPr lang="ru-RU" i="1" dirty="0" smtClean="0"/>
              <a:t>ванна</a:t>
            </a:r>
            <a:r>
              <a:rPr lang="ru-RU" dirty="0" smtClean="0"/>
              <a:t> - </a:t>
            </a:r>
            <a:r>
              <a:rPr lang="ru-RU" b="1" i="1" dirty="0" smtClean="0"/>
              <a:t>сварочная</a:t>
            </a:r>
            <a:r>
              <a:rPr lang="ru-RU" dirty="0" smtClean="0"/>
              <a:t>, </a:t>
            </a:r>
            <a:r>
              <a:rPr lang="ru-RU" i="1" u="sng" dirty="0" smtClean="0"/>
              <a:t>электрод</a:t>
            </a:r>
            <a:r>
              <a:rPr lang="ru-RU" dirty="0" smtClean="0"/>
              <a:t> — </a:t>
            </a:r>
            <a:r>
              <a:rPr lang="ru-RU" b="1" i="1" dirty="0" smtClean="0"/>
              <a:t>сварочный</a:t>
            </a:r>
            <a:r>
              <a:rPr lang="ru-RU" dirty="0" smtClean="0"/>
              <a:t>, но </a:t>
            </a:r>
            <a:r>
              <a:rPr lang="ru-RU" i="1" u="sng" dirty="0" smtClean="0"/>
              <a:t>изделие</a:t>
            </a:r>
            <a:r>
              <a:rPr lang="ru-RU" dirty="0" smtClean="0"/>
              <a:t> — </a:t>
            </a:r>
            <a:r>
              <a:rPr lang="ru-RU" b="1" i="1" dirty="0" smtClean="0"/>
              <a:t>сварное</a:t>
            </a:r>
            <a:r>
              <a:rPr lang="ru-RU" dirty="0" smtClean="0"/>
              <a:t>, </a:t>
            </a:r>
            <a:r>
              <a:rPr lang="ru-RU" i="1" u="sng" dirty="0" smtClean="0"/>
              <a:t>шов</a:t>
            </a:r>
            <a:r>
              <a:rPr lang="ru-RU" dirty="0" smtClean="0"/>
              <a:t> — </a:t>
            </a:r>
            <a:r>
              <a:rPr lang="ru-RU" b="1" i="1" dirty="0" smtClean="0"/>
              <a:t>сварной</a:t>
            </a:r>
            <a:r>
              <a:rPr lang="ru-RU" dirty="0" smtClean="0"/>
              <a:t>, </a:t>
            </a:r>
            <a:r>
              <a:rPr lang="ru-RU" i="1" u="sng" dirty="0" smtClean="0"/>
              <a:t>соединение</a:t>
            </a:r>
            <a:r>
              <a:rPr lang="ru-RU" dirty="0" smtClean="0"/>
              <a:t> — </a:t>
            </a:r>
            <a:r>
              <a:rPr lang="ru-RU" b="1" i="1" dirty="0" smtClean="0"/>
              <a:t>сварное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Термины и определения для сварных конструкций, </a:t>
            </a:r>
            <a:r>
              <a:rPr lang="ru-RU" dirty="0" err="1" smtClean="0"/>
              <a:t>узлов,соединений</a:t>
            </a:r>
            <a:r>
              <a:rPr lang="ru-RU" dirty="0" smtClean="0"/>
              <a:t> и швов установлены ГОСТ 2601—84.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4976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Сварная конструкция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38987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металлическая конструкция, изготовленная при помощи сварки из отдельных деталей.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95922" y="1196753"/>
            <a:ext cx="4009616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http://stalevarim.ru/media/uploads/%D1%81%D0%B2%D0%B0%D1%80%D0%BD%D1%96%D0%B5_%D0%BA%D0%BE%D0%BD%D1%81%D1%82%D1%80%D1%83%D0%BA%D1%86%D0%B8%D0%B8258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96211" y="4221089"/>
            <a:ext cx="3809038" cy="252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5683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Сварной узел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 Часть конструкции, в которой сварены примыкающие друг к другу элементы</a:t>
            </a:r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867130" y="1325488"/>
            <a:ext cx="295275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252799"/>
            <a:ext cx="3381375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83696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Сварное соединение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Неразъемное соединение, выполненное сваркой. </a:t>
            </a:r>
          </a:p>
          <a:p>
            <a:pPr marL="0" indent="0">
              <a:buNone/>
            </a:pPr>
            <a:r>
              <a:rPr lang="ru-RU" dirty="0" smtClean="0"/>
              <a:t>Включает в себя сварной шов, прилегающую к нему зону основного металла (зона термического влияния), в которой в результате теплового воздействия сварки произошли структурные и другие изменения, и примыкающие к ней участки основного металла.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85696" y="1844825"/>
            <a:ext cx="4428960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238088" y="3429000"/>
            <a:ext cx="29241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4786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Сварной шов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363272" cy="197281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 smtClean="0"/>
              <a:t>Участок сварного соединения, образовавшийся в результате кристаллизации расплавленного металла или в результате пластической деформации при сварке давлением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3568" y="3950568"/>
            <a:ext cx="32766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645024"/>
            <a:ext cx="3438594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45087" y="4941168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2078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Валик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Металл сварного шва, наплавленный или переплавленный за один проход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96952"/>
            <a:ext cx="3924436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733674"/>
            <a:ext cx="4314825" cy="221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49641" y="4953000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4626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699940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2411760" y="620688"/>
            <a:ext cx="1800200" cy="64807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hlinkClick r:id="rId4" action="ppaction://hlinksldjump"/>
          </p:cNvPr>
          <p:cNvSpPr/>
          <p:nvPr/>
        </p:nvSpPr>
        <p:spPr>
          <a:xfrm>
            <a:off x="251520" y="1484784"/>
            <a:ext cx="2304256" cy="10801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hlinkClick r:id="rId5" action="ppaction://hlinksldjump"/>
          </p:cNvPr>
          <p:cNvSpPr/>
          <p:nvPr/>
        </p:nvSpPr>
        <p:spPr>
          <a:xfrm>
            <a:off x="1187624" y="4509120"/>
            <a:ext cx="1872208" cy="1008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hlinkClick r:id="rId6" action="ppaction://hlinksldjump"/>
          </p:cNvPr>
          <p:cNvSpPr/>
          <p:nvPr/>
        </p:nvSpPr>
        <p:spPr>
          <a:xfrm>
            <a:off x="7452320" y="2024844"/>
            <a:ext cx="1499140" cy="10441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hlinkClick r:id="rId7" action="ppaction://hlinksldjump"/>
          </p:cNvPr>
          <p:cNvSpPr/>
          <p:nvPr/>
        </p:nvSpPr>
        <p:spPr>
          <a:xfrm>
            <a:off x="4067944" y="5013176"/>
            <a:ext cx="2880320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hlinkClick r:id="rId8" action="ppaction://hlinksldjump"/>
          </p:cNvPr>
          <p:cNvSpPr/>
          <p:nvPr/>
        </p:nvSpPr>
        <p:spPr>
          <a:xfrm>
            <a:off x="2267744" y="2708920"/>
            <a:ext cx="1368152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hlinkClick r:id="rId9" action="ppaction://hlinksldjump"/>
          </p:cNvPr>
          <p:cNvSpPr/>
          <p:nvPr/>
        </p:nvSpPr>
        <p:spPr>
          <a:xfrm>
            <a:off x="5220072" y="2024844"/>
            <a:ext cx="1800200" cy="9001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  <p:pic>
        <p:nvPicPr>
          <p:cNvPr id="5123" name="Picture 3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877272"/>
            <a:ext cx="2357720" cy="734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7062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err="1" smtClean="0"/>
              <a:t>Сва́рочный</a:t>
            </a:r>
            <a:r>
              <a:rPr lang="ru-RU" sz="4800" b="1" dirty="0" smtClean="0"/>
              <a:t> </a:t>
            </a:r>
            <a:r>
              <a:rPr lang="ru-RU" sz="4800" b="1" dirty="0" err="1" smtClean="0"/>
              <a:t>электро́д</a:t>
            </a:r>
            <a:r>
              <a:rPr lang="ru-RU" sz="4800" b="1" dirty="0" smtClean="0"/>
              <a:t> 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металлический или неметаллический стержень из электропроводного материала, предназначенный для подвода тока к свариваемому изделию.</a:t>
            </a:r>
            <a:endParaRPr lang="ru-RU" sz="3600" dirty="0"/>
          </a:p>
        </p:txBody>
      </p:sp>
      <p:pic>
        <p:nvPicPr>
          <p:cNvPr id="6146" name="Picture 2" descr="http://knigg.ucoz.ru/d.png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789040"/>
            <a:ext cx="4000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66862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Основной металл </a:t>
            </a:r>
            <a:endParaRPr lang="ru-RU" sz="4800" b="1" dirty="0"/>
          </a:p>
        </p:txBody>
      </p:sp>
      <p:pic>
        <p:nvPicPr>
          <p:cNvPr id="4" name="Picture 2" descr="http://knigg.ucoz.ru/d.png">
            <a:hlinkClick r:id="rId2" action="ppaction://hlinksldjump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905333" y="1958419"/>
            <a:ext cx="5333333" cy="380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187624" y="1412776"/>
            <a:ext cx="73448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dirty="0" smtClean="0"/>
              <a:t>металл подвергающихся сварке соединяемых частей. </a:t>
            </a:r>
            <a:endParaRPr lang="ru-RU" sz="4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94972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Присадочный металл</a:t>
            </a:r>
            <a:endParaRPr lang="ru-RU" sz="4800" b="1" dirty="0"/>
          </a:p>
        </p:txBody>
      </p:sp>
      <p:pic>
        <p:nvPicPr>
          <p:cNvPr id="4" name="Picture 2" descr="http://knigg.ucoz.ru/d.png">
            <a:hlinkClick r:id="rId2" action="ppaction://hlinksldjump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905333" y="1958419"/>
            <a:ext cx="5333333" cy="380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755576" y="1556792"/>
            <a:ext cx="76328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/>
              <a:t>Металл, подаваемый в зону дуги дополнительно к расплавленному основному металлу</a:t>
            </a:r>
            <a:endParaRPr lang="ru-RU" sz="3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45797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 smtClean="0"/>
              <a:t>Металл шва</a:t>
            </a:r>
            <a:endParaRPr lang="ru-RU" sz="5400" b="1" dirty="0"/>
          </a:p>
        </p:txBody>
      </p:sp>
      <p:pic>
        <p:nvPicPr>
          <p:cNvPr id="4" name="Picture 2" descr="http://knigg.ucoz.ru/d.png">
            <a:hlinkClick r:id="rId2" action="ppaction://hlinksldjump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740437"/>
            <a:ext cx="3605141" cy="257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395536" y="1953589"/>
            <a:ext cx="82809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/>
              <a:t>Сплав, образованный переплавленным основным или переплавленным основным и наплавленным металлами</a:t>
            </a:r>
            <a:endParaRPr lang="ru-RU" sz="3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86321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Сварочная ванна </a:t>
            </a:r>
            <a:endParaRPr lang="ru-RU" sz="4800" b="1" dirty="0"/>
          </a:p>
        </p:txBody>
      </p:sp>
      <p:pic>
        <p:nvPicPr>
          <p:cNvPr id="4" name="Picture 2" descr="http://knigg.ucoz.ru/d.png">
            <a:hlinkClick r:id="rId2" action="ppaction://hlinksldjump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905333" y="1958419"/>
            <a:ext cx="5333333" cy="380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67544" y="1340768"/>
            <a:ext cx="83529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dirty="0" smtClean="0"/>
              <a:t>часть металла сварного шва, находящаяся во время сварки в расплавленном состоянии</a:t>
            </a:r>
            <a:endParaRPr lang="ru-RU" sz="3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13259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Кратер</a:t>
            </a:r>
            <a:endParaRPr lang="ru-RU" sz="4800" b="1" dirty="0"/>
          </a:p>
        </p:txBody>
      </p:sp>
      <p:pic>
        <p:nvPicPr>
          <p:cNvPr id="4" name="Picture 2" descr="http://knigg.ucoz.ru/d.png">
            <a:hlinkClick r:id="rId2" action="ppaction://hlinksldjump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429000"/>
            <a:ext cx="3605141" cy="257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971600" y="1772816"/>
            <a:ext cx="720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dirty="0" smtClean="0"/>
              <a:t>Углубление, образующееся в шве по окончании процесса сварки</a:t>
            </a:r>
            <a:endParaRPr lang="ru-RU" sz="36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020272" y="4898571"/>
            <a:ext cx="19812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91451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Сварочная дуга</a:t>
            </a:r>
            <a:endParaRPr lang="ru-RU" sz="4800" b="1" dirty="0"/>
          </a:p>
        </p:txBody>
      </p:sp>
      <p:pic>
        <p:nvPicPr>
          <p:cNvPr id="4" name="Picture 2" descr="http://knigg.ucoz.ru/d.png">
            <a:hlinkClick r:id="rId2" action="ppaction://hlinksldjump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905333" y="1958419"/>
            <a:ext cx="5333333" cy="380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043608" y="1484784"/>
            <a:ext cx="741682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мощный устойчивый электрический разряд в газовой среде, образованной между электродом и изделием (либо между электродами)</a:t>
            </a:r>
          </a:p>
        </p:txBody>
      </p:sp>
    </p:spTree>
    <p:extLst>
      <p:ext uri="{BB962C8B-B14F-4D97-AF65-F5344CB8AC3E}">
        <p14:creationId xmlns:p14="http://schemas.microsoft.com/office/powerpoint/2010/main" xmlns="" val="2363104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44630b13311abfe8c9f192b1e55799c13d5b2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</TotalTime>
  <Words>500</Words>
  <Application>Microsoft Office PowerPoint</Application>
  <PresentationFormat>Экран (4:3)</PresentationFormat>
  <Paragraphs>50</Paragraphs>
  <Slides>23</Slides>
  <Notes>0</Notes>
  <HiddenSlides>7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Общие сведения о сварке</vt:lpstr>
      <vt:lpstr>Сущность процесса сварки</vt:lpstr>
      <vt:lpstr>Условия образования сварных соединений</vt:lpstr>
      <vt:lpstr>Преимущества сварки:</vt:lpstr>
      <vt:lpstr>Слайд 5</vt:lpstr>
      <vt:lpstr>Слайд 6</vt:lpstr>
      <vt:lpstr>Слайд 7</vt:lpstr>
      <vt:lpstr>Слайд 8</vt:lpstr>
      <vt:lpstr>Основные термины и определения </vt:lpstr>
      <vt:lpstr>Слайд 10</vt:lpstr>
      <vt:lpstr>Сварная конструкция </vt:lpstr>
      <vt:lpstr>Сварной узел </vt:lpstr>
      <vt:lpstr>Сварное соединение </vt:lpstr>
      <vt:lpstr>Сварной шов </vt:lpstr>
      <vt:lpstr>Валик</vt:lpstr>
      <vt:lpstr>Слайд 16</vt:lpstr>
      <vt:lpstr>Сва́рочный электро́д </vt:lpstr>
      <vt:lpstr>Основной металл </vt:lpstr>
      <vt:lpstr>Присадочный металл</vt:lpstr>
      <vt:lpstr>Металл шва</vt:lpstr>
      <vt:lpstr>Сварочная ванна </vt:lpstr>
      <vt:lpstr>Кратер</vt:lpstr>
      <vt:lpstr>Сварочная дуга</vt:lpstr>
    </vt:vector>
  </TitlesOfParts>
  <Company>*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Тема:Общие сведения о сварке</dc:title>
  <dc:creator>ASUS</dc:creator>
  <cp:lastModifiedBy>WinXPProSP3</cp:lastModifiedBy>
  <cp:revision>20</cp:revision>
  <dcterms:created xsi:type="dcterms:W3CDTF">2017-09-14T18:26:32Z</dcterms:created>
  <dcterms:modified xsi:type="dcterms:W3CDTF">2024-06-20T08:48:12Z</dcterms:modified>
</cp:coreProperties>
</file>