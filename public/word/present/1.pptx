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39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strip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strip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strip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strips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980728"/>
            <a:ext cx="7772400" cy="261972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Типовые схемы компоновок </a:t>
            </a:r>
            <a:br>
              <a:rPr lang="ru-RU" dirty="0" smtClean="0"/>
            </a:br>
            <a:r>
              <a:rPr lang="ru-RU" dirty="0" smtClean="0"/>
              <a:t>сборочно-сварочных цехов</a:t>
            </a:r>
            <a:endParaRPr lang="ru-RU" dirty="0"/>
          </a:p>
        </p:txBody>
      </p:sp>
    </p:spTree>
  </p:cSld>
  <p:clrMapOvr>
    <a:masterClrMapping/>
  </p:clrMapOvr>
  <p:transition>
    <p:strip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626469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b="1" dirty="0" smtClean="0"/>
              <a:t>    Структура и компоновка участков сборочно-сварочного цеха зависит от:</a:t>
            </a:r>
          </a:p>
          <a:p>
            <a:pPr algn="just">
              <a:buFontTx/>
              <a:buChar char="-"/>
            </a:pPr>
            <a:r>
              <a:rPr lang="ru-RU" sz="3200" dirty="0" smtClean="0"/>
              <a:t>серийности производства;</a:t>
            </a:r>
          </a:p>
          <a:p>
            <a:pPr algn="just">
              <a:buFontTx/>
              <a:buChar char="-"/>
            </a:pPr>
            <a:r>
              <a:rPr lang="ru-RU" sz="3200" dirty="0" smtClean="0"/>
              <a:t>индивидуальных особенностей заданных сварных металлоизделий;</a:t>
            </a:r>
          </a:p>
          <a:p>
            <a:pPr algn="just">
              <a:buFontTx/>
              <a:buChar char="-"/>
            </a:pPr>
            <a:r>
              <a:rPr lang="ru-RU" sz="3200" dirty="0" smtClean="0"/>
              <a:t>выбранных способов изготовления металлоизделий;</a:t>
            </a:r>
          </a:p>
          <a:p>
            <a:pPr algn="just">
              <a:buFontTx/>
              <a:buChar char="-"/>
            </a:pPr>
            <a:r>
              <a:rPr lang="ru-RU" sz="3200" dirty="0" smtClean="0"/>
              <a:t>степени производственной связи основных (сборочно-сварочных) отделений и участков с другими производственными и вспомогательными отделениями цеха.</a:t>
            </a:r>
            <a:endParaRPr lang="ru-RU" sz="3200" dirty="0"/>
          </a:p>
        </p:txBody>
      </p:sp>
    </p:spTree>
  </p:cSld>
  <p:clrMapOvr>
    <a:masterClrMapping/>
  </p:clrMapOvr>
  <p:transition>
    <p:strip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64807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Обозначения: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692696"/>
            <a:ext cx="8496944" cy="5832648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 smtClean="0"/>
              <a:t> I — склад металла; </a:t>
            </a:r>
          </a:p>
          <a:p>
            <a:pPr algn="just"/>
            <a:r>
              <a:rPr lang="ru-RU" dirty="0" smtClean="0"/>
              <a:t>II — </a:t>
            </a:r>
            <a:r>
              <a:rPr lang="ru-RU" dirty="0" err="1" smtClean="0"/>
              <a:t>кузнечно-прессовое</a:t>
            </a:r>
            <a:r>
              <a:rPr lang="ru-RU" dirty="0" smtClean="0"/>
              <a:t> отделение; </a:t>
            </a:r>
          </a:p>
          <a:p>
            <a:pPr algn="just"/>
            <a:r>
              <a:rPr lang="ru-RU" dirty="0" smtClean="0"/>
              <a:t>III — заготовительное отделение; </a:t>
            </a:r>
          </a:p>
          <a:p>
            <a:pPr algn="just"/>
            <a:r>
              <a:rPr lang="ru-RU" dirty="0" smtClean="0"/>
              <a:t>IV — промежуточный комплектовочный склад деталей; </a:t>
            </a:r>
          </a:p>
          <a:p>
            <a:pPr algn="just"/>
            <a:r>
              <a:rPr lang="ru-RU" dirty="0" smtClean="0"/>
              <a:t>V — отделение узловой сборки и сварки;</a:t>
            </a:r>
          </a:p>
          <a:p>
            <a:pPr algn="just"/>
            <a:r>
              <a:rPr lang="ru-RU" dirty="0" smtClean="0"/>
              <a:t> VI — отделение общей сборки и сварки;</a:t>
            </a:r>
          </a:p>
          <a:p>
            <a:pPr algn="just"/>
            <a:r>
              <a:rPr lang="ru-RU" dirty="0" smtClean="0"/>
              <a:t> VII — отделение покрытий и отделки продукции; </a:t>
            </a:r>
          </a:p>
          <a:p>
            <a:pPr algn="just"/>
            <a:r>
              <a:rPr lang="ru-RU" dirty="0" smtClean="0"/>
              <a:t>VIII —склад готовой продукции; </a:t>
            </a:r>
          </a:p>
          <a:p>
            <a:pPr algn="just"/>
            <a:r>
              <a:rPr lang="ru-RU" dirty="0" smtClean="0"/>
              <a:t>IX — административно-конторские, служебные и бытовые помещения; </a:t>
            </a:r>
          </a:p>
          <a:p>
            <a:pPr algn="just"/>
            <a:r>
              <a:rPr lang="ru-RU" dirty="0" smtClean="0"/>
              <a:t>X — пожарные проезды;</a:t>
            </a:r>
          </a:p>
          <a:p>
            <a:pPr algn="just"/>
            <a:r>
              <a:rPr lang="ru-RU" dirty="0" smtClean="0"/>
              <a:t>направления грузопотоков показаны стрелками. </a:t>
            </a:r>
            <a:endParaRPr lang="ru-RU" dirty="0"/>
          </a:p>
        </p:txBody>
      </p:sp>
    </p:spTree>
  </p:cSld>
  <p:clrMapOvr>
    <a:masterClrMapping/>
  </p:clrMapOvr>
  <p:transition>
    <p:strip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55679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Цех с продольным направлением производственного потока</a:t>
            </a:r>
            <a:endParaRPr lang="ru-RU" dirty="0"/>
          </a:p>
        </p:txBody>
      </p:sp>
      <p:pic>
        <p:nvPicPr>
          <p:cNvPr id="5" name="Рисунок 4" descr="ÐÐ¿Ð¸ÑÐ°Ð½Ð¸Ðµ: \\172.16.76.3\archiv (d)\books\ÐÐ° Ð¿ÑÐ¾Ð²ÐµÑÐºÑÐÐ 2011 - 2012\Ð¡ Ð¸ ÐÐ\Ð£ÑÐµÐ±Ð½Ð¸Ðº ÐÐ¡ÐÐ¦\Teory\image028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9" y="1916832"/>
            <a:ext cx="8352928" cy="4536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trip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404664"/>
            <a:ext cx="8496944" cy="5976664"/>
          </a:xfrm>
        </p:spPr>
        <p:txBody>
          <a:bodyPr>
            <a:noAutofit/>
          </a:bodyPr>
          <a:lstStyle/>
          <a:p>
            <a:pPr algn="just"/>
            <a:r>
              <a:rPr lang="ru-RU" sz="2400" dirty="0" smtClean="0"/>
              <a:t>Направление производственного потока в цехе на всем его протяжении совпадает с направлением, заданным на плане завода. </a:t>
            </a:r>
          </a:p>
          <a:p>
            <a:pPr algn="just"/>
            <a:r>
              <a:rPr lang="ru-RU" sz="2400" dirty="0" smtClean="0"/>
              <a:t>Продольное перемещение обрабатываемого металла и изготовляемых деталей, сборочных единиц и изделий выполняется обычно мостовыми кранами, а поперечное (на складах) — электрокарами, автокарами либо тележками по рельсовым путям. </a:t>
            </a:r>
          </a:p>
          <a:p>
            <a:pPr algn="just"/>
            <a:r>
              <a:rPr lang="ru-RU" sz="2400" dirty="0" smtClean="0"/>
              <a:t>Специализация пролетов в заготовительном отделении осуществляется по группам сортамента обрабатываемого металла, а в отделениях узловой и общей сборки-сварки — по типоразмерам изготовляемых изделий. </a:t>
            </a:r>
          </a:p>
          <a:p>
            <a:pPr algn="just"/>
            <a:r>
              <a:rPr lang="ru-RU" sz="2400" dirty="0" smtClean="0"/>
              <a:t>Рекомендуется для изготовления различных несложных изделий преимущественно в серийном производстве в производстве единичном и массовом также несложных изделий.</a:t>
            </a:r>
            <a:endParaRPr lang="ru-RU" sz="2400" dirty="0"/>
          </a:p>
        </p:txBody>
      </p:sp>
    </p:spTree>
  </p:cSld>
  <p:clrMapOvr>
    <a:masterClrMapping/>
  </p:clrMapOvr>
  <p:transition>
    <p:strip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Цех со смешанным направлением производственного потока</a:t>
            </a:r>
            <a:endParaRPr lang="ru-RU" dirty="0"/>
          </a:p>
        </p:txBody>
      </p:sp>
      <p:pic>
        <p:nvPicPr>
          <p:cNvPr id="4" name="Рисунок 3" descr="ÐÐ¿Ð¸ÑÐ°Ð½Ð¸Ðµ: \\172.16.76.3\archiv (d)\books\ÐÐ° Ð¿ÑÐ¾Ð²ÐµÑÐºÑÐÐ 2011 - 2012\Ð¡ Ð¸ ÐÐ\Ð£ÑÐµÐ±Ð½Ð¸Ðº ÐÐ¡ÐÐ¦\Teory\image029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16832"/>
            <a:ext cx="7848872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trip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332656"/>
            <a:ext cx="8640960" cy="619268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 smtClean="0"/>
              <a:t>Направление производственных потоков в отделениях заготовительном и узловой сборки-сварки совпадает, а в пролете общей сборки-сварки перпендикулярно направлению, заданному на плане завода. </a:t>
            </a:r>
          </a:p>
          <a:p>
            <a:pPr algn="just"/>
            <a:r>
              <a:rPr lang="ru-RU" dirty="0" smtClean="0"/>
              <a:t>Перемещения всех грузов в пролетах цеха выполняется мостовыми кранами и электрокарами. </a:t>
            </a:r>
          </a:p>
          <a:p>
            <a:pPr algn="just"/>
            <a:r>
              <a:rPr lang="ru-RU" dirty="0" smtClean="0"/>
              <a:t>Специализация пролетов заготовительного отделения осуществляется по группам сортамента обрабатываемого металла.</a:t>
            </a:r>
          </a:p>
          <a:p>
            <a:pPr algn="just"/>
            <a:r>
              <a:rPr lang="ru-RU" dirty="0" smtClean="0"/>
              <a:t>Размещение процессов изготовления сборочных единиц изделия по специализированным продольным пролетам отделения узловой сборки-сварки обусловлено расположением процесса общей сборки-сварки того же изделия в заключительном поперечном пролете цеха. При этом необходимо, чтобы изготовленные сборочные единицы изделия, выходя из продольных пролетов в поперечный, попадали точно на те рабочие места потока, где они требуются для включения их в процесс общей сборки-сварки изделия.</a:t>
            </a:r>
          </a:p>
          <a:p>
            <a:pPr algn="just"/>
            <a:r>
              <a:rPr lang="ru-RU" dirty="0" smtClean="0"/>
              <a:t> Рекомендуется для массового (реже крупносерийного) производства однотипных сложных изделий.</a:t>
            </a:r>
          </a:p>
          <a:p>
            <a:endParaRPr lang="ru-RU" dirty="0"/>
          </a:p>
        </p:txBody>
      </p:sp>
    </p:spTree>
  </p:cSld>
  <p:clrMapOvr>
    <a:masterClrMapping/>
  </p:clrMapOvr>
  <p:transition>
    <p:strip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Цех с продольно-поперечным направлением производственного потока</a:t>
            </a:r>
            <a:endParaRPr lang="ru-RU" dirty="0"/>
          </a:p>
        </p:txBody>
      </p:sp>
      <p:pic>
        <p:nvPicPr>
          <p:cNvPr id="4" name="Рисунок 3" descr="ÐÐ¿Ð¸ÑÐ°Ð½Ð¸Ðµ: \\172.16.76.3\archiv (d)\books\ÐÐ° Ð¿ÑÐ¾Ð²ÐµÑÐºÑÐÐ 2011 - 2012\Ð¡ Ð¸ ÐÐ\Ð£ÑÐµÐ±Ð½Ð¸Ðº ÐÐ¡ÐÐ¦\Teory\image031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44824"/>
            <a:ext cx="7632848" cy="4464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trip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260648"/>
            <a:ext cx="8568952" cy="6264696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/>
              <a:t>Основное направление производственного потока в цехе на всем его протяжении совпадает с направлением, заданным на плане завода. </a:t>
            </a:r>
          </a:p>
          <a:p>
            <a:pPr algn="just"/>
            <a:r>
              <a:rPr lang="ru-RU" dirty="0" smtClean="0"/>
              <a:t>Продольные перемещения деталей, сборочных единиц и изделий в потоке осуществляются на вагонетках по рельсовым путям. Поперечные перемещения (подача деталей, сборочных единиц и изделий к манипуляторам, автоматам и другому высокопроизводительному оборудованию, обслуживающему несколько пролетов, а также возврат указанных деталей, сборочных единиц и изделий в исходный пролет) выполняется кран-балками (или кранами). </a:t>
            </a:r>
          </a:p>
          <a:p>
            <a:pPr algn="just"/>
            <a:r>
              <a:rPr lang="ru-RU" dirty="0" smtClean="0"/>
              <a:t>Рекомендуется для мелкосерийного и единичного производства тяжелых и громоздких изделий</a:t>
            </a:r>
            <a:endParaRPr lang="ru-RU" dirty="0"/>
          </a:p>
        </p:txBody>
      </p:sp>
    </p:spTree>
  </p:cSld>
  <p:clrMapOvr>
    <a:masterClrMapping/>
  </p:clrMapOvr>
  <p:transition>
    <p:strips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8012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Цех с волновым направлением производственного потока</a:t>
            </a:r>
            <a:endParaRPr lang="ru-RU" dirty="0"/>
          </a:p>
        </p:txBody>
      </p:sp>
      <p:pic>
        <p:nvPicPr>
          <p:cNvPr id="4" name="Рисунок 3" descr="ÐÐ¿Ð¸ÑÐ°Ð½Ð¸Ðµ: \\172.16.76.3\archiv (d)\books\ÐÐ° Ð¿ÑÐ¾Ð²ÐµÑÐºÑÐÐ 2011 - 2012\Ð¡ Ð¸ ÐÐ\Ð£ÑÐµÐ±Ð½Ð¸Ðº ÐÐ¡ÐÐ¦\Teory\image032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44824"/>
            <a:ext cx="8280920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trip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332656"/>
            <a:ext cx="8424936" cy="6120680"/>
          </a:xfrm>
        </p:spPr>
        <p:txBody>
          <a:bodyPr>
            <a:noAutofit/>
          </a:bodyPr>
          <a:lstStyle/>
          <a:p>
            <a:pPr algn="just"/>
            <a:r>
              <a:rPr lang="ru-RU" sz="2800" dirty="0" smtClean="0"/>
              <a:t>Направление производственного потока в цехе отклоняется от заданного (на плане завода) попеременно в противоположные стороны. </a:t>
            </a:r>
          </a:p>
          <a:p>
            <a:pPr algn="just"/>
            <a:r>
              <a:rPr lang="ru-RU" sz="2800" dirty="0" smtClean="0"/>
              <a:t>Продольное перемещение обрабатываемого металла и изготовляемых деталей, сборочных единиц и изделий выполняется обычно мостовыми кранами, а поперечное (на складах) — электрокарами, автокарами либо тележками по рельсовым путям. </a:t>
            </a:r>
          </a:p>
          <a:p>
            <a:pPr algn="just"/>
            <a:r>
              <a:rPr lang="ru-RU" sz="2800" dirty="0" smtClean="0"/>
              <a:t>Рекомендуется для единичного и мелкосерийного производства сравнительно сложных изделий, обусловливающих значительную протяженность производственных отделений цеха. </a:t>
            </a:r>
            <a:endParaRPr lang="ru-RU" sz="2800" dirty="0"/>
          </a:p>
        </p:txBody>
      </p:sp>
    </p:spTree>
  </p:cSld>
  <p:clrMapOvr>
    <a:masterClrMapping/>
  </p:clrMapOvr>
  <p:transition>
    <p:strips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36815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Цех с петлевым направлением производственного потока</a:t>
            </a:r>
            <a:endParaRPr lang="ru-RU" dirty="0"/>
          </a:p>
        </p:txBody>
      </p:sp>
      <p:pic>
        <p:nvPicPr>
          <p:cNvPr id="4" name="Рисунок 3" descr="ÐÐ¿Ð¸ÑÐ°Ð½Ð¸Ðµ: \\172.16.76.3\archiv (d)\books\ÐÐ° Ð¿ÑÐ¾Ð²ÐµÑÐºÑÐÐ 2011 - 2012\Ð¡ Ð¸ ÐÐ\Ð£ÑÐµÐ±Ð½Ð¸Ðº ÐÐ¡ÐÐ¦\Teory\image033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72816"/>
            <a:ext cx="7560839" cy="432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trips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332656"/>
            <a:ext cx="8496944" cy="619268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 smtClean="0"/>
              <a:t>Направление производственного потока в цехе отклоняется от заданного (на плане завода) в противоположную сторону только один раз.</a:t>
            </a:r>
          </a:p>
          <a:p>
            <a:pPr algn="just"/>
            <a:r>
              <a:rPr lang="ru-RU" dirty="0" smtClean="0"/>
              <a:t> Склады металла и готовой продукции располагаются рядом и обслуживаются одними путями для ввоза и вывоза.</a:t>
            </a:r>
          </a:p>
          <a:p>
            <a:pPr algn="just"/>
            <a:r>
              <a:rPr lang="ru-RU" dirty="0" smtClean="0"/>
              <a:t> Продольное перемещение обрабатываемого металла и изготовляемых деталей, сборочных единиц и изделий выполняется обычно мостовыми кранами, а поперечное (на складах) — электрокарами, автокарами либо тележками по рельсовым путям. </a:t>
            </a:r>
          </a:p>
          <a:p>
            <a:pPr algn="just"/>
            <a:r>
              <a:rPr lang="ru-RU" dirty="0" smtClean="0"/>
              <a:t>В отделении узловой сборки-сварки пролеты специализируются по изготовлению различных сборочных единиц выпускаемого изделия. Возможно применение кольцевой (замкнутой) системы конвейеров. </a:t>
            </a:r>
          </a:p>
          <a:p>
            <a:pPr algn="just"/>
            <a:r>
              <a:rPr lang="ru-RU" dirty="0" smtClean="0"/>
              <a:t>Рекомендуется для серийного и массового производства однотипных и относительно несложных изделий.</a:t>
            </a:r>
            <a:endParaRPr lang="ru-RU" dirty="0"/>
          </a:p>
        </p:txBody>
      </p:sp>
    </p:spTree>
  </p:cSld>
  <p:clrMapOvr>
    <a:masterClrMapping/>
  </p:clrMapOvr>
  <p:transition>
    <p:strips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41</TotalTime>
  <Words>559</Words>
  <Application>Microsoft Office PowerPoint</Application>
  <PresentationFormat>Экран (4:3)</PresentationFormat>
  <Paragraphs>43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Поток</vt:lpstr>
      <vt:lpstr>Типовые схемы компоновок  сборочно-сварочных цехов</vt:lpstr>
      <vt:lpstr>Слайд 2</vt:lpstr>
      <vt:lpstr>Обозначения: </vt:lpstr>
      <vt:lpstr>Цех с продольным направлением производственного потока</vt:lpstr>
      <vt:lpstr>Слайд 5</vt:lpstr>
      <vt:lpstr>Цех со смешанным направлением производственного потока</vt:lpstr>
      <vt:lpstr>Слайд 7</vt:lpstr>
      <vt:lpstr>Цех с продольно-поперечным направлением производственного потока</vt:lpstr>
      <vt:lpstr>Слайд 9</vt:lpstr>
      <vt:lpstr>Цех с волновым направлением производственного потока</vt:lpstr>
      <vt:lpstr>Слайд 11</vt:lpstr>
      <vt:lpstr>Цех с петлевым направлением производственного потока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Типовые схемы компоновок сборочно-сварочных цехов</dc:title>
  <dc:creator>Данил</dc:creator>
  <cp:lastModifiedBy>WinXPProSP3</cp:lastModifiedBy>
  <cp:revision>9</cp:revision>
  <dcterms:created xsi:type="dcterms:W3CDTF">2018-11-20T11:15:39Z</dcterms:created>
  <dcterms:modified xsi:type="dcterms:W3CDTF">2024-06-20T08:47:28Z</dcterms:modified>
</cp:coreProperties>
</file>