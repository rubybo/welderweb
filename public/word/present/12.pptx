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2" r:id="rId11"/>
    <p:sldId id="273" r:id="rId12"/>
    <p:sldId id="274" r:id="rId13"/>
    <p:sldId id="266" r:id="rId14"/>
    <p:sldId id="262" r:id="rId15"/>
    <p:sldId id="264" r:id="rId16"/>
    <p:sldId id="271" r:id="rId17"/>
    <p:sldId id="276" r:id="rId18"/>
    <p:sldId id="277" r:id="rId19"/>
    <p:sldId id="278" r:id="rId20"/>
    <p:sldId id="279" r:id="rId21"/>
    <p:sldId id="280" r:id="rId22"/>
    <p:sldId id="281" r:id="rId23"/>
    <p:sldId id="283" r:id="rId24"/>
    <p:sldId id="282" r:id="rId25"/>
    <p:sldId id="284" r:id="rId26"/>
    <p:sldId id="285" r:id="rId27"/>
    <p:sldId id="289" r:id="rId28"/>
    <p:sldId id="293" r:id="rId29"/>
    <p:sldId id="291" r:id="rId30"/>
    <p:sldId id="292" r:id="rId31"/>
    <p:sldId id="288" r:id="rId32"/>
    <p:sldId id="294" r:id="rId33"/>
    <p:sldId id="295" r:id="rId34"/>
    <p:sldId id="296" r:id="rId35"/>
    <p:sldId id="297" r:id="rId36"/>
    <p:sldId id="298" r:id="rId37"/>
    <p:sldId id="300" r:id="rId3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62" autoAdjust="0"/>
  </p:normalViewPr>
  <p:slideViewPr>
    <p:cSldViewPr>
      <p:cViewPr>
        <p:scale>
          <a:sx n="75" d="100"/>
          <a:sy n="75" d="100"/>
        </p:scale>
        <p:origin x="-123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14.05.2024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russ-gas.ru/ballons/atsetilenovye-ballony" TargetMode="Externa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://russ-gas.ru/ballons/propanovye-ballony" TargetMode="Externa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7544" y="1268760"/>
            <a:ext cx="8305800" cy="1008112"/>
          </a:xfrm>
        </p:spPr>
        <p:txBody>
          <a:bodyPr>
            <a:normAutofit/>
          </a:bodyPr>
          <a:lstStyle/>
          <a:p>
            <a:pPr algn="ctr"/>
            <a:r>
              <a:rPr lang="ru-RU" sz="5400" dirty="0">
                <a:latin typeface="Times New Roman"/>
                <a:ea typeface="Times New Roman"/>
              </a:rPr>
              <a:t>Газовая сварка</a:t>
            </a:r>
            <a:endParaRPr lang="ru-RU" sz="3100" b="1" i="1" dirty="0">
              <a:solidFill>
                <a:srgbClr val="002060"/>
              </a:solidFill>
            </a:endParaRPr>
          </a:p>
        </p:txBody>
      </p:sp>
      <p:pic>
        <p:nvPicPr>
          <p:cNvPr id="3" name="Picture 2" descr="C:\Users\Victor\Desktop\СВАРКА!!!!!!!!!!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708920"/>
            <a:ext cx="6480720" cy="3771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704088"/>
            <a:ext cx="8763000" cy="1500776"/>
          </a:xfrm>
        </p:spPr>
        <p:txBody>
          <a:bodyPr>
            <a:noAutofit/>
          </a:bodyPr>
          <a:lstStyle/>
          <a:p>
            <a:pPr algn="ctr"/>
            <a:r>
              <a:rPr lang="ru-RU" sz="4400" b="1" dirty="0" smtClean="0"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ru-RU" sz="4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Цели урока:</a:t>
            </a:r>
            <a:r>
              <a:rPr lang="ru-RU" sz="4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4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4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5616" y="1844823"/>
            <a:ext cx="734481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усвоить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конструктивные особенности газопламенного оборудования;</a:t>
            </a:r>
          </a:p>
          <a:p>
            <a:pPr algn="ctr">
              <a:spcBef>
                <a:spcPts val="0"/>
              </a:spcBef>
              <a:buFontTx/>
              <a:buChar char="-"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ознакомление обучающихся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 видами газов для газопламенной сварки и баллонов для сжатых и сжиженных газов; вентилей ,их характеристиками, правилами технического обслуживания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создать у обучающихся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прочную ориентировочную основу трудовых действий при выполнении газосварочных работ; 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создание положительной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мотивации для дальнейшего обучения 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24744"/>
            <a:ext cx="8305800" cy="1296144"/>
          </a:xfrm>
        </p:spPr>
        <p:txBody>
          <a:bodyPr>
            <a:normAutofit fontScale="90000"/>
          </a:bodyPr>
          <a:lstStyle/>
          <a:p>
            <a:r>
              <a:rPr lang="ru-RU" sz="5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5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5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5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71600" y="1844824"/>
            <a:ext cx="727280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- развитие навыков сравнительного и логического мышления; </a:t>
            </a:r>
          </a:p>
          <a:p>
            <a:pPr algn="ctr">
              <a:buNone/>
            </a:pP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- формирование умения применять полученные знания в различных производственных ситуациях; </a:t>
            </a:r>
          </a:p>
          <a:p>
            <a:pPr algn="ctr">
              <a:buNone/>
            </a:pP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- развитие умений учащихся работать с учебником, схемами, презентацией учебного материала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Объяснение нового материала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55576" y="1988840"/>
            <a:ext cx="7272808" cy="453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uk-UA" sz="16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В связи с широким развитием различных новых способов электрической сварки, способ газовой сварки сохраняет самостоятельное значение только в некоторых технологических процессах. К таким процессам, где применяют газовую сварку может считаться технологически оправданным, относятся: ремонтное, сварки и пайки изделий из серого, ковкого и модифицированного чугуна; сварки сплавов цветных металлов на основе меди наплавка твердых сплавов некоторых марок (стеллита, </a:t>
            </a:r>
            <a:r>
              <a:rPr lang="ru-RU" sz="2400" dirty="0" err="1" smtClean="0">
                <a:solidFill>
                  <a:srgbClr val="002060"/>
                </a:solidFill>
              </a:rPr>
              <a:t>сормайта</a:t>
            </a:r>
            <a:r>
              <a:rPr lang="ru-RU" sz="2400" dirty="0" smtClean="0">
                <a:solidFill>
                  <a:srgbClr val="002060"/>
                </a:solidFill>
              </a:rPr>
              <a:t>).</a:t>
            </a:r>
            <a:endParaRPr lang="uk-UA" sz="2400" dirty="0" smtClean="0">
              <a:solidFill>
                <a:srgbClr val="002060"/>
              </a:solidFill>
            </a:endParaRPr>
          </a:p>
          <a:p>
            <a:pPr algn="just">
              <a:lnSpc>
                <a:spcPct val="80000"/>
              </a:lnSpc>
            </a:pPr>
            <a:r>
              <a:rPr lang="uk-UA" sz="2400" dirty="0" smtClean="0">
                <a:solidFill>
                  <a:srgbClr val="002060"/>
                </a:solidFill>
              </a:rPr>
              <a:t>       </a:t>
            </a:r>
            <a:r>
              <a:rPr lang="ru-RU" sz="2400" dirty="0" smtClean="0">
                <a:solidFill>
                  <a:srgbClr val="002060"/>
                </a:solidFill>
              </a:rPr>
              <a:t>При сварке стали газовая сварка применяется в ограниченных масштабах, преимущественно при сварке на монтаже конструкций и трубопроводов из тонкостенных труб.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Содержимое 6"/>
          <p:cNvSpPr>
            <a:spLocks noGrp="1"/>
          </p:cNvSpPr>
          <p:nvPr>
            <p:ph sz="quarter" idx="4"/>
          </p:nvPr>
        </p:nvSpPr>
        <p:spPr>
          <a:xfrm>
            <a:off x="4932040" y="1340768"/>
            <a:ext cx="4041775" cy="5019552"/>
          </a:xfrm>
        </p:spPr>
        <p:txBody>
          <a:bodyPr>
            <a:normAutofit fontScale="92500" lnSpcReduction="20000"/>
          </a:bodyPr>
          <a:lstStyle/>
          <a:p>
            <a:r>
              <a:rPr lang="ru-RU" sz="2400" dirty="0" smtClean="0">
                <a:solidFill>
                  <a:srgbClr val="FF0000"/>
                </a:solidFill>
              </a:rPr>
              <a:t>Газопламенная сварка </a:t>
            </a:r>
            <a:r>
              <a:rPr lang="ru-RU" sz="2400" dirty="0" smtClean="0">
                <a:solidFill>
                  <a:srgbClr val="002060"/>
                </a:solidFill>
              </a:rPr>
              <a:t>относится к сварке плавлением. Источником нагрева служит пламя сварочной горелки, получаемое путем сжигания горючего газа в смеси с технически чистым кислородом. Газопламенная сварка происходит как с применением присадочной проволоки, так и без него, если формирование шва возможно за счет расплавления кромок основного металла.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  </a:t>
            </a:r>
            <a:endParaRPr lang="ru-RU" dirty="0"/>
          </a:p>
        </p:txBody>
      </p:sp>
      <p:pic>
        <p:nvPicPr>
          <p:cNvPr id="8" name="Picture 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40768"/>
            <a:ext cx="3960440" cy="4464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08720"/>
            <a:ext cx="4040188" cy="545160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 </a:t>
            </a:r>
            <a:r>
              <a:rPr lang="ru-RU" sz="3200" dirty="0" smtClean="0"/>
              <a:t> </a:t>
            </a:r>
            <a:r>
              <a:rPr lang="ru-RU" sz="3200" dirty="0" smtClean="0">
                <a:solidFill>
                  <a:srgbClr val="FF0000"/>
                </a:solidFill>
              </a:rPr>
              <a:t>К преимуществам газовой сварки </a:t>
            </a:r>
            <a:r>
              <a:rPr lang="ru-RU" sz="3200" dirty="0" smtClean="0">
                <a:solidFill>
                  <a:srgbClr val="002060"/>
                </a:solidFill>
              </a:rPr>
              <a:t>можно отнести и то, что оно не требует сложного, дорогостоящего оборудования и источника тока</a:t>
            </a:r>
            <a:r>
              <a:rPr lang="ru-RU" sz="3200" dirty="0" smtClean="0"/>
              <a:t>.</a:t>
            </a:r>
            <a:br>
              <a:rPr lang="ru-RU" sz="3200" dirty="0" smtClean="0"/>
            </a:br>
            <a:endParaRPr lang="ru-RU" sz="3200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980728"/>
            <a:ext cx="4041775" cy="5379592"/>
          </a:xfrm>
        </p:spPr>
        <p:txBody>
          <a:bodyPr>
            <a:normAutofit lnSpcReduction="10000"/>
          </a:bodyPr>
          <a:lstStyle/>
          <a:p>
            <a:r>
              <a:rPr lang="ru-RU" sz="3200" dirty="0" smtClean="0">
                <a:solidFill>
                  <a:srgbClr val="FF0000"/>
                </a:solidFill>
              </a:rPr>
              <a:t>Недостатками газовой сварки </a:t>
            </a:r>
            <a:r>
              <a:rPr lang="ru-RU" sz="3200" dirty="0" smtClean="0">
                <a:solidFill>
                  <a:srgbClr val="002060"/>
                </a:solidFill>
              </a:rPr>
              <a:t>является понижение производительности с повышением толщины свариваемых металлов и большая зона нагрева</a:t>
            </a:r>
            <a:r>
              <a:rPr lang="ru-RU" sz="2400" dirty="0" smtClean="0">
                <a:solidFill>
                  <a:srgbClr val="002060"/>
                </a:solidFill>
              </a:rPr>
              <a:t>.</a:t>
            </a:r>
            <a:endParaRPr lang="uk-UA" sz="2400" dirty="0" smtClean="0">
              <a:solidFill>
                <a:srgbClr val="002060"/>
              </a:solidFill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4668" y="1052736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Сущность газовой сварки.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5568" y="1772816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4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При газопламенной сварки металлов в качестве источника теплоты используется газовое пламя 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ahoma" pitchFamily="34" charset="0"/>
              </a:rPr>
              <a:t>­–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 </a:t>
            </a:r>
            <a:r>
              <a:rPr kumimoji="0" 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пламя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 горючего газа, сжигаемого для этой цели в кислороде в специальных горелках. 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В качестве горючих газов используют ацетилен, водород, природные газы, нефтяной газ, пары бензина, керосина и др. Наиболее высокую температуру по сравнению с пламенем других газов имеет ацетиленокислородное пламя, поэтому оно нашло наибольшее применение. 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24744"/>
            <a:ext cx="8305800" cy="157278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Материалы, применяемые при газовой сварке.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2211343"/>
            <a:ext cx="287610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4000" b="1" i="0" u="none" strike="noStrike" cap="none" normalizeH="0" baseline="0" dirty="0" smtClean="0">
                <a:ln>
                  <a:noFill/>
                </a:ln>
                <a:solidFill>
                  <a:srgbClr val="004600"/>
                </a:solidFill>
                <a:effectLst/>
                <a:latin typeface="Georgia" pitchFamily="18" charset="0"/>
                <a:ea typeface="Times New Roman" pitchFamily="18" charset="0"/>
                <a:cs typeface="Tahoma" pitchFamily="34" charset="0"/>
              </a:rPr>
              <a:t>Кислород</a:t>
            </a:r>
            <a:endParaRPr kumimoji="0" lang="ru-RU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2924944"/>
            <a:ext cx="91440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4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Кислород при атмосферном давлении и обычной температуре газ без цвета и запаха, несколько тяжелее воздуха. При атмосферном давлении и температуре 20 гр. масса 1м3 кислород равен 1.33 кг. Сгорание горючих газов и паров горючих жидкостей в чистом виде кислороде происходит очень энергично с большой скоростью, а возникновение в зоне горения возникает высокая температура. 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323528" y="908720"/>
            <a:ext cx="8604448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4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Технический кислород добывают из атмосферного воздуха который подвергают обработке в воздухоразделительных установках, где он очищается от углекислоты и осушается от влаги.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Жидкий кислород хранят и перевозят в специальных сосудах с хорошей теплоизоляцией. Для сварки выпускают технический кислород трех сортов: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251520" y="3703385"/>
            <a:ext cx="9144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4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высшего, чистотой не ниже 99.5% 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1-ого сорта чистотой 99.2%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2-ого сорта чистотой 98.5% по объему.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Остаток 0.5-0.1% составляет азот и аргон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9100" y="908720"/>
            <a:ext cx="8305800" cy="108238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300" b="1" dirty="0" smtClean="0"/>
              <a:t>Ацетилен</a:t>
            </a:r>
            <a:r>
              <a:rPr lang="ru-RU" b="1" dirty="0" smtClean="0"/>
              <a:t>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0" y="1844824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4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В качестве горючего газа для газовой сварки получил распространение ацетилен соединение кислорода с водородом. При нормальной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to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 и давлением ацетилен находится в газообразном состоянии.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Ацетилен бесцветный газ. В нем присутствуют примеси сероводорода и аммиак.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Ацетилен есть взрывоопасный газ. Чистый ацетилен способен взрываться при избыточном давлении свыше 1.5 кгс/см</a:t>
            </a:r>
            <a:r>
              <a:rPr kumimoji="0" lang="ru-RU" sz="20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2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, при быстром нагревании до 450-500С. Смесь ацетилена с воздухом взрываться при атмосферном давлении, если в смеси содержится от 2.2 до 93% ацетилена по объему. Ацетилен для промышленных целей получают разложением жидких горючих действием электродугового разряда, а так же разложением карбида кальция водой.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Газы заменители ацетилена.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0" y="1916832"/>
            <a:ext cx="91440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4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При сварке металлов можно применять другие газы и пары жидкостей. Для эффективного нагрева и расплавления металла при сварке необходимо чтобы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t</a:t>
            </a:r>
            <a:r>
              <a:rPr kumimoji="0" lang="ru-RU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o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 пламени была примерно в два раза превышала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t</a:t>
            </a:r>
            <a:r>
              <a:rPr kumimoji="0" lang="ru-RU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o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 плавления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свариемого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 металла.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Для сгорания горючих различных газов требуется различное кол-во кислорода подаваемого в горелку.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Газы заменители ацетилена применяют во многих отраслях промышленности. Поэтому их производство и добыча в больших масштабах и они являются очень дешевыми, в этом их основное преимущество перед ацетиленом.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Вследствие более низкой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t</a:t>
            </a:r>
            <a:r>
              <a:rPr kumimoji="0" lang="ru-RU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o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 пламени этих газов применение их ограничено некоторыми процессами нагрева и плавления металлов.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При сварке же стали с пропаном или метаном приходится применять сварочную проволоку содержащею повышенное количество кремния и марганца, используемых в качестве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раскислителей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, а при сварке чугуна и цветных металлов использовать флюсы.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2004832"/>
          </a:xfrm>
        </p:spPr>
        <p:txBody>
          <a:bodyPr>
            <a:normAutofit fontScale="90000"/>
          </a:bodyPr>
          <a:lstStyle/>
          <a:p>
            <a:r>
              <a:rPr lang="ru-RU" sz="3100" dirty="0" smtClean="0"/>
              <a:t>Газы – заменители с низкой теплопроводной способностью неэкономично транспортировать в баллонах. Это ограничивает их применение для газопламенной обработки.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9512" y="2679001"/>
          <a:ext cx="8964489" cy="3744480"/>
        </p:xfrm>
        <a:graphic>
          <a:graphicData uri="http://schemas.openxmlformats.org/drawingml/2006/table">
            <a:tbl>
              <a:tblPr/>
              <a:tblGrid>
                <a:gridCol w="2964873"/>
                <a:gridCol w="2999808"/>
                <a:gridCol w="2999808"/>
              </a:tblGrid>
              <a:tr h="8695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ahoma"/>
                          <a:ea typeface="Times New Roman"/>
                          <a:cs typeface="Times New Roman"/>
                        </a:rPr>
                        <a:t>Горючие газы</a:t>
                      </a:r>
                      <a:endParaRPr lang="ru-RU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Температура пламени при сгорании в кислороде 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Коэффициент замены ацетилена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3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Ацетилен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3150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1,05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3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Водород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2400-2600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ahoma"/>
                          <a:ea typeface="Times New Roman"/>
                          <a:cs typeface="Times New Roman"/>
                        </a:rPr>
                        <a:t>5,2</a:t>
                      </a:r>
                      <a:endParaRPr lang="ru-RU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3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Метан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ahoma"/>
                          <a:ea typeface="Times New Roman"/>
                          <a:cs typeface="Times New Roman"/>
                        </a:rPr>
                        <a:t>2400-2500 </a:t>
                      </a:r>
                      <a:endParaRPr lang="ru-RU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1,6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3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Пропан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2700-2800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0,6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3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Пары керосина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ahoma"/>
                          <a:ea typeface="Times New Roman"/>
                          <a:cs typeface="Times New Roman"/>
                        </a:rPr>
                        <a:t>2400-2450</a:t>
                      </a:r>
                      <a:endParaRPr lang="ru-RU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ahoma"/>
                          <a:ea typeface="Times New Roman"/>
                          <a:cs typeface="Times New Roman"/>
                        </a:rPr>
                        <a:t>1-1,3</a:t>
                      </a:r>
                      <a:endParaRPr lang="ru-RU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769" name="Rectangle 1"/>
          <p:cNvSpPr>
            <a:spLocks noChangeArrowheads="1"/>
          </p:cNvSpPr>
          <p:nvPr/>
        </p:nvSpPr>
        <p:spPr bwMode="auto">
          <a:xfrm>
            <a:off x="2339752" y="1991598"/>
            <a:ext cx="561884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4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imes New Roman" pitchFamily="18" charset="0"/>
                <a:cs typeface="Tahoma" pitchFamily="34" charset="0"/>
              </a:rPr>
              <a:t>Таблица. Горючие газы для сварки и резки.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457200" y="764704"/>
            <a:ext cx="8305800" cy="108012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i="1" dirty="0" smtClean="0">
                <a:solidFill>
                  <a:srgbClr val="002060"/>
                </a:solidFill>
              </a:rPr>
              <a:t>Аппаратура и оборудование для газовой сварки</a:t>
            </a:r>
            <a:r>
              <a:rPr lang="ru-RU" sz="3100" b="1" i="1" dirty="0" smtClean="0">
                <a:solidFill>
                  <a:srgbClr val="002060"/>
                </a:solidFill>
              </a:rPr>
              <a:t>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294967295"/>
          </p:nvPr>
        </p:nvSpPr>
        <p:spPr>
          <a:xfrm>
            <a:off x="5102225" y="1125538"/>
            <a:ext cx="4041775" cy="5235575"/>
          </a:xfrm>
        </p:spPr>
        <p:txBody>
          <a:bodyPr/>
          <a:lstStyle/>
          <a:p>
            <a:r>
              <a:rPr lang="ru-RU" sz="2800" dirty="0" smtClean="0"/>
              <a:t>Баллоны представляют собой цилиндрические сосуды, предназначенные для хранения и транспортировки сжатых, растворенных и сжиженных газов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 smtClean="0"/>
          </a:p>
          <a:p>
            <a:endParaRPr lang="ru-RU" dirty="0"/>
          </a:p>
        </p:txBody>
      </p:sp>
      <p:pic>
        <p:nvPicPr>
          <p:cNvPr id="7" name="Picture 8" descr="C:\Users\Администратор\Desktop\4235.jpg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96975"/>
            <a:ext cx="4032250" cy="538003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sz="half" idx="1"/>
          </p:nvPr>
        </p:nvSpPr>
        <p:spPr>
          <a:xfrm>
            <a:off x="4355976" y="1052736"/>
            <a:ext cx="4330824" cy="5195664"/>
          </a:xfrm>
        </p:spPr>
        <p:txBody>
          <a:bodyPr/>
          <a:lstStyle/>
          <a:p>
            <a:r>
              <a:rPr lang="ru-RU" dirty="0" smtClean="0">
                <a:solidFill>
                  <a:srgbClr val="002060"/>
                </a:solidFill>
              </a:rPr>
              <a:t/>
            </a:r>
            <a:br>
              <a:rPr lang="ru-RU" dirty="0" smtClean="0">
                <a:solidFill>
                  <a:srgbClr val="002060"/>
                </a:solidFill>
              </a:rPr>
            </a:br>
            <a:r>
              <a:rPr lang="ru-RU" dirty="0" smtClean="0">
                <a:solidFill>
                  <a:srgbClr val="002060"/>
                </a:solidFill>
              </a:rPr>
              <a:t>    Изготавливаются баллоны из бесшовных труб углеродистой и легированной стали</a:t>
            </a:r>
            <a:endParaRPr lang="ru-RU" dirty="0"/>
          </a:p>
        </p:txBody>
      </p:sp>
      <p:pic>
        <p:nvPicPr>
          <p:cNvPr id="6" name="Picture 7" descr="http://www.invertora.ru/image/cache/data/Telezhka-dlya-ballonov-TB-02-500x500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12776"/>
            <a:ext cx="4283968" cy="4720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851920" y="1484784"/>
            <a:ext cx="5111750" cy="4572000"/>
          </a:xfrm>
        </p:spPr>
        <p:txBody>
          <a:bodyPr/>
          <a:lstStyle/>
          <a:p>
            <a:r>
              <a:rPr lang="ru-RU" dirty="0" smtClean="0"/>
              <a:t>Наибольшее распространение для сжатых (кислорода, водорода) и растворенных газов (ацетилена) получили баллоны объемом 40 дм</a:t>
            </a:r>
            <a:r>
              <a:rPr lang="ru-RU" baseline="30000" dirty="0" smtClean="0"/>
              <a:t>3</a:t>
            </a:r>
            <a:r>
              <a:rPr lang="ru-RU" dirty="0" smtClean="0"/>
              <a:t>, имеющие наружный диаметр 219 мм, высоту 1390 мм</a:t>
            </a:r>
          </a:p>
          <a:p>
            <a:endParaRPr lang="ru-RU" dirty="0"/>
          </a:p>
        </p:txBody>
      </p:sp>
      <p:pic>
        <p:nvPicPr>
          <p:cNvPr id="5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1560" y="980728"/>
            <a:ext cx="3168352" cy="512221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539552" y="332656"/>
            <a:ext cx="8147248" cy="273630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ru-RU" dirty="0" smtClean="0"/>
              <a:t>В верхней неокрашенной части баллона выбиваются его паспортные данные. Пример паспортных данных кислородного баллона представлен на рисунке.</a:t>
            </a:r>
          </a:p>
          <a:p>
            <a:pPr>
              <a:lnSpc>
                <a:spcPct val="90000"/>
              </a:lnSpc>
            </a:pPr>
            <a:r>
              <a:rPr lang="ru-RU" dirty="0" smtClean="0"/>
              <a:t>согласно правилам надзорных</a:t>
            </a:r>
            <a:br>
              <a:rPr lang="ru-RU" dirty="0" smtClean="0"/>
            </a:br>
            <a:r>
              <a:rPr lang="ru-RU" dirty="0" smtClean="0"/>
              <a:t>органов (Госгортехнадзора), не реже чем один раз в 5 лет баллоны должны подвергаться освидетельствованию, о чем делается отметка в паспортных данных на баллоне.</a:t>
            </a:r>
            <a:br>
              <a:rPr lang="ru-RU" dirty="0" smtClean="0"/>
            </a:br>
            <a:endParaRPr lang="ru-RU" dirty="0" smtClean="0"/>
          </a:p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259632" y="5589240"/>
            <a:ext cx="6804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dirty="0" smtClean="0">
                <a:solidFill>
                  <a:srgbClr val="FF0000"/>
                </a:solidFill>
              </a:rPr>
              <a:t>использовать для работы баллоны с</a:t>
            </a:r>
            <a:br>
              <a:rPr lang="ru-RU" b="1" dirty="0" smtClean="0">
                <a:solidFill>
                  <a:srgbClr val="FF0000"/>
                </a:solidFill>
              </a:rPr>
            </a:br>
            <a:r>
              <a:rPr lang="ru-RU" b="1" dirty="0" smtClean="0">
                <a:solidFill>
                  <a:srgbClr val="FF0000"/>
                </a:solidFill>
              </a:rPr>
              <a:t>просроченной датой освидетельствования запрещается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979952" y="2564904"/>
            <a:ext cx="7316788" cy="38884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5400" b="1" dirty="0" smtClean="0"/>
              <a:t>Баллоны для кислорода</a:t>
            </a:r>
            <a:r>
              <a:rPr lang="ru-RU" sz="5400" dirty="0" smtClean="0"/>
              <a:t/>
            </a:r>
            <a:br>
              <a:rPr lang="ru-RU" sz="5400" dirty="0" smtClean="0"/>
            </a:b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39552" y="1196753"/>
            <a:ext cx="8280920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2400" dirty="0" smtClean="0"/>
              <a:t>Баллоны для технического</a:t>
            </a:r>
            <a:br>
              <a:rPr lang="ru-RU" sz="2400" dirty="0" smtClean="0"/>
            </a:br>
            <a:r>
              <a:rPr lang="ru-RU" sz="2400" dirty="0" smtClean="0"/>
              <a:t>кислорода окрашиваются в </a:t>
            </a:r>
            <a:r>
              <a:rPr lang="ru-RU" sz="2400" b="1" dirty="0" smtClean="0"/>
              <a:t>голубой </a:t>
            </a:r>
            <a:r>
              <a:rPr lang="ru-RU" sz="2400" dirty="0" smtClean="0"/>
              <a:t>цвет и имеют надпись черной краской </a:t>
            </a:r>
            <a:r>
              <a:rPr lang="ru-RU" sz="2400" b="1" dirty="0" smtClean="0"/>
              <a:t>«кислород»</a:t>
            </a:r>
            <a:br>
              <a:rPr lang="ru-RU" sz="2400" b="1" dirty="0" smtClean="0"/>
            </a:br>
            <a:endParaRPr lang="ru-RU" sz="2400" dirty="0" smtClean="0"/>
          </a:p>
          <a:p>
            <a:pPr>
              <a:lnSpc>
                <a:spcPct val="80000"/>
              </a:lnSpc>
            </a:pPr>
            <a:r>
              <a:rPr lang="ru-RU" sz="2400" dirty="0" smtClean="0"/>
              <a:t>Корпус кислородного баллона имеет выпуклое днище, на которое в нижней части насажен      </a:t>
            </a:r>
            <a:r>
              <a:rPr lang="ru-RU" sz="2400" b="1" dirty="0" smtClean="0"/>
              <a:t>башмак</a:t>
            </a:r>
          </a:p>
        </p:txBody>
      </p:sp>
      <p:pic>
        <p:nvPicPr>
          <p:cNvPr id="7" name="Рисунок 6" descr="Газовые баллоны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77072"/>
            <a:ext cx="6066790" cy="210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660232" y="3068960"/>
            <a:ext cx="2084388" cy="35194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851920" y="908720"/>
            <a:ext cx="5111750" cy="5699720"/>
          </a:xfrm>
        </p:spPr>
        <p:txBody>
          <a:bodyPr>
            <a:normAutofit fontScale="92500" lnSpcReduction="10000"/>
          </a:bodyPr>
          <a:lstStyle/>
          <a:p>
            <a:r>
              <a:rPr lang="ru-RU" sz="3200" dirty="0" smtClean="0">
                <a:solidFill>
                  <a:srgbClr val="002060"/>
                </a:solidFill>
              </a:rPr>
              <a:t>При</a:t>
            </a:r>
            <a:br>
              <a:rPr lang="ru-RU" sz="3200" dirty="0" smtClean="0">
                <a:solidFill>
                  <a:srgbClr val="002060"/>
                </a:solidFill>
              </a:rPr>
            </a:br>
            <a:r>
              <a:rPr lang="ru-RU" sz="3200" dirty="0" smtClean="0">
                <a:solidFill>
                  <a:srgbClr val="002060"/>
                </a:solidFill>
              </a:rPr>
              <a:t>температуре 20°С при полной заправке баллона кислород находится под давлением 15,0 МПа (150 кгс/см</a:t>
            </a:r>
            <a:r>
              <a:rPr lang="ru-RU" sz="3200" baseline="30000" dirty="0" smtClean="0">
                <a:solidFill>
                  <a:srgbClr val="002060"/>
                </a:solidFill>
              </a:rPr>
              <a:t>2</a:t>
            </a:r>
            <a:r>
              <a:rPr lang="ru-RU" sz="3200" dirty="0" smtClean="0">
                <a:solidFill>
                  <a:srgbClr val="002060"/>
                </a:solidFill>
              </a:rPr>
              <a:t>). При этих условиях баллон содержит около 6 м</a:t>
            </a:r>
            <a:r>
              <a:rPr lang="ru-RU" sz="3200" baseline="30000" dirty="0" smtClean="0">
                <a:solidFill>
                  <a:srgbClr val="002060"/>
                </a:solidFill>
              </a:rPr>
              <a:t>3</a:t>
            </a:r>
            <a:r>
              <a:rPr lang="ru-RU" sz="3200" dirty="0" smtClean="0">
                <a:solidFill>
                  <a:srgbClr val="002060"/>
                </a:solidFill>
              </a:rPr>
              <a:t> газа.</a:t>
            </a:r>
          </a:p>
          <a:p>
            <a:r>
              <a:rPr lang="ru-RU" sz="3200" dirty="0" smtClean="0">
                <a:solidFill>
                  <a:srgbClr val="002060"/>
                </a:solidFill>
              </a:rPr>
              <a:t>Испытательное давление</a:t>
            </a:r>
          </a:p>
          <a:p>
            <a:r>
              <a:rPr lang="ru-RU" sz="3200" dirty="0" smtClean="0">
                <a:solidFill>
                  <a:srgbClr val="002060"/>
                </a:solidFill>
              </a:rPr>
              <a:t>кислородного  баллона составляет 22,5 МПа</a:t>
            </a:r>
            <a:br>
              <a:rPr lang="ru-RU" sz="3200" dirty="0" smtClean="0">
                <a:solidFill>
                  <a:srgbClr val="002060"/>
                </a:solidFill>
              </a:rPr>
            </a:br>
            <a:endParaRPr lang="ru-RU" sz="3200" dirty="0" smtClean="0">
              <a:solidFill>
                <a:srgbClr val="002060"/>
              </a:solidFill>
            </a:endParaRPr>
          </a:p>
          <a:p>
            <a:endParaRPr lang="ru-RU" dirty="0"/>
          </a:p>
        </p:txBody>
      </p:sp>
      <p:pic>
        <p:nvPicPr>
          <p:cNvPr id="6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1520" y="1124744"/>
            <a:ext cx="3600400" cy="46085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8458200" cy="1162050"/>
          </a:xfrm>
        </p:spPr>
        <p:txBody>
          <a:bodyPr/>
          <a:lstStyle/>
          <a:p>
            <a:r>
              <a:rPr lang="ru-RU" b="1" i="1" dirty="0" smtClean="0">
                <a:solidFill>
                  <a:srgbClr val="002060"/>
                </a:solidFill>
              </a:rPr>
              <a:t>Вентиль-это запорное устройство , служащее для наполнения баллонов газом, подачи газа в горелку или резак и позволяет сохранять в баллоне газы.</a:t>
            </a:r>
            <a:endParaRPr lang="ru-RU" b="1" i="1" dirty="0">
              <a:solidFill>
                <a:srgbClr val="00206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Вентиль для кислородного баллона изготавливается из</a:t>
            </a:r>
            <a:br>
              <a:rPr lang="ru-RU" dirty="0" smtClean="0"/>
            </a:br>
            <a:r>
              <a:rPr lang="ru-RU" dirty="0" smtClean="0"/>
              <a:t>латуни, так как сталь сильно коррозирует в кислороде и,</a:t>
            </a:r>
            <a:br>
              <a:rPr lang="ru-RU" dirty="0" smtClean="0"/>
            </a:br>
            <a:r>
              <a:rPr lang="ru-RU" dirty="0" smtClean="0"/>
              <a:t>кроме того, при прохождении инородных частиц (окалины, песка и т.п.) с кислородом под высоким давлением через стальной вентиль может возникнуть искра.</a:t>
            </a:r>
            <a:br>
              <a:rPr lang="ru-RU" dirty="0" smtClean="0"/>
            </a:br>
            <a:endParaRPr lang="ru-RU" dirty="0" smtClean="0"/>
          </a:p>
          <a:p>
            <a:endParaRPr lang="ru-RU" dirty="0"/>
          </a:p>
        </p:txBody>
      </p:sp>
      <p:pic>
        <p:nvPicPr>
          <p:cNvPr id="5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3568" y="1628800"/>
            <a:ext cx="2843213" cy="46101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827584" y="1052736"/>
            <a:ext cx="7630616" cy="466376"/>
          </a:xfrm>
        </p:spPr>
        <p:txBody>
          <a:bodyPr/>
          <a:lstStyle/>
          <a:p>
            <a:r>
              <a:rPr lang="ru-RU" sz="5400" b="1" dirty="0" smtClean="0"/>
              <a:t>Баллоны для ацетилена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smtClean="0"/>
              <a:t>Баллоны для ацетилена окрашиваются в белый цвет.</a:t>
            </a:r>
            <a:endParaRPr lang="ru-RU" dirty="0"/>
          </a:p>
        </p:txBody>
      </p:sp>
      <p:pic>
        <p:nvPicPr>
          <p:cNvPr id="8" name="Рисунок 7" descr="Ацетиленовые баллоны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844824"/>
            <a:ext cx="2952328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Прямоугольник 8"/>
          <p:cNvSpPr/>
          <p:nvPr/>
        </p:nvSpPr>
        <p:spPr>
          <a:xfrm>
            <a:off x="3563888" y="2852936"/>
            <a:ext cx="4572000" cy="2726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2800" dirty="0" smtClean="0"/>
              <a:t>Баллоны имеют наружный диаметр 219 мм, высоту 1390 мм и массу от 80 до 87 кг. Используются также баллоны, имеющие сварные корпуса, их масса составляет примерно 65 кг.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620688"/>
            <a:ext cx="5111750" cy="562771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ru-RU" dirty="0" smtClean="0"/>
              <a:t>Ацетиленовый баллон состоит из </a:t>
            </a:r>
            <a:r>
              <a:rPr lang="ru-RU" b="1" dirty="0" smtClean="0"/>
              <a:t>корпуса, </a:t>
            </a:r>
            <a:r>
              <a:rPr lang="ru-RU" dirty="0" smtClean="0"/>
              <a:t>на нижнюю часть</a:t>
            </a:r>
            <a:br>
              <a:rPr lang="ru-RU" dirty="0" smtClean="0"/>
            </a:br>
            <a:r>
              <a:rPr lang="ru-RU" dirty="0" smtClean="0"/>
              <a:t>которого напрессован </a:t>
            </a:r>
            <a:r>
              <a:rPr lang="ru-RU" b="1" dirty="0" smtClean="0"/>
              <a:t>башмак.</a:t>
            </a:r>
            <a:br>
              <a:rPr lang="ru-RU" b="1" dirty="0" smtClean="0"/>
            </a:br>
            <a:r>
              <a:rPr lang="ru-RU" dirty="0" smtClean="0"/>
              <a:t>На горловину баллона насаживается кольцо, имеющее наружную резьбу, с помощью которой крепится защитный колпак. В горловину баллона ввернут вентиль.</a:t>
            </a:r>
          </a:p>
          <a:p>
            <a:pPr>
              <a:lnSpc>
                <a:spcPct val="90000"/>
              </a:lnSpc>
            </a:pPr>
            <a:r>
              <a:rPr lang="ru-RU" dirty="0" smtClean="0"/>
              <a:t>Внутри баллон для ацетилена</a:t>
            </a:r>
            <a:br>
              <a:rPr lang="ru-RU" dirty="0" smtClean="0"/>
            </a:br>
            <a:r>
              <a:rPr lang="ru-RU" dirty="0" smtClean="0"/>
              <a:t>заполнен </a:t>
            </a:r>
            <a:r>
              <a:rPr lang="ru-RU" b="1" dirty="0" smtClean="0"/>
              <a:t>пористой массой </a:t>
            </a:r>
            <a:r>
              <a:rPr lang="ru-RU" dirty="0" smtClean="0"/>
              <a:t>из древесного активированного угля или наполнителем другого состава (литая пористая масса ЛПМ). Пористую массу пропитывают ацетоном.</a:t>
            </a:r>
          </a:p>
          <a:p>
            <a:endParaRPr lang="ru-RU" dirty="0"/>
          </a:p>
        </p:txBody>
      </p:sp>
      <p:pic>
        <p:nvPicPr>
          <p:cNvPr id="5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528" y="548680"/>
            <a:ext cx="3173661" cy="5819899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620688"/>
            <a:ext cx="5111750" cy="562771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ru-RU" dirty="0" smtClean="0"/>
              <a:t>Давление в наполненном ацетиленом баллоне существенно зависит от температуры баллона и может изменяться от</a:t>
            </a:r>
            <a:br>
              <a:rPr lang="ru-RU" dirty="0" smtClean="0"/>
            </a:br>
            <a:r>
              <a:rPr lang="ru-RU" dirty="0" smtClean="0"/>
              <a:t>1,34 МПа (13,4 кгс/см</a:t>
            </a:r>
            <a:r>
              <a:rPr lang="ru-RU" baseline="30000" dirty="0" smtClean="0"/>
              <a:t>2</a:t>
            </a:r>
            <a:r>
              <a:rPr lang="ru-RU" dirty="0" smtClean="0"/>
              <a:t>) при температуре -5°С до 3,0 МПа (30 кгс/см</a:t>
            </a:r>
            <a:r>
              <a:rPr lang="ru-RU" baseline="30000" dirty="0" smtClean="0"/>
              <a:t>2</a:t>
            </a:r>
            <a:r>
              <a:rPr lang="ru-RU" dirty="0" smtClean="0"/>
              <a:t>) при 40°С. При температуре баллона 20°С давление составляет 1,9 МПа (19 кгс/см</a:t>
            </a:r>
            <a:r>
              <a:rPr lang="ru-RU" baseline="30000" dirty="0" smtClean="0"/>
              <a:t>2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В баллоне объемом 40 дм</a:t>
            </a:r>
            <a:r>
              <a:rPr lang="ru-RU" baseline="30000" dirty="0" smtClean="0"/>
              <a:t>3</a:t>
            </a:r>
            <a:r>
              <a:rPr lang="ru-RU" dirty="0" smtClean="0"/>
              <a:t> находится примерно 5,0 м</a:t>
            </a:r>
            <a:r>
              <a:rPr lang="ru-RU" baseline="30000" dirty="0" smtClean="0"/>
              <a:t>3</a:t>
            </a:r>
            <a:r>
              <a:rPr lang="ru-RU" dirty="0" smtClean="0"/>
              <a:t> ацетилена (с насыпной пористой массой) или 7 м</a:t>
            </a:r>
            <a:r>
              <a:rPr lang="ru-RU" baseline="30000" dirty="0" smtClean="0"/>
              <a:t>3</a:t>
            </a:r>
            <a:r>
              <a:rPr lang="ru-RU" dirty="0" smtClean="0"/>
              <a:t> ацетилена (с литой пористой массой).</a:t>
            </a:r>
            <a:r>
              <a:rPr lang="ru-RU" dirty="0" smtClean="0">
                <a:solidFill>
                  <a:srgbClr val="002060"/>
                </a:solidFill>
              </a:rPr>
              <a:t> Испытательное давление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кислородного  баллона составляет 3,8 МПа</a:t>
            </a:r>
            <a:endParaRPr lang="ru-RU" dirty="0" smtClean="0"/>
          </a:p>
          <a:p>
            <a:endParaRPr lang="ru-RU" dirty="0"/>
          </a:p>
        </p:txBody>
      </p:sp>
      <p:pic>
        <p:nvPicPr>
          <p:cNvPr id="5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1340768"/>
            <a:ext cx="3490144" cy="4464496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smtClean="0"/>
              <a:t>Конструкция вентиля ацетиленового баллона существенно отличается от других вентилей: </a:t>
            </a:r>
            <a:br>
              <a:rPr lang="ru-RU" dirty="0" smtClean="0"/>
            </a:br>
            <a:r>
              <a:rPr lang="ru-RU" dirty="0" smtClean="0"/>
              <a:t>его корпус и другие детали изготавливают из стали, вентиль не имеет </a:t>
            </a:r>
            <a:r>
              <a:rPr lang="ru-RU" dirty="0" err="1" smtClean="0"/>
              <a:t>маховичка</a:t>
            </a:r>
            <a:r>
              <a:rPr lang="ru-RU" dirty="0" smtClean="0"/>
              <a:t> и штуцера для подсоединения газового редуктора.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5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9552" y="1484784"/>
            <a:ext cx="2952328" cy="4865936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908720"/>
            <a:ext cx="5111750" cy="5339680"/>
          </a:xfrm>
        </p:spPr>
        <p:txBody>
          <a:bodyPr/>
          <a:lstStyle/>
          <a:p>
            <a:r>
              <a:rPr lang="ru-RU" dirty="0" smtClean="0"/>
              <a:t>Для подключения газового редуктора в корпусе вентиля</a:t>
            </a:r>
            <a:br>
              <a:rPr lang="ru-RU" dirty="0" smtClean="0"/>
            </a:br>
            <a:r>
              <a:rPr lang="ru-RU" dirty="0" smtClean="0"/>
              <a:t>имеется проточка с уплотнительной кожаной </a:t>
            </a:r>
            <a:r>
              <a:rPr lang="ru-RU" b="1" dirty="0" smtClean="0"/>
              <a:t>прокладкой.</a:t>
            </a:r>
          </a:p>
          <a:p>
            <a:r>
              <a:rPr lang="ru-RU" dirty="0" smtClean="0"/>
              <a:t>Выход газа из баллона осуществляется при вращении </a:t>
            </a:r>
            <a:r>
              <a:rPr lang="ru-RU" b="1" dirty="0" smtClean="0"/>
              <a:t>шпинделя против </a:t>
            </a:r>
            <a:r>
              <a:rPr lang="ru-RU" dirty="0" smtClean="0"/>
              <a:t>часовой стрелки</a:t>
            </a:r>
            <a:endParaRPr lang="ru-RU" dirty="0"/>
          </a:p>
        </p:txBody>
      </p:sp>
      <p:pic>
        <p:nvPicPr>
          <p:cNvPr id="7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71600" y="1628800"/>
            <a:ext cx="2376264" cy="1335088"/>
          </a:xfrm>
          <a:noFill/>
        </p:spPr>
      </p:pic>
      <p:pic>
        <p:nvPicPr>
          <p:cNvPr id="8" name="Picture 7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971600" y="3501008"/>
            <a:ext cx="2255838" cy="2598738"/>
          </a:xfrm>
          <a:noFill/>
        </p:spPr>
      </p:pic>
      <p:pic>
        <p:nvPicPr>
          <p:cNvPr id="11" name="Picture 7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15616" y="3501008"/>
            <a:ext cx="2255838" cy="2598738"/>
          </a:xfrm>
          <a:noFill/>
        </p:spPr>
      </p:pic>
      <p:pic>
        <p:nvPicPr>
          <p:cNvPr id="12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000100" y="3500438"/>
            <a:ext cx="2255838" cy="259873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357166"/>
            <a:ext cx="8305800" cy="114300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Правила использования ацетиленового баллона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4294967295"/>
          </p:nvPr>
        </p:nvSpPr>
        <p:spPr>
          <a:xfrm>
            <a:off x="2786050" y="1571612"/>
            <a:ext cx="6000792" cy="428628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ru-RU" dirty="0" smtClean="0"/>
              <a:t>для того</a:t>
            </a:r>
            <a:br>
              <a:rPr lang="ru-RU" dirty="0" smtClean="0"/>
            </a:br>
            <a:r>
              <a:rPr lang="ru-RU" dirty="0" smtClean="0"/>
              <a:t>чтобы уменьшить потери ацетона при расходе ацетилена из</a:t>
            </a:r>
            <a:br>
              <a:rPr lang="ru-RU" dirty="0" smtClean="0"/>
            </a:br>
            <a:r>
              <a:rPr lang="ru-RU" dirty="0" smtClean="0"/>
              <a:t>баллона, необходимо соблюдать</a:t>
            </a:r>
            <a:br>
              <a:rPr lang="ru-RU" dirty="0" smtClean="0"/>
            </a:br>
            <a:r>
              <a:rPr lang="ru-RU" dirty="0" smtClean="0"/>
              <a:t>следующие правила:</a:t>
            </a:r>
          </a:p>
          <a:p>
            <a:pPr>
              <a:lnSpc>
                <a:spcPct val="80000"/>
              </a:lnSpc>
              <a:buNone/>
            </a:pPr>
            <a:r>
              <a:rPr lang="ru-RU" dirty="0" smtClean="0"/>
              <a:t>	—	баллон должен располагаться вертикально</a:t>
            </a:r>
          </a:p>
          <a:p>
            <a:pPr>
              <a:lnSpc>
                <a:spcPct val="80000"/>
              </a:lnSpc>
              <a:buNone/>
            </a:pPr>
            <a:r>
              <a:rPr lang="ru-RU" dirty="0" smtClean="0"/>
              <a:t>	—	расход ацетилена не должен превышать 1,5 м</a:t>
            </a:r>
            <a:r>
              <a:rPr lang="ru-RU" baseline="30000" dirty="0" smtClean="0"/>
              <a:t>3</a:t>
            </a:r>
            <a:r>
              <a:rPr lang="ru-RU" dirty="0" smtClean="0"/>
              <a:t>/ч</a:t>
            </a:r>
          </a:p>
          <a:p>
            <a:pPr>
              <a:lnSpc>
                <a:spcPct val="80000"/>
              </a:lnSpc>
            </a:pPr>
            <a:r>
              <a:rPr lang="ru-RU" dirty="0" smtClean="0"/>
              <a:t>По окончании работ следует</a:t>
            </a:r>
            <a:br>
              <a:rPr lang="ru-RU" dirty="0" smtClean="0"/>
            </a:br>
            <a:r>
              <a:rPr lang="ru-RU" dirty="0" smtClean="0"/>
              <a:t>оставлять в баллоне остаточное</a:t>
            </a:r>
            <a:br>
              <a:rPr lang="ru-RU" dirty="0" smtClean="0"/>
            </a:br>
            <a:r>
              <a:rPr lang="ru-RU" dirty="0" smtClean="0"/>
              <a:t>давление не менее 0,05 МПа</a:t>
            </a:r>
            <a:br>
              <a:rPr lang="ru-RU" dirty="0" smtClean="0"/>
            </a:br>
            <a:r>
              <a:rPr lang="ru-RU" dirty="0" smtClean="0"/>
              <a:t>(0,5 кгс/см</a:t>
            </a:r>
            <a:r>
              <a:rPr lang="ru-RU" baseline="30000" dirty="0" smtClean="0"/>
              <a:t>2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0" y="1785926"/>
            <a:ext cx="2903538" cy="3513138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285720" y="5715016"/>
            <a:ext cx="77153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rgbClr val="FF0000"/>
                </a:solidFill>
              </a:rPr>
              <a:t>При получении ацетиленовых баллонов со склада необходимо проверить наличие клеймения паспортных данных и даты освидетельствования</a:t>
            </a:r>
            <a:endParaRPr lang="ru-RU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65334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400" b="1" dirty="0" smtClean="0"/>
              <a:t>Баллоны для сжиженных газов</a:t>
            </a:r>
            <a:br>
              <a:rPr lang="ru-RU" sz="5400" b="1" dirty="0" smtClean="0"/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357818" y="2000240"/>
            <a:ext cx="300039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Баллоны для сжиженных газов (пропан, бутан и их смеси) окрашиваются в </a:t>
            </a:r>
            <a:r>
              <a:rPr lang="ru-RU" b="1" dirty="0" smtClean="0"/>
              <a:t>красный </a:t>
            </a:r>
            <a:r>
              <a:rPr lang="ru-RU" dirty="0" smtClean="0"/>
              <a:t>цвет с надписью белой краской названия газа </a:t>
            </a:r>
            <a:r>
              <a:rPr lang="ru-RU" b="1" dirty="0" smtClean="0"/>
              <a:t>(пропан, пропан-бутан </a:t>
            </a:r>
            <a:r>
              <a:rPr lang="ru-RU" dirty="0" smtClean="0"/>
              <a:t>и т.д.).</a:t>
            </a:r>
          </a:p>
          <a:p>
            <a:r>
              <a:rPr lang="ru-RU" dirty="0" smtClean="0"/>
              <a:t>Баллоны для сжиженных газов изготавливают из листовой стали толщиной 2 и 3 мм. Наиболее часто используются баллоны объемом 40 и 50 дм</a:t>
            </a:r>
            <a:r>
              <a:rPr lang="ru-RU" baseline="30000" dirty="0" smtClean="0"/>
              <a:t>3</a:t>
            </a:r>
            <a:r>
              <a:rPr lang="ru-RU" dirty="0" smtClean="0"/>
              <a:t>.</a:t>
            </a:r>
          </a:p>
        </p:txBody>
      </p:sp>
      <p:pic>
        <p:nvPicPr>
          <p:cNvPr id="4" name="Рисунок 3" descr="Пропановые баллоны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1643050"/>
            <a:ext cx="3786214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357686" y="1142984"/>
            <a:ext cx="3571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давление в полностью заправленном баллоне с</a:t>
            </a:r>
            <a:br>
              <a:rPr lang="ru-RU" sz="2400" dirty="0" smtClean="0"/>
            </a:br>
            <a:r>
              <a:rPr lang="ru-RU" sz="2400" dirty="0" smtClean="0"/>
              <a:t> </a:t>
            </a:r>
            <a:r>
              <a:rPr lang="ru-RU" sz="2400" dirty="0" err="1" smtClean="0"/>
              <a:t>пропан-бутаном</a:t>
            </a:r>
            <a:r>
              <a:rPr lang="ru-RU" sz="2400" dirty="0" smtClean="0"/>
              <a:t> при</a:t>
            </a:r>
            <a:br>
              <a:rPr lang="ru-RU" sz="2400" dirty="0" smtClean="0"/>
            </a:br>
            <a:r>
              <a:rPr lang="ru-RU" sz="2400" dirty="0" smtClean="0"/>
              <a:t>температуре 20°С составляет 1,6 МПа (16 кгс/см</a:t>
            </a:r>
            <a:r>
              <a:rPr lang="ru-RU" sz="2400" baseline="30000" dirty="0" smtClean="0"/>
              <a:t>2</a:t>
            </a:r>
            <a:r>
              <a:rPr lang="ru-RU" sz="2400" dirty="0" smtClean="0"/>
              <a:t>); максимальный отбор газа из баллона не должен превышать 0,6 м</a:t>
            </a:r>
            <a:r>
              <a:rPr lang="ru-RU" sz="2400" baseline="30000" dirty="0" smtClean="0"/>
              <a:t>3</a:t>
            </a:r>
            <a:r>
              <a:rPr lang="ru-RU" sz="2400" dirty="0" smtClean="0"/>
              <a:t>/ч</a:t>
            </a:r>
            <a:endParaRPr lang="ru-RU" sz="2400" dirty="0"/>
          </a:p>
        </p:txBody>
      </p:sp>
      <p:pic>
        <p:nvPicPr>
          <p:cNvPr id="4" name="Picture 1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214422"/>
            <a:ext cx="359092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3995936" y="4786322"/>
            <a:ext cx="43622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rgbClr val="002060"/>
                </a:solidFill>
              </a:rPr>
              <a:t>Испытательное давление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кислородного  баллона 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составляет 3,2МПа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580400" y="631974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Вентиль для баллона сжиженных газов 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4294967295"/>
          </p:nvPr>
        </p:nvSpPr>
        <p:spPr>
          <a:xfrm>
            <a:off x="5077671" y="2132856"/>
            <a:ext cx="4038600" cy="5143516"/>
          </a:xfrm>
        </p:spPr>
        <p:txBody>
          <a:bodyPr>
            <a:normAutofit fontScale="32500" lnSpcReduction="20000"/>
          </a:bodyPr>
          <a:lstStyle/>
          <a:p>
            <a:r>
              <a:rPr lang="ru-RU" sz="6000" dirty="0" smtClean="0"/>
              <a:t>Вентиль состоит из </a:t>
            </a:r>
            <a:r>
              <a:rPr lang="ru-RU" sz="6000" b="1" dirty="0" smtClean="0"/>
              <a:t>корпуса,</a:t>
            </a:r>
            <a:br>
              <a:rPr lang="ru-RU" sz="6000" b="1" dirty="0" smtClean="0"/>
            </a:br>
            <a:r>
              <a:rPr lang="ru-RU" sz="6000" dirty="0" smtClean="0"/>
              <a:t>в который закручивается </a:t>
            </a:r>
            <a:r>
              <a:rPr lang="ru-RU" sz="6000" b="1" dirty="0" smtClean="0"/>
              <a:t>шпиндель </a:t>
            </a:r>
            <a:r>
              <a:rPr lang="ru-RU" sz="6000" dirty="0" smtClean="0"/>
              <a:t>с </a:t>
            </a:r>
            <a:r>
              <a:rPr lang="ru-RU" sz="6000" b="1" dirty="0" smtClean="0"/>
              <a:t>клапаном. </a:t>
            </a:r>
            <a:r>
              <a:rPr lang="ru-RU" sz="6000" dirty="0" smtClean="0"/>
              <a:t>Герметичность клапана достигается благодаря резиновому </a:t>
            </a:r>
            <a:r>
              <a:rPr lang="ru-RU" sz="6000" b="1" dirty="0" smtClean="0"/>
              <a:t>ниппелю,</a:t>
            </a:r>
            <a:br>
              <a:rPr lang="ru-RU" sz="6000" b="1" dirty="0" smtClean="0"/>
            </a:br>
            <a:r>
              <a:rPr lang="ru-RU" sz="6000" dirty="0" smtClean="0"/>
              <a:t>надетому на шпиндель. Ниппель зажимается сальниковой </a:t>
            </a:r>
            <a:r>
              <a:rPr lang="ru-RU" sz="6000" b="1" dirty="0" smtClean="0"/>
              <a:t>гайкой.</a:t>
            </a:r>
            <a:br>
              <a:rPr lang="ru-RU" sz="6000" b="1" dirty="0" smtClean="0"/>
            </a:br>
            <a:r>
              <a:rPr lang="ru-RU" sz="6000" b="1" dirty="0" smtClean="0"/>
              <a:t> </a:t>
            </a:r>
            <a:r>
              <a:rPr lang="ru-RU" sz="6000" dirty="0" smtClean="0"/>
              <a:t>Клапан открывается (или</a:t>
            </a:r>
            <a:br>
              <a:rPr lang="ru-RU" sz="6000" dirty="0" smtClean="0"/>
            </a:br>
            <a:r>
              <a:rPr lang="ru-RU" sz="6000" dirty="0" smtClean="0"/>
              <a:t>закрывается) при вращении </a:t>
            </a:r>
            <a:r>
              <a:rPr lang="ru-RU" sz="6000" b="1" dirty="0" err="1" smtClean="0"/>
              <a:t>маховичка</a:t>
            </a:r>
            <a:r>
              <a:rPr lang="ru-RU" sz="6000" b="1" dirty="0" smtClean="0"/>
              <a:t> </a:t>
            </a:r>
            <a:r>
              <a:rPr lang="ru-RU" sz="6000" dirty="0" smtClean="0"/>
              <a:t>против (или по) часовой стрелке. </a:t>
            </a:r>
            <a:r>
              <a:rPr lang="ru-RU" sz="6000" dirty="0" err="1" smtClean="0"/>
              <a:t>Маховичок</a:t>
            </a:r>
            <a:r>
              <a:rPr lang="ru-RU" sz="6000" dirty="0" smtClean="0"/>
              <a:t> надет на шпиндель и закреплен усилием пружины, удерживаемой гайкой</a:t>
            </a:r>
          </a:p>
          <a:p>
            <a:endParaRPr lang="ru-RU" dirty="0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80400" y="1774974"/>
            <a:ext cx="3357586" cy="50536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5400" b="1" dirty="0" smtClean="0"/>
              <a:t>Технический осмотр</a:t>
            </a:r>
            <a:r>
              <a:rPr lang="ru-RU" sz="5400" dirty="0" smtClean="0"/>
              <a:t/>
            </a:r>
            <a:br>
              <a:rPr lang="ru-RU" sz="5400" dirty="0" smtClean="0"/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14348" y="1714488"/>
            <a:ext cx="51435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 smtClean="0">
                <a:solidFill>
                  <a:srgbClr val="C00000"/>
                </a:solidFill>
              </a:rPr>
              <a:t>При получении баллона на складе необходимо провести технический осмотр:</a:t>
            </a:r>
          </a:p>
          <a:p>
            <a:r>
              <a:rPr lang="ru-RU" sz="2400" b="1" i="1" dirty="0" smtClean="0">
                <a:solidFill>
                  <a:srgbClr val="C00000"/>
                </a:solidFill>
              </a:rPr>
              <a:t>— по паспортным данным </a:t>
            </a:r>
          </a:p>
          <a:p>
            <a:r>
              <a:rPr lang="ru-RU" sz="2400" b="1" i="1" dirty="0" smtClean="0">
                <a:solidFill>
                  <a:srgbClr val="C00000"/>
                </a:solidFill>
              </a:rPr>
              <a:t>проверить дату освидетельствования баллона</a:t>
            </a:r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1928794" y="3000372"/>
            <a:ext cx="6632575" cy="3662363"/>
            <a:chOff x="720" y="1872"/>
            <a:chExt cx="4178" cy="2307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68" y="1872"/>
              <a:ext cx="1730" cy="20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720" y="3408"/>
              <a:ext cx="2640" cy="7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ru-RU"/>
                <a:t>Дата (месяц, год)</a:t>
              </a:r>
              <a:br>
                <a:rPr lang="ru-RU"/>
              </a:br>
              <a:r>
                <a:rPr lang="ru-RU"/>
                <a:t>изготовления (испытания)</a:t>
              </a:r>
            </a:p>
            <a:p>
              <a:pPr>
                <a:spcBef>
                  <a:spcPct val="50000"/>
                </a:spcBef>
              </a:pPr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00034" y="178592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 smtClean="0"/>
              <a:t>— отвернуть и снять защитный </a:t>
            </a:r>
            <a:r>
              <a:rPr lang="ru-RU" sz="2400" b="1" dirty="0" smtClean="0"/>
              <a:t>колпак</a:t>
            </a:r>
            <a:r>
              <a:rPr lang="ru-RU" sz="2400" dirty="0" smtClean="0"/>
              <a:t/>
            </a:r>
            <a:br>
              <a:rPr lang="ru-RU" sz="2400" dirty="0" smtClean="0"/>
            </a:b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3643314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dirty="0" smtClean="0"/>
              <a:t>— снять заглушку со штуцера вентиля баллона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715008" y="928670"/>
            <a:ext cx="2786082" cy="2197104"/>
          </a:xfrm>
          <a:prstGeom prst="rect">
            <a:avLst/>
          </a:prstGeom>
          <a:noFill/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357818" y="3810000"/>
            <a:ext cx="2928958" cy="20478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28596" y="428604"/>
            <a:ext cx="8305800" cy="785794"/>
          </a:xfrm>
        </p:spPr>
        <p:txBody>
          <a:bodyPr>
            <a:normAutofit fontScale="90000"/>
          </a:bodyPr>
          <a:lstStyle/>
          <a:p>
            <a:r>
              <a:rPr lang="ru-RU" sz="36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     Закрепление нового материала.</a:t>
            </a:r>
            <a:br>
              <a:rPr lang="ru-RU" sz="36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ru-RU" sz="36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Контрольные вопросы</a:t>
            </a:r>
            <a:r>
              <a:rPr lang="ru-RU" sz="36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57224" y="1785926"/>
            <a:ext cx="70723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400" dirty="0" smtClean="0"/>
              <a:t>1.В какой цвет окрашивают баллоны для растворенного ацетилена?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а)	Голубой.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б)	Красный.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в)	Белый.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14348" y="4071942"/>
            <a:ext cx="664373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000" dirty="0" smtClean="0"/>
              <a:t>2.Какой максимальный период между техническими</a:t>
            </a:r>
            <a:br>
              <a:rPr lang="ru-RU" sz="2000" dirty="0" smtClean="0"/>
            </a:br>
            <a:r>
              <a:rPr lang="ru-RU" sz="2000" dirty="0" smtClean="0"/>
              <a:t>освидетельствованиями баллонов для сжатых газов предусмотрен правилами Госгортехнадзора?</a:t>
            </a:r>
          </a:p>
          <a:p>
            <a:pPr>
              <a:lnSpc>
                <a:spcPct val="90000"/>
              </a:lnSpc>
            </a:pPr>
            <a:r>
              <a:rPr lang="ru-RU" sz="2000" dirty="0" smtClean="0"/>
              <a:t>а)	3 года.</a:t>
            </a:r>
          </a:p>
          <a:p>
            <a:pPr>
              <a:lnSpc>
                <a:spcPct val="90000"/>
              </a:lnSpc>
            </a:pPr>
            <a:r>
              <a:rPr lang="ru-RU" sz="2000" dirty="0" smtClean="0"/>
              <a:t>б)	4 года.</a:t>
            </a:r>
          </a:p>
          <a:p>
            <a:pPr>
              <a:lnSpc>
                <a:spcPct val="90000"/>
              </a:lnSpc>
            </a:pPr>
            <a:r>
              <a:rPr lang="ru-RU" sz="2000" dirty="0" smtClean="0"/>
              <a:t>в)	5 лет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42910" y="785794"/>
            <a:ext cx="72866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3.Из какого материала должны изготавливаться детали вентилей для баллонов со сжатым кислородом?</a:t>
            </a:r>
          </a:p>
          <a:p>
            <a:r>
              <a:rPr lang="ru-RU" sz="2400" dirty="0" smtClean="0"/>
              <a:t>а)	Латунь.</a:t>
            </a:r>
          </a:p>
          <a:p>
            <a:r>
              <a:rPr lang="ru-RU" sz="2400" dirty="0" smtClean="0"/>
              <a:t>б)	Медь.</a:t>
            </a:r>
          </a:p>
          <a:p>
            <a:r>
              <a:rPr lang="ru-RU" sz="2400" dirty="0" smtClean="0"/>
              <a:t>в)	Сталь.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57224" y="3429000"/>
            <a:ext cx="65008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4.Под каким давлением находится полностью заправленный баллон с ацетиленом при температуре 20°С?</a:t>
            </a:r>
          </a:p>
          <a:p>
            <a:r>
              <a:rPr lang="ru-RU" sz="2400" dirty="0" smtClean="0"/>
              <a:t>а)	1,6 МПа (16 кгс/см</a:t>
            </a:r>
            <a:r>
              <a:rPr lang="ru-RU" sz="2400" baseline="30000" dirty="0" smtClean="0"/>
              <a:t>2</a:t>
            </a:r>
            <a:r>
              <a:rPr lang="ru-RU" sz="2400" dirty="0" smtClean="0"/>
              <a:t>).</a:t>
            </a:r>
          </a:p>
          <a:p>
            <a:r>
              <a:rPr lang="ru-RU" sz="2400" dirty="0" smtClean="0"/>
              <a:t>б)	1,9 МПа (19 кгс/см</a:t>
            </a:r>
            <a:r>
              <a:rPr lang="ru-RU" sz="2400" baseline="30000" dirty="0" smtClean="0"/>
              <a:t>2</a:t>
            </a:r>
            <a:r>
              <a:rPr lang="ru-RU" sz="2400" dirty="0" smtClean="0"/>
              <a:t>).</a:t>
            </a:r>
          </a:p>
          <a:p>
            <a:r>
              <a:rPr lang="ru-RU" sz="2400" dirty="0" smtClean="0"/>
              <a:t>в)	2,9 МПа (29 кгс/см</a:t>
            </a:r>
            <a:r>
              <a:rPr lang="ru-RU" sz="2400" baseline="30000" dirty="0" smtClean="0"/>
              <a:t>2</a:t>
            </a:r>
            <a:r>
              <a:rPr lang="ru-RU" sz="2400" dirty="0" smtClean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980728"/>
            <a:ext cx="78581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5.Какой объем газообразного кислорода можно получить от полностью заправленного баллона объемом 40 дм</a:t>
            </a:r>
            <a:r>
              <a:rPr lang="ru-RU" sz="2400" baseline="30000" dirty="0" smtClean="0"/>
              <a:t>3</a:t>
            </a:r>
            <a:r>
              <a:rPr lang="ru-RU" sz="2400" dirty="0" smtClean="0"/>
              <a:t>?</a:t>
            </a:r>
          </a:p>
          <a:p>
            <a:r>
              <a:rPr lang="ru-RU" sz="2400" dirty="0" smtClean="0"/>
              <a:t>а)	4 м</a:t>
            </a:r>
            <a:r>
              <a:rPr lang="ru-RU" sz="2400" baseline="30000" dirty="0" smtClean="0"/>
              <a:t>3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б)	6 м</a:t>
            </a:r>
            <a:r>
              <a:rPr lang="ru-RU" sz="2400" baseline="30000" dirty="0" smtClean="0"/>
              <a:t>3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в)	8 м</a:t>
            </a:r>
            <a:r>
              <a:rPr lang="ru-RU" sz="2400" baseline="30000" dirty="0" smtClean="0"/>
              <a:t>3</a:t>
            </a:r>
            <a:r>
              <a:rPr lang="ru-RU" sz="2400" dirty="0" smtClean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0034" y="3929066"/>
            <a:ext cx="67866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6.Какое минимальное остаточное давление должно быть в кислородном баллоне в соответствии с правилами ТБ?</a:t>
            </a:r>
          </a:p>
          <a:p>
            <a:r>
              <a:rPr lang="ru-RU" sz="2400" dirty="0" smtClean="0"/>
              <a:t>а)	0,05 МПа (0,5 кгс/см</a:t>
            </a:r>
            <a:r>
              <a:rPr lang="ru-RU" sz="2400" baseline="30000" dirty="0" smtClean="0"/>
              <a:t>2</a:t>
            </a:r>
            <a:r>
              <a:rPr lang="ru-RU" sz="2400" dirty="0" smtClean="0"/>
              <a:t>).</a:t>
            </a:r>
          </a:p>
          <a:p>
            <a:r>
              <a:rPr lang="ru-RU" sz="2400" dirty="0" smtClean="0"/>
              <a:t>б)	0,03 МПа (0,3 кгс/см</a:t>
            </a:r>
            <a:r>
              <a:rPr lang="ru-RU" sz="2400" baseline="30000" dirty="0" smtClean="0"/>
              <a:t>2</a:t>
            </a:r>
            <a:r>
              <a:rPr lang="ru-RU" sz="2400" dirty="0" smtClean="0"/>
              <a:t>).</a:t>
            </a:r>
          </a:p>
          <a:p>
            <a:r>
              <a:rPr lang="ru-RU" sz="2400" dirty="0" smtClean="0"/>
              <a:t>в)	0,01 МПа (0,1 кгс/см</a:t>
            </a:r>
            <a:r>
              <a:rPr lang="ru-RU" sz="2400" baseline="30000" dirty="0" smtClean="0"/>
              <a:t>2</a:t>
            </a:r>
            <a:r>
              <a:rPr lang="ru-RU" sz="2400" dirty="0" smtClean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4818" y="980728"/>
            <a:ext cx="7715304" cy="241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400" dirty="0" smtClean="0"/>
              <a:t>7.Какую из перечисленных операций необходимо обязательно выполнить при получении на складе баллона со сжатым газом?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а)	Продуть вентиль баллона.	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б)	Установить редуктор и проверить давление в баллоне.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в)	Проверить дату освидетельствования баллона.</a:t>
            </a:r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74818" y="4163287"/>
            <a:ext cx="72152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400" dirty="0" smtClean="0"/>
              <a:t>8. Из какого металла должны быть изготовлены детали  вентиля баллона ацетилена?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а)	Латунь.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б)	Медь.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в)	Сталь.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7191" y="1124744"/>
            <a:ext cx="7786742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400" dirty="0" smtClean="0"/>
              <a:t>9. Какую из перечисленных операций необходимо</a:t>
            </a:r>
            <a:br>
              <a:rPr lang="ru-RU" sz="2400" dirty="0" smtClean="0"/>
            </a:br>
            <a:r>
              <a:rPr lang="ru-RU" sz="2400" dirty="0" smtClean="0"/>
              <a:t>обязательно выполнить непосредственно перед установкой редуктора на баллон со сжатым газом?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а)	Продуть вентиль баллона.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б)	Закрепить баллон хомутом или цепью к стойке.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в)	Проверить дату освидетельствования.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07191" y="4163287"/>
            <a:ext cx="742955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400" dirty="0" smtClean="0"/>
              <a:t>10. Испытательное  давление кислородного баллона составляет: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а)18 МПа	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б)22,5МПа	</a:t>
            </a:r>
          </a:p>
          <a:p>
            <a:pPr>
              <a:lnSpc>
                <a:spcPct val="90000"/>
              </a:lnSpc>
            </a:pPr>
            <a:r>
              <a:rPr lang="ru-RU" sz="2400" dirty="0" smtClean="0"/>
              <a:t>в)0,1МПа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57290" y="642918"/>
            <a:ext cx="68580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ru-RU" sz="24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Задание для самостоятельной работы</a:t>
            </a:r>
            <a:r>
              <a:rPr lang="ru-RU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Заполните таблицу</a:t>
            </a:r>
            <a:endParaRPr lang="ru-RU" sz="24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00035" y="1857364"/>
          <a:ext cx="7715302" cy="3714777"/>
        </p:xfrm>
        <a:graphic>
          <a:graphicData uri="http://schemas.openxmlformats.org/drawingml/2006/table">
            <a:tbl>
              <a:tblPr/>
              <a:tblGrid>
                <a:gridCol w="1928221"/>
                <a:gridCol w="1929027"/>
                <a:gridCol w="1929027"/>
                <a:gridCol w="1929027"/>
              </a:tblGrid>
              <a:tr h="12382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газ</a:t>
                      </a: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Цвет баллона</a:t>
                      </a: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Давление газа в баллоне при </a:t>
                      </a:r>
                      <a:r>
                        <a:rPr lang="en-US" sz="1400" b="1">
                          <a:latin typeface="Calibri"/>
                          <a:ea typeface="Calibri"/>
                          <a:cs typeface="Times New Roman"/>
                        </a:rPr>
                        <a:t>t</a:t>
                      </a: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=20</a:t>
                      </a:r>
                      <a:r>
                        <a:rPr lang="ru-RU" sz="1400" b="1" baseline="300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С</a:t>
                      </a: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Испытательное</a:t>
                      </a: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давление в баллоне</a:t>
                      </a: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кислород</a:t>
                      </a: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Calibri"/>
                          <a:ea typeface="Calibri"/>
                          <a:cs typeface="Times New Roman"/>
                        </a:rPr>
                        <a:t>ацетилен</a:t>
                      </a:r>
                      <a:endParaRPr lang="ru-RU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пропан</a:t>
                      </a: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2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Calibri"/>
                          <a:ea typeface="Calibri"/>
                          <a:cs typeface="Times New Roman"/>
                        </a:rPr>
                        <a:t>Остаточное давление в баллоне </a:t>
                      </a: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28662" y="2214554"/>
            <a:ext cx="7643866" cy="316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ru-RU" sz="5400" b="1" i="1" dirty="0" smtClean="0">
                <a:solidFill>
                  <a:srgbClr val="002060"/>
                </a:solidFill>
              </a:rPr>
              <a:t>Заключение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800" dirty="0" smtClean="0">
                <a:solidFill>
                  <a:srgbClr val="FF0000"/>
                </a:solidFill>
              </a:rPr>
              <a:t>Все работы, всего комплекта газосварочного оборудования, необходимо выполнять в соответствии с Правилами эксплуатации оборудования с соблюдением Правил техники безопасности и</a:t>
            </a:r>
            <a:br>
              <a:rPr lang="ru-RU" sz="2800" dirty="0" smtClean="0">
                <a:solidFill>
                  <a:srgbClr val="FF0000"/>
                </a:solidFill>
              </a:rPr>
            </a:br>
            <a:r>
              <a:rPr lang="ru-RU" sz="2800" dirty="0" smtClean="0">
                <a:solidFill>
                  <a:srgbClr val="FF0000"/>
                </a:solidFill>
              </a:rPr>
              <a:t>противопожарной безопасности.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solidFill>
                  <a:srgbClr val="002060"/>
                </a:solidFill>
              </a:rPr>
              <a:t>Подведение итогов </a:t>
            </a:r>
            <a:endParaRPr lang="ru-RU" i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155</TotalTime>
  <Words>1280</Words>
  <Application>Microsoft Office PowerPoint</Application>
  <PresentationFormat>Экран (4:3)</PresentationFormat>
  <Paragraphs>161</Paragraphs>
  <Slides>37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38" baseType="lpstr">
      <vt:lpstr>Поток</vt:lpstr>
      <vt:lpstr>Газовая сварка</vt:lpstr>
      <vt:lpstr>               Цели урока:  </vt:lpstr>
      <vt:lpstr>  </vt:lpstr>
      <vt:lpstr>Объяснение нового материала</vt:lpstr>
      <vt:lpstr>Презентация PowerPoint</vt:lpstr>
      <vt:lpstr>Презентация PowerPoint</vt:lpstr>
      <vt:lpstr>Сущность газовой сварки. </vt:lpstr>
      <vt:lpstr>Материалы, применяемые при газовой сварке. </vt:lpstr>
      <vt:lpstr>Презентация PowerPoint</vt:lpstr>
      <vt:lpstr>Ацетилен  </vt:lpstr>
      <vt:lpstr>Газы заменители ацетилена. </vt:lpstr>
      <vt:lpstr>Газы – заменители с низкой теплопроводной способностью неэкономично транспортировать в баллонах. Это ограничивает их применение для газопламенной обработки.  </vt:lpstr>
      <vt:lpstr>Аппаратура и оборудование для газовой сварки. </vt:lpstr>
      <vt:lpstr>Презентация PowerPoint</vt:lpstr>
      <vt:lpstr>Презентация PowerPoint</vt:lpstr>
      <vt:lpstr>Презентация PowerPoint</vt:lpstr>
      <vt:lpstr>Баллоны для кислорода </vt:lpstr>
      <vt:lpstr>Презентация PowerPoint</vt:lpstr>
      <vt:lpstr>Вентиль-это запорное устройство , служащее для наполнения баллонов газом, подачи газа в горелку или резак и позволяет сохранять в баллоне газы.</vt:lpstr>
      <vt:lpstr>Баллоны для ацетилена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Правила использования ацетиленового баллона </vt:lpstr>
      <vt:lpstr>Баллоны для сжиженных газов </vt:lpstr>
      <vt:lpstr>Презентация PowerPoint</vt:lpstr>
      <vt:lpstr>Вентиль для баллона сжиженных газов </vt:lpstr>
      <vt:lpstr>Технический осмотр </vt:lpstr>
      <vt:lpstr>Презентация PowerPoint</vt:lpstr>
      <vt:lpstr>       Закрепление нового материала.           Контрольные вопросы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Подведение итогов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урока :Оборудование газопламенной сварки</dc:title>
  <dc:creator>Андрей</dc:creator>
  <cp:lastModifiedBy>Владос савченко</cp:lastModifiedBy>
  <cp:revision>31</cp:revision>
  <dcterms:created xsi:type="dcterms:W3CDTF">2015-04-01T13:20:14Z</dcterms:created>
  <dcterms:modified xsi:type="dcterms:W3CDTF">2024-05-14T14:02:38Z</dcterms:modified>
</cp:coreProperties>
</file>