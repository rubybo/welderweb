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206" y="1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8" name="Заголовок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ru-RU" smtClean="0"/>
              <a:t>Образец заголовка</a:t>
            </a:r>
            <a:endParaRPr kumimoji="0" lang="en-US"/>
          </a:p>
        </p:txBody>
      </p:sp>
      <p:sp>
        <p:nvSpPr>
          <p:cNvPr id="28" name="Дата 27"/>
          <p:cNvSpPr>
            <a:spLocks noGrp="1"/>
          </p:cNvSpPr>
          <p:nvPr>
            <p:ph type="dt" sz="half" idx="10"/>
          </p:nvPr>
        </p:nvSpPr>
        <p:spPr/>
        <p:txBody>
          <a:bodyPr/>
          <a:lstStyle/>
          <a:p>
            <a:fld id="{B4C71EC6-210F-42DE-9C53-41977AD35B3D}" type="datetimeFigureOut">
              <a:rPr lang="ru-RU" smtClean="0"/>
              <a:t>14.05.2024</a:t>
            </a:fld>
            <a:endParaRPr lang="ru-RU"/>
          </a:p>
        </p:txBody>
      </p:sp>
      <p:sp>
        <p:nvSpPr>
          <p:cNvPr id="17" name="Нижний колонтитул 16"/>
          <p:cNvSpPr>
            <a:spLocks noGrp="1"/>
          </p:cNvSpPr>
          <p:nvPr>
            <p:ph type="ftr" sz="quarter" idx="11"/>
          </p:nvPr>
        </p:nvSpPr>
        <p:spPr/>
        <p:txBody>
          <a:bodyPr/>
          <a:lstStyle/>
          <a:p>
            <a:endParaRPr lang="ru-RU"/>
          </a:p>
        </p:txBody>
      </p:sp>
      <p:sp>
        <p:nvSpPr>
          <p:cNvPr id="29" name="Номер слайда 28"/>
          <p:cNvSpPr>
            <a:spLocks noGrp="1"/>
          </p:cNvSpPr>
          <p:nvPr>
            <p:ph type="sldNum" sz="quarter" idx="12"/>
          </p:nvPr>
        </p:nvSpPr>
        <p:spPr/>
        <p:txBody>
          <a:bodyPr/>
          <a:lstStyle/>
          <a:p>
            <a:fld id="{B19B0651-EE4F-4900-A07F-96A6BFA9D0F0}" type="slidenum">
              <a:rPr lang="ru-RU" smtClean="0"/>
              <a:t>‹#›</a:t>
            </a:fld>
            <a:endParaRPr lang="ru-RU"/>
          </a:p>
        </p:txBody>
      </p:sp>
      <p:sp>
        <p:nvSpPr>
          <p:cNvPr id="9" name="Подзаголовок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smtClean="0"/>
              <a:t>Образец подзаголовка</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Объект 2"/>
          <p:cNvSpPr>
            <a:spLocks noGrp="1"/>
          </p:cNvSpPr>
          <p:nvPr>
            <p:ph idx="1"/>
          </p:nvPr>
        </p:nvSpPr>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B4C71EC6-210F-42DE-9C53-41977AD35B3D}" type="datetimeFigureOut">
              <a:rPr lang="ru-RU" smtClean="0"/>
              <a:t>14.05.2024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3">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ru-RU" smtClean="0"/>
              <a:t>Образец заголовка</a:t>
            </a:r>
            <a:endParaRPr kumimoji="0" lang="en-US"/>
          </a:p>
        </p:txBody>
      </p:sp>
      <p:sp>
        <p:nvSpPr>
          <p:cNvPr id="3" name="Текст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smtClean="0"/>
              <a:t>Образец текста</a:t>
            </a:r>
          </a:p>
        </p:txBody>
      </p:sp>
      <p:sp>
        <p:nvSpPr>
          <p:cNvPr id="4" name="Дата 3"/>
          <p:cNvSpPr>
            <a:spLocks noGrp="1"/>
          </p:cNvSpPr>
          <p:nvPr>
            <p:ph type="dt" sz="half" idx="10"/>
          </p:nvPr>
        </p:nvSpPr>
        <p:spPr/>
        <p:txBody>
          <a:bodyPr/>
          <a:lstStyle/>
          <a:p>
            <a:fld id="{B4C71EC6-210F-42DE-9C53-41977AD35B3D}" type="datetimeFigureOut">
              <a:rPr lang="ru-RU" smtClean="0"/>
              <a:t>14.05.2024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a:xfrm>
            <a:off x="7924800" y="6416675"/>
            <a:ext cx="762000" cy="365125"/>
          </a:xfrm>
        </p:spPr>
        <p:txBody>
          <a:bodyPr/>
          <a:lstStyle/>
          <a:p>
            <a:fld id="{B19B0651-EE4F-4900-A07F-96A6BFA9D0F0}"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Объект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Объект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5" name="Дата 4"/>
          <p:cNvSpPr>
            <a:spLocks noGrp="1"/>
          </p:cNvSpPr>
          <p:nvPr>
            <p:ph type="dt" sz="half" idx="10"/>
          </p:nvPr>
        </p:nvSpPr>
        <p:spPr/>
        <p:txBody>
          <a:bodyPr/>
          <a:lstStyle/>
          <a:p>
            <a:fld id="{B4C71EC6-210F-42DE-9C53-41977AD35B3D}" type="datetimeFigureOut">
              <a:rPr lang="ru-RU" smtClean="0"/>
              <a:t>14.05.2024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8229600" cy="1143000"/>
          </a:xfrm>
        </p:spPr>
        <p:txBody>
          <a:bodyPr anchor="ctr"/>
          <a:lstStyle>
            <a:lvl1pPr>
              <a:defRPr/>
            </a:lvl1pPr>
          </a:lstStyle>
          <a:p>
            <a:r>
              <a:rPr kumimoji="0" lang="ru-RU" smtClean="0"/>
              <a:t>Образец заголовка</a:t>
            </a:r>
            <a:endParaRPr kumimoji="0" lang="en-US"/>
          </a:p>
        </p:txBody>
      </p:sp>
      <p:sp>
        <p:nvSpPr>
          <p:cNvPr id="3" name="Текст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p>
        </p:txBody>
      </p:sp>
      <p:sp>
        <p:nvSpPr>
          <p:cNvPr id="4" name="Текст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p>
        </p:txBody>
      </p:sp>
      <p:sp>
        <p:nvSpPr>
          <p:cNvPr id="5" name="Объект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6" name="Объект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7" name="Дата 6"/>
          <p:cNvSpPr>
            <a:spLocks noGrp="1"/>
          </p:cNvSpPr>
          <p:nvPr>
            <p:ph type="dt" sz="half" idx="10"/>
          </p:nvPr>
        </p:nvSpPr>
        <p:spPr/>
        <p:txBody>
          <a:bodyPr/>
          <a:lstStyle/>
          <a:p>
            <a:fld id="{B4C71EC6-210F-42DE-9C53-41977AD35B3D}" type="datetimeFigureOut">
              <a:rPr lang="ru-RU" smtClean="0"/>
              <a:t>14.05.2024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Дата 2"/>
          <p:cNvSpPr>
            <a:spLocks noGrp="1"/>
          </p:cNvSpPr>
          <p:nvPr>
            <p:ph type="dt" sz="half" idx="10"/>
          </p:nvPr>
        </p:nvSpPr>
        <p:spPr/>
        <p:txBody>
          <a:bodyPr/>
          <a:lstStyle/>
          <a:p>
            <a:fld id="{B4C71EC6-210F-42DE-9C53-41977AD35B3D}" type="datetimeFigureOut">
              <a:rPr lang="ru-RU" smtClean="0"/>
              <a:t>14.05.2024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B4C71EC6-210F-42DE-9C53-41977AD35B3D}" type="datetimeFigureOut">
              <a:rPr lang="ru-RU" smtClean="0"/>
              <a:t>14.05.2024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ru-RU" smtClean="0"/>
              <a:t>Образец заголовка</a:t>
            </a:r>
            <a:endParaRPr kumimoji="0" lang="en-US"/>
          </a:p>
        </p:txBody>
      </p:sp>
      <p:sp>
        <p:nvSpPr>
          <p:cNvPr id="3" name="Текст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ru-RU" smtClean="0"/>
              <a:t>Образец текста</a:t>
            </a:r>
          </a:p>
        </p:txBody>
      </p:sp>
      <p:sp>
        <p:nvSpPr>
          <p:cNvPr id="4" name="Объект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5" name="Дата 4"/>
          <p:cNvSpPr>
            <a:spLocks noGrp="1"/>
          </p:cNvSpPr>
          <p:nvPr>
            <p:ph type="dt" sz="half" idx="10"/>
          </p:nvPr>
        </p:nvSpPr>
        <p:spPr/>
        <p:txBody>
          <a:bodyPr/>
          <a:lstStyle/>
          <a:p>
            <a:fld id="{B4C71EC6-210F-42DE-9C53-41977AD35B3D}" type="datetimeFigureOut">
              <a:rPr lang="ru-RU" smtClean="0"/>
              <a:t>14.05.2024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ru-RU" smtClean="0"/>
              <a:t>Образец заголовка</a:t>
            </a:r>
            <a:endParaRPr kumimoji="0" lang="en-US"/>
          </a:p>
        </p:txBody>
      </p:sp>
      <p:sp>
        <p:nvSpPr>
          <p:cNvPr id="3" name="Рисунок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ru-RU" smtClean="0">
                <a:solidFill>
                  <a:schemeClr val="lt1"/>
                </a:solidFill>
                <a:latin typeface="+mn-lt"/>
                <a:ea typeface="+mn-ea"/>
                <a:cs typeface="+mn-cs"/>
              </a:rPr>
              <a:t>Вставка рисунка</a:t>
            </a:r>
            <a:endParaRPr kumimoji="0" lang="en-US" dirty="0">
              <a:solidFill>
                <a:schemeClr val="lt1"/>
              </a:solidFill>
              <a:latin typeface="+mn-lt"/>
              <a:ea typeface="+mn-ea"/>
              <a:cs typeface="+mn-cs"/>
            </a:endParaRPr>
          </a:p>
        </p:txBody>
      </p:sp>
      <p:sp>
        <p:nvSpPr>
          <p:cNvPr id="4" name="Текст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ru-RU" smtClean="0"/>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14.05.2024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B4C71EC6-210F-42DE-9C53-41977AD35B3D}" type="datetimeFigureOut">
              <a:rPr lang="ru-RU" smtClean="0"/>
              <a:t>14.05.2024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B4C71EC6-210F-42DE-9C53-41977AD35B3D}" type="datetimeFigureOut">
              <a:rPr lang="ru-RU" smtClean="0"/>
              <a:t>14.05.2024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Заголовок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ru-RU" smtClean="0"/>
              <a:t>Образец заголовка</a:t>
            </a:r>
            <a:endParaRPr kumimoji="0" lang="en-US"/>
          </a:p>
        </p:txBody>
      </p:sp>
      <p:sp>
        <p:nvSpPr>
          <p:cNvPr id="13" name="Текст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ru-RU" smtClean="0"/>
              <a:t>Образец текста</a:t>
            </a:r>
          </a:p>
          <a:p>
            <a:pPr lvl="1" eaLnBrk="1" latinLnBrk="0" hangingPunct="1"/>
            <a:r>
              <a:rPr kumimoji="0" lang="ru-RU" smtClean="0"/>
              <a:t>Второй уровень</a:t>
            </a:r>
          </a:p>
          <a:p>
            <a:pPr lvl="2" eaLnBrk="1" latinLnBrk="0" hangingPunct="1"/>
            <a:r>
              <a:rPr kumimoji="0" lang="ru-RU" smtClean="0"/>
              <a:t>Третий уровень</a:t>
            </a:r>
          </a:p>
          <a:p>
            <a:pPr lvl="3" eaLnBrk="1" latinLnBrk="0" hangingPunct="1"/>
            <a:r>
              <a:rPr kumimoji="0" lang="ru-RU" smtClean="0"/>
              <a:t>Четвертый уровень</a:t>
            </a:r>
          </a:p>
          <a:p>
            <a:pPr lvl="4" eaLnBrk="1" latinLnBrk="0" hangingPunct="1"/>
            <a:r>
              <a:rPr kumimoji="0" lang="ru-RU" smtClean="0"/>
              <a:t>Пятый уровень</a:t>
            </a:r>
            <a:endParaRPr kumimoji="0" lang="en-US"/>
          </a:p>
        </p:txBody>
      </p:sp>
      <p:sp>
        <p:nvSpPr>
          <p:cNvPr id="14" name="Дата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B4C71EC6-210F-42DE-9C53-41977AD35B3D}" type="datetimeFigureOut">
              <a:rPr lang="ru-RU" smtClean="0"/>
              <a:t>14.05.2024</a:t>
            </a:fld>
            <a:endParaRPr lang="ru-RU"/>
          </a:p>
        </p:txBody>
      </p:sp>
      <p:sp>
        <p:nvSpPr>
          <p:cNvPr id="3" name="Нижний колонтитул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ru-RU"/>
          </a:p>
        </p:txBody>
      </p:sp>
      <p:sp>
        <p:nvSpPr>
          <p:cNvPr id="23" name="Номер слайда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B19B0651-EE4F-4900-A07F-96A6BFA9D0F0}" type="slidenum">
              <a:rPr lang="ru-RU" smtClean="0"/>
              <a:t>‹#›</a:t>
            </a:fld>
            <a:endParaRPr lang="ru-RU"/>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ru.wikipedia.org/wiki/%D0%91%D1%80%D0%BE%D0%BD%D0%B7%D0%B0" TargetMode="External"/><Relationship Id="rId13" Type="http://schemas.openxmlformats.org/officeDocument/2006/relationships/hyperlink" Target="https://ru.wikipedia.org/wiki/%D0%9F%D1%80%D0%BE%D0%BC%D1%8B%D1%88%D0%BB%D0%B5%D0%BD%D0%BD%D1%8B%D0%B9_%D1%80%D0%BE%D0%B1%D0%BE%D1%82" TargetMode="External"/><Relationship Id="rId3" Type="http://schemas.openxmlformats.org/officeDocument/2006/relationships/hyperlink" Target="https://ru.wikipedia.org/wiki/%D0%90%D0%BB%D1%8E%D0%BC%D0%B8%D0%BD%D0%B8%D0%B9" TargetMode="External"/><Relationship Id="rId7" Type="http://schemas.openxmlformats.org/officeDocument/2006/relationships/hyperlink" Target="https://ru.wikipedia.org/wiki/%D0%9C%D0%B5%D0%B4%D1%8C" TargetMode="External"/><Relationship Id="rId12" Type="http://schemas.openxmlformats.org/officeDocument/2006/relationships/hyperlink" Target="https://ru.wikipedia.org/wiki/%D0%A1%D0%B2%D0%B0%D1%80%D1%89%D0%B8%D0%BA" TargetMode="External"/><Relationship Id="rId17" Type="http://schemas.openxmlformats.org/officeDocument/2006/relationships/hyperlink" Target="https://ru.wikipedia.org/wiki/%D0%A1%D0%B2%D0%B0%D1%80%D0%BA%D0%B0_%D0%BD%D0%B5%D0%BF%D0%BB%D0%B0%D0%B2%D1%8F%D1%89%D0%B8%D0%BC%D1%81%D1%8F_%D1%8D%D0%BB%D0%B5%D0%BA%D1%82%D1%80%D0%BE%D0%B4%D0%BE%D0%BC#cite_note-TSaZ-110-1" TargetMode="External"/><Relationship Id="rId2" Type="http://schemas.openxmlformats.org/officeDocument/2006/relationships/hyperlink" Target="https://ru.wikipedia.org/wiki/%D0%94%D1%83%D0%B3%D0%BE%D0%B2%D0%B0%D1%8F_%D1%81%D0%B2%D0%B0%D1%80%D0%BA%D0%B0" TargetMode="External"/><Relationship Id="rId16" Type="http://schemas.openxmlformats.org/officeDocument/2006/relationships/hyperlink" Target="https://ru.wikipedia.org/wiki/%D0%98%D0%BD%D1%81%D1%82%D1%80%D1%83%D0%BC%D0%B5%D0%BD%D1%82%D0%B0%D0%BB%D1%8C%D0%BD%D0%B0%D1%8F_%D1%81%D1%82%D0%B0%D0%BB%D1%8C" TargetMode="External"/><Relationship Id="rId1" Type="http://schemas.openxmlformats.org/officeDocument/2006/relationships/slideLayout" Target="../slideLayouts/slideLayout2.xml"/><Relationship Id="rId6" Type="http://schemas.openxmlformats.org/officeDocument/2006/relationships/hyperlink" Target="https://ru.wikipedia.org/wiki/%D0%9D%D0%B8%D0%BA%D0%B5%D0%BB%D1%8C" TargetMode="External"/><Relationship Id="rId11" Type="http://schemas.openxmlformats.org/officeDocument/2006/relationships/hyperlink" Target="https://ru.wikipedia.org/wiki/%D0%93%D0%B0%D0%B7%D0%BE%D0%B2%D0%B0%D1%8F_%D1%81%D0%B2%D0%B0%D1%80%D0%BA%D0%B0" TargetMode="External"/><Relationship Id="rId5" Type="http://schemas.openxmlformats.org/officeDocument/2006/relationships/hyperlink" Target="https://ru.wikipedia.org/wiki/%D0%9D%D0%B5%D1%80%D0%B6%D0%B0%D0%B2%D0%B5%D1%8E%D1%89%D0%B0%D1%8F_%D1%81%D1%82%D0%B0%D0%BB%D1%8C" TargetMode="External"/><Relationship Id="rId15" Type="http://schemas.openxmlformats.org/officeDocument/2006/relationships/hyperlink" Target="https://ru.wikipedia.org/wiki/%D0%9B%D0%B0%D1%82%D1%83%D0%BD%D1%8C" TargetMode="External"/><Relationship Id="rId10" Type="http://schemas.openxmlformats.org/officeDocument/2006/relationships/hyperlink" Target="https://ru.wikipedia.org/wiki/%D0%A6%D0%B8%D1%80%D0%BA%D0%BE%D0%BD%D0%B8%D0%B9" TargetMode="External"/><Relationship Id="rId4" Type="http://schemas.openxmlformats.org/officeDocument/2006/relationships/hyperlink" Target="https://ru.wikipedia.org/wiki/%D0%9C%D0%B0%D0%B3%D0%BD%D0%B8%D0%B9" TargetMode="External"/><Relationship Id="rId9" Type="http://schemas.openxmlformats.org/officeDocument/2006/relationships/hyperlink" Target="https://ru.wikipedia.org/wiki/%D0%A2%D0%B8%D1%82%D0%B0%D0%BD_(%D1%8D%D0%BB%D0%B5%D0%BC%D0%B5%D0%BD%D1%82)" TargetMode="External"/><Relationship Id="rId14" Type="http://schemas.openxmlformats.org/officeDocument/2006/relationships/hyperlink" Target="https://ru.wikipedia.org/wiki/%D0%9C%D0%BE%D0%BB%D0%B8%D0%B1%D0%B4%D0%B5%D0%BD"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ru.wikipedia.org/wiki/%D0%92%D0%BE%D0%BB%D1%8C%D1%84%D1%80%D0%B0%D0%BC" TargetMode="External"/><Relationship Id="rId3" Type="http://schemas.openxmlformats.org/officeDocument/2006/relationships/hyperlink" Target="https://ru.wikipedia.org/wiki/%D0%90%D1%80%D0%B3%D0%BE%D0%BD" TargetMode="External"/><Relationship Id="rId7" Type="http://schemas.openxmlformats.org/officeDocument/2006/relationships/hyperlink" Target="https://ru.wikipedia.org/wiki/%D0%90%D0%BD%D0%B3%D0%BB%D0%B8%D0%B9%D1%81%D0%BA%D0%B8%D0%B9_%D1%8F%D0%B7%D1%8B%D0%BA" TargetMode="External"/><Relationship Id="rId2" Type="http://schemas.openxmlformats.org/officeDocument/2006/relationships/hyperlink" Target="https://ru.wikipedia.org/wiki/%D0%98%D0%BD%D0%B5%D1%80%D1%82%D0%BD%D1%8B%D0%B9_%D0%B3%D0%B0%D0%B7" TargetMode="External"/><Relationship Id="rId1" Type="http://schemas.openxmlformats.org/officeDocument/2006/relationships/slideLayout" Target="../slideLayouts/slideLayout2.xml"/><Relationship Id="rId6" Type="http://schemas.openxmlformats.org/officeDocument/2006/relationships/hyperlink" Target="https://ru.wikipedia.org/wiki/%D0%90%D0%B7%D0%BE%D1%82" TargetMode="External"/><Relationship Id="rId5" Type="http://schemas.openxmlformats.org/officeDocument/2006/relationships/hyperlink" Target="https://ru.wikipedia.org/wiki/%D0%92%D0%BE%D0%B4%D0%BE%D1%80%D0%BE%D0%B4" TargetMode="External"/><Relationship Id="rId4" Type="http://schemas.openxmlformats.org/officeDocument/2006/relationships/hyperlink" Target="https://ru.wikipedia.org/wiki/%D0%93%D0%B5%D0%BB%D0%B8%D0%B9" TargetMode="External"/><Relationship Id="rId9" Type="http://schemas.openxmlformats.org/officeDocument/2006/relationships/hyperlink" Target="https://ru.wikipedia.org/wiki/%D0%A1%D0%A8%D0%90"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ru.wikipedia.org/wiki/%D0%9C%D0%B0%D0%B3%D0%BD%D0%B8%D0%B9" TargetMode="External"/><Relationship Id="rId13" Type="http://schemas.openxmlformats.org/officeDocument/2006/relationships/hyperlink" Target="https://ru.wikipedia.org/wiki/%D0%92%D0%BE%D0%BB%D1%8C%D1%84%D1%80%D0%B0%D0%BC" TargetMode="External"/><Relationship Id="rId3" Type="http://schemas.openxmlformats.org/officeDocument/2006/relationships/hyperlink" Target="https://ru.wikipedia.org/wiki/%D0%AD%D0%BB%D0%B5%D0%BA%D1%82%D1%80%D0%B8%D1%87%D0%B5%D1%81%D0%BA%D0%B0%D1%8F_%D0%B4%D1%83%D0%B3%D0%B0" TargetMode="External"/><Relationship Id="rId7" Type="http://schemas.openxmlformats.org/officeDocument/2006/relationships/hyperlink" Target="https://ru.wikipedia.org/wiki/%D0%90%D0%BB%D1%8E%D0%BC%D0%B8%D0%BD%D0%B8%D0%B9" TargetMode="External"/><Relationship Id="rId12" Type="http://schemas.openxmlformats.org/officeDocument/2006/relationships/hyperlink" Target="https://ru.wikipedia.org/wiki/%D0%9B%D0%B5%D0%BD%D0%B3%D0%BC%D1%8E%D1%80,_%D0%98%D1%80%D0%B2%D0%B8%D0%BD%D0%B3" TargetMode="External"/><Relationship Id="rId2" Type="http://schemas.openxmlformats.org/officeDocument/2006/relationships/hyperlink" Target="https://ru.wikipedia.org/wiki/%D0%94%D1%8D%D0%B2%D0%B8,_%D0%93%D0%B5%D0%BC%D1%84%D1%80%D0%B8" TargetMode="External"/><Relationship Id="rId1" Type="http://schemas.openxmlformats.org/officeDocument/2006/relationships/slideLayout" Target="../slideLayouts/slideLayout2.xml"/><Relationship Id="rId6" Type="http://schemas.openxmlformats.org/officeDocument/2006/relationships/hyperlink" Target="http://www.google.com/patents?vid=419032" TargetMode="External"/><Relationship Id="rId11" Type="http://schemas.openxmlformats.org/officeDocument/2006/relationships/hyperlink" Target="https://ru.wikipedia.org/wiki/%D0%9A%D0%B8%D1%81%D0%BB%D0%BE%D1%80%D0%BE%D0%B4" TargetMode="External"/><Relationship Id="rId5" Type="http://schemas.openxmlformats.org/officeDocument/2006/relationships/hyperlink" Target="https://ru.wikipedia.org/w/index.php?title=%D0%A7%D0%B0%D1%80%D0%BB%D1%8C%D0%B7_%D0%9B._%D0%9A%D0%BE%D1%84%D1%84%D0%B8%D0%BD&amp;action=edit&amp;redlink=1" TargetMode="External"/><Relationship Id="rId15" Type="http://schemas.openxmlformats.org/officeDocument/2006/relationships/hyperlink" Target="http://www.google.com/patents?vid=1952927" TargetMode="External"/><Relationship Id="rId10" Type="http://schemas.openxmlformats.org/officeDocument/2006/relationships/hyperlink" Target="https://ru.wikipedia.org/wiki/%D0%90%D0%B7%D0%BE%D1%82" TargetMode="External"/><Relationship Id="rId4" Type="http://schemas.openxmlformats.org/officeDocument/2006/relationships/hyperlink" Target="https://ru.wikipedia.org/wiki/%D0%9F%D0%B5%D1%82%D1%80%D0%BE%D0%B2,_%D0%92%D0%B0%D1%81%D0%B8%D0%BB%D0%B8%D0%B9_%D0%92%D0%BB%D0%B0%D0%B4%D0%B8%D0%BC%D0%B8%D1%80%D0%BE%D0%B2%D0%B8%D1%87" TargetMode="External"/><Relationship Id="rId9" Type="http://schemas.openxmlformats.org/officeDocument/2006/relationships/hyperlink" Target="https://ru.wikipedia.org/wiki/%D0%92%D0%BE%D0%B4%D0%BE%D1%80%D0%BE%D0%B4" TargetMode="External"/><Relationship Id="rId14" Type="http://schemas.openxmlformats.org/officeDocument/2006/relationships/hyperlink" Target="https://ru.wikipedia.org/wiki/1924"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ru.wikipedia.org/wiki/%D0%9D%D0%B8%D0%BA%D0%B5%D0%BB%D1%8C" TargetMode="External"/><Relationship Id="rId3" Type="http://schemas.openxmlformats.org/officeDocument/2006/relationships/hyperlink" Target="https://ru.wikipedia.org/wiki/Northrop" TargetMode="External"/><Relationship Id="rId7" Type="http://schemas.openxmlformats.org/officeDocument/2006/relationships/hyperlink" Target="https://ru.wikipedia.org/wiki/%D0%90%D0%BB%D1%8E%D0%BC%D0%B8%D0%BD%D0%B8%D0%B9" TargetMode="External"/><Relationship Id="rId12" Type="http://schemas.openxmlformats.org/officeDocument/2006/relationships/hyperlink" Target="http://www.google.com/patents/US2784349" TargetMode="External"/><Relationship Id="rId2" Type="http://schemas.openxmlformats.org/officeDocument/2006/relationships/hyperlink" Target="https://ru.wikipedia.org/wiki/1941_%D0%B3%D0%BE%D0%B4" TargetMode="External"/><Relationship Id="rId1" Type="http://schemas.openxmlformats.org/officeDocument/2006/relationships/slideLayout" Target="../slideLayouts/slideLayout2.xml"/><Relationship Id="rId6" Type="http://schemas.openxmlformats.org/officeDocument/2006/relationships/hyperlink" Target="https://ru.wikipedia.org/wiki/%D0%9C%D0%B0%D0%B3%D0%BD%D0%B8%D1%8F" TargetMode="External"/><Relationship Id="rId11" Type="http://schemas.openxmlformats.org/officeDocument/2006/relationships/hyperlink" Target="http://www.google.com/patents/US2274631" TargetMode="External"/><Relationship Id="rId5" Type="http://schemas.openxmlformats.org/officeDocument/2006/relationships/hyperlink" Target="https://ru.wikipedia.org/wiki/%D0%90%D0%BD%D0%B3%D0%BB%D0%B8%D0%B9%D1%81%D0%BA%D0%B8%D0%B9_%D1%8F%D0%B7%D1%8B%D0%BA" TargetMode="External"/><Relationship Id="rId10" Type="http://schemas.openxmlformats.org/officeDocument/2006/relationships/hyperlink" Target="https://ru.wikipedia.org/wiki/%D0%92%D1%82%D0%BE%D1%80%D0%B0%D1%8F_%D0%BC%D0%B8%D1%80%D0%BE%D0%B2%D0%B0%D1%8F_%D0%B2%D0%BE%D0%B9%D0%BD%D0%B0" TargetMode="External"/><Relationship Id="rId4" Type="http://schemas.openxmlformats.org/officeDocument/2006/relationships/hyperlink" Target="https://ru.wikipedia.org/wiki/%D0%A7%D0%B5%D1%88%D1%81%D0%BA%D0%B8%D0%B9_%D1%8F%D0%B7%D1%8B%D0%BA" TargetMode="External"/><Relationship Id="rId9" Type="http://schemas.openxmlformats.org/officeDocument/2006/relationships/hyperlink" Target="https://ru.wikipedia.org/wiki/%D0%90%D0%B2%D0%B8%D0%B0%D1%86%D0%B8%D0%BE%D0%BD%D0%BD%D0%B0%D1%8F_%D0%BF%D1%80%D0%BE%D0%BC%D1%8B%D1%88%D0%BB%D0%B5%D0%BD%D0%BD%D0%BE%D1%81%D1%82%D1%8C"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ru.wikipedia.org/wiki/%D0%A1%D0%B2%D0%B0%D1%80%D0%BE%D1%87%D0%BD%D1%8B%D0%B9_%D1%82%D1%80%D0%B0%D0%BD%D1%81%D1%84%D0%BE%D1%80%D0%BC%D0%B0%D1%82%D0%BE%D1%80" TargetMode="External"/><Relationship Id="rId2" Type="http://schemas.openxmlformats.org/officeDocument/2006/relationships/hyperlink" Target="https://ru.wikipedia.org/wiki/%D0%A1%D0%B5%D0%BB%D0%B5%D0%BD"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s://ru.wikipedia.org/wiki/%D0%98%D1%81%D0%BA%D1%80%D0%BE%D0%B2%D0%BE%D0%B9_%D1%80%D0%B0%D0%B7%D1%80%D1%8F%D0%B4" TargetMode="External"/><Relationship Id="rId2" Type="http://schemas.openxmlformats.org/officeDocument/2006/relationships/hyperlink" Target="https://ru.wikipedia.org/wiki/%D0%A2%D1%80%D0%B0%D0%BD%D1%81%D1%84%D0%BE%D1%80%D0%BC%D0%B0%D1%82%D0%BE%D1%80_%D0%A2%D0%B5%D1%81%D0%BB%D1%8B" TargetMode="External"/><Relationship Id="rId1" Type="http://schemas.openxmlformats.org/officeDocument/2006/relationships/slideLayout" Target="../slideLayouts/slideLayout2.xml"/><Relationship Id="rId4" Type="http://schemas.openxmlformats.org/officeDocument/2006/relationships/hyperlink" Target="https://ru.wikipedia.org/wiki/%D0%9C%D0%B8%D0%BB%D0%BB%D0%B8%D0%BC%D0%B5%D1%82%D1%8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ru.wikipedia.org/wiki/%D0%9C%D0%B8%D0%BB%D0%BB%D0%B8%D0%BC%D0%B5%D1%82%D1%80" TargetMode="External"/><Relationship Id="rId3" Type="http://schemas.openxmlformats.org/officeDocument/2006/relationships/hyperlink" Target="https://ru.wikipedia.org/wiki/%D0%90%D0%BC%D0%BF%D0%B5%D1%80" TargetMode="External"/><Relationship Id="rId7" Type="http://schemas.openxmlformats.org/officeDocument/2006/relationships/hyperlink" Target="https://ru.wikipedia.org/wiki/%D0%9C%D0%B8%D0%BD%D1%83%D1%82%D0%B0" TargetMode="External"/><Relationship Id="rId2" Type="http://schemas.openxmlformats.org/officeDocument/2006/relationships/hyperlink" Target="https://ru.wikipedia.org/wiki/%D0%A1%D0%B8%D0%BB%D0%B0_%D1%82%D0%BE%D0%BA%D0%B0" TargetMode="External"/><Relationship Id="rId1" Type="http://schemas.openxmlformats.org/officeDocument/2006/relationships/slideLayout" Target="../slideLayouts/slideLayout2.xml"/><Relationship Id="rId6" Type="http://schemas.openxmlformats.org/officeDocument/2006/relationships/hyperlink" Target="https://ru.wikipedia.org/wiki/%D0%9C%D0%B5%D1%82%D1%80" TargetMode="External"/><Relationship Id="rId5" Type="http://schemas.openxmlformats.org/officeDocument/2006/relationships/hyperlink" Target="https://ru.wikipedia.org/wiki/%D0%92%D0%BE%D0%BB%D1%8C%D1%82" TargetMode="External"/><Relationship Id="rId4" Type="http://schemas.openxmlformats.org/officeDocument/2006/relationships/hyperlink" Target="https://ru.wikipedia.org/wiki/%D0%AD%D0%BB%D0%B5%D0%BA%D1%82%D1%80%D0%B8%D1%87%D0%B5%D1%81%D0%BA%D0%BE%D0%B5_%D0%BD%D0%B0%D0%BF%D1%80%D1%8F%D0%B6%D0%B5%D0%BD%D0%B8%D0%B5" TargetMode="External"/><Relationship Id="rId9" Type="http://schemas.openxmlformats.org/officeDocument/2006/relationships/hyperlink" Target="https://ru.wikipedia.org/wiki/%D0%9B%D0%B8%D1%82%D1%8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ru.wikipedia.org/wiki/%D0%9D%D0%B8%D0%BA%D0%B5%D0%BB%D1%8C" TargetMode="External"/><Relationship Id="rId2" Type="http://schemas.openxmlformats.org/officeDocument/2006/relationships/hyperlink" Target="https://ru.wikipedia.org/wiki/%D0%A1%D1%82%D0%B0%D0%BB%D1%8C" TargetMode="External"/><Relationship Id="rId1" Type="http://schemas.openxmlformats.org/officeDocument/2006/relationships/slideLayout" Target="../slideLayouts/slideLayout2.xml"/><Relationship Id="rId4" Type="http://schemas.openxmlformats.org/officeDocument/2006/relationships/hyperlink" Target="https://ru.wikipedia.org/wiki/%D0%A2%D0%B8%D1%82%D0%B0%D0%BD_(%D1%8D%D0%BB%D0%B5%D0%BC%D0%B5%D0%BD%D1%8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ru.wikipedia.org/wiki/%D0%9C%D0%B5%D0%B0%D0%BD%D0%B4%D1%80_(%D1%80%D0%B0%D0%B4%D0%B8%D0%BE%D1%82%D0%B5%D1%85%D0%BD%D0%B8%D0%BA%D0%B0)" TargetMode="External"/><Relationship Id="rId2" Type="http://schemas.openxmlformats.org/officeDocument/2006/relationships/hyperlink" Target="https://ru.wikipedia.org/wiki/%D0%92%D1%8B%D0%BF%D1%80%D1%8F%D0%BC%D0%B8%D1%82%D0%B5%D0%BB%D1%8C"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ru.wikipedia.org/wiki/%D0%A1%D1%83%D1%85%D0%BE%D0%B5_%D1%85%D1%80%D0%B0%D0%BD%D0%B8%D0%BB%D0%B8%D1%89%D0%B5_%D0%BE%D1%82%D1%80%D0%B0%D0%B1%D0%BE%D1%82%D0%B0%D0%BD%D0%BD%D0%BE%D0%B3%D0%BE_%D1%8F%D0%B4%D0%B5%D1%80%D0%BD%D0%BE%D0%B3%D0%BE_%D1%82%D0%BE%D0%BF%D0%BB%D0%B8%D0%B2%D0%B0"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ru.wikipedia.org/wiki/%D0%97%D0%B0%D0%B3%D0%B0%D1%80" TargetMode="External"/><Relationship Id="rId3" Type="http://schemas.openxmlformats.org/officeDocument/2006/relationships/hyperlink" Target="https://ru.wikipedia.org/wiki/%D0%9A%D0%BE%D1%81%D1%82%D1%8E%D0%BC_%D1%81%D0%B2%D0%B0%D1%80%D1%89%D0%B8%D0%BA%D0%B0" TargetMode="External"/><Relationship Id="rId7" Type="http://schemas.openxmlformats.org/officeDocument/2006/relationships/hyperlink" Target="https://ru.wikipedia.org/wiki/%D0%AD%D0%BB%D0%B5%D0%BA%D1%82%D1%80%D0%BE%D0%BE%D1%84%D1%82%D0%B0%D0%BB%D1%8C%D0%BC%D0%B8%D1%8F" TargetMode="External"/><Relationship Id="rId2" Type="http://schemas.openxmlformats.org/officeDocument/2006/relationships/hyperlink" Target="https://ru.wikipedia.org/wiki/%D0%A1%D0%B2%D0%B0%D1%80%D1%89%D0%B8%D0%BA" TargetMode="External"/><Relationship Id="rId1" Type="http://schemas.openxmlformats.org/officeDocument/2006/relationships/slideLayout" Target="../slideLayouts/slideLayout2.xml"/><Relationship Id="rId6" Type="http://schemas.openxmlformats.org/officeDocument/2006/relationships/hyperlink" Target="https://ru.wikipedia.org/wiki/%D0%A3%D0%BB%D1%8C%D1%82%D1%80%D0%B0%D1%84%D0%B8%D0%BE%D0%BB%D0%B5%D1%82%D0%BE%D0%B2%D0%BE%D0%B5_%D0%B8%D0%B7%D0%BB%D1%83%D1%87%D0%B5%D0%BD%D0%B8%D0%B5" TargetMode="External"/><Relationship Id="rId5" Type="http://schemas.openxmlformats.org/officeDocument/2006/relationships/hyperlink" Target="https://ru.wikipedia.org/wiki/%D0%A1%D0%B2%D0%B0%D1%80%D0%BE%D1%87%D0%BD%D0%B0%D1%8F_%D0%BC%D0%B0%D1%81%D0%BA%D0%B0" TargetMode="External"/><Relationship Id="rId10" Type="http://schemas.openxmlformats.org/officeDocument/2006/relationships/hyperlink" Target="https://ru.wikipedia.org/wiki/%D0%9F%D0%BE%D0%BB%D0%B8%D0%B2%D0%B8%D0%BD%D0%B8%D0%BB%D1%85%D0%BB%D0%BE%D1%80%D0%B8%D0%B4" TargetMode="External"/><Relationship Id="rId4" Type="http://schemas.openxmlformats.org/officeDocument/2006/relationships/hyperlink" Target="https://ru.wikipedia.org/wiki/%D0%9F%D0%B5%D1%80%D1%87%D0%B0%D1%82%D0%BA%D0%B8" TargetMode="External"/><Relationship Id="rId9" Type="http://schemas.openxmlformats.org/officeDocument/2006/relationships/hyperlink" Target="https://ru.wikipedia.org/wiki/%D0%96%D0%B8%D0%B4%D0%BA%D0%B8%D0%B9_%D0%BA%D1%80%D0%B8%D1%81%D1%82%D0%B0%D0%BB%D0%BB"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ru.wikipedia.org/wiki/%D0%9E%D0%B7%D0%BE%D0%BD" TargetMode="External"/><Relationship Id="rId2" Type="http://schemas.openxmlformats.org/officeDocument/2006/relationships/hyperlink" Target="https://ru.wikipedia.org/wiki/%D0%9F%D1%80%D0%B5%D0%B4%D0%B5%D0%BB%D1%8C%D0%BD%D0%BE_%D0%B4%D0%BE%D0%BF%D1%83%D1%81%D1%82%D0%B8%D0%BC%D0%B0%D1%8F_%D0%BA%D0%BE%D0%BD%D1%86%D0%B5%D0%BD%D1%82%D1%80%D0%B0%D1%86%D0%B8%D1%8F"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404664"/>
            <a:ext cx="8229600" cy="5721499"/>
          </a:xfrm>
        </p:spPr>
        <p:txBody>
          <a:bodyPr>
            <a:normAutofit/>
          </a:bodyPr>
          <a:lstStyle/>
          <a:p>
            <a:pPr algn="ctr"/>
            <a:endParaRPr lang="ru-RU" dirty="0" smtClean="0"/>
          </a:p>
          <a:p>
            <a:pPr algn="ctr"/>
            <a:endParaRPr lang="ru-RU" dirty="0"/>
          </a:p>
          <a:p>
            <a:pPr algn="ctr"/>
            <a:endParaRPr lang="ru-RU" dirty="0" smtClean="0"/>
          </a:p>
          <a:p>
            <a:pPr algn="ctr"/>
            <a:endParaRPr lang="ru-RU" dirty="0"/>
          </a:p>
          <a:p>
            <a:pPr algn="ctr"/>
            <a:endParaRPr lang="ru-RU" dirty="0" smtClean="0"/>
          </a:p>
          <a:p>
            <a:pPr algn="ctr"/>
            <a:r>
              <a:rPr lang="ru-RU" dirty="0" smtClean="0"/>
              <a:t>Сварка неплавящимся </a:t>
            </a:r>
            <a:r>
              <a:rPr lang="ru-RU" dirty="0"/>
              <a:t>электродом в </a:t>
            </a:r>
            <a:r>
              <a:rPr lang="ru-RU" dirty="0" smtClean="0"/>
              <a:t>защитном газе.</a:t>
            </a:r>
          </a:p>
          <a:p>
            <a:pPr algn="ctr"/>
            <a:endParaRPr lang="ru-RU" dirty="0"/>
          </a:p>
          <a:p>
            <a:endParaRPr lang="ru-RU" dirty="0" smtClean="0"/>
          </a:p>
          <a:p>
            <a:endParaRPr lang="ru-RU" dirty="0"/>
          </a:p>
          <a:p>
            <a:endParaRPr lang="ru-RU" dirty="0" smtClean="0"/>
          </a:p>
          <a:p>
            <a:endParaRPr lang="ru-RU" dirty="0"/>
          </a:p>
          <a:p>
            <a:endParaRPr lang="ru-RU" dirty="0" smtClean="0"/>
          </a:p>
          <a:p>
            <a:endParaRPr lang="ru-RU" dirty="0"/>
          </a:p>
          <a:p>
            <a:endParaRPr lang="ru-RU" dirty="0"/>
          </a:p>
        </p:txBody>
      </p:sp>
    </p:spTree>
    <p:extLst>
      <p:ext uri="{BB962C8B-B14F-4D97-AF65-F5344CB8AC3E}">
        <p14:creationId xmlns:p14="http://schemas.microsoft.com/office/powerpoint/2010/main" val="4052828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332656"/>
            <a:ext cx="8229600" cy="5793507"/>
          </a:xfrm>
        </p:spPr>
        <p:txBody>
          <a:bodyPr>
            <a:noAutofit/>
          </a:bodyPr>
          <a:lstStyle/>
          <a:p>
            <a:r>
              <a:rPr lang="ru-RU" sz="1800" b="1" dirty="0"/>
              <a:t>Дуговая сварка неплавящимся электродом в защитной атмосфере инертного газа</a:t>
            </a:r>
            <a:r>
              <a:rPr lang="ru-RU" sz="1800" dirty="0"/>
              <a:t> — метод </a:t>
            </a:r>
            <a:r>
              <a:rPr lang="ru-RU" sz="1800" dirty="0">
                <a:hlinkClick r:id="rId2" tooltip="Дуговая сварка"/>
              </a:rPr>
              <a:t>дуговой сварки</a:t>
            </a:r>
            <a:r>
              <a:rPr lang="ru-RU" sz="1800" dirty="0"/>
              <a:t>, который используется для сварки </a:t>
            </a:r>
            <a:r>
              <a:rPr lang="ru-RU" sz="1800" dirty="0">
                <a:hlinkClick r:id="rId3" tooltip="Алюминий"/>
              </a:rPr>
              <a:t>алюминия</a:t>
            </a:r>
            <a:r>
              <a:rPr lang="ru-RU" sz="1800" dirty="0"/>
              <a:t>, </a:t>
            </a:r>
            <a:r>
              <a:rPr lang="ru-RU" sz="1800" dirty="0">
                <a:hlinkClick r:id="rId4" tooltip="Магний"/>
              </a:rPr>
              <a:t>магния</a:t>
            </a:r>
            <a:r>
              <a:rPr lang="ru-RU" sz="1800" dirty="0"/>
              <a:t> и их сплавов, </a:t>
            </a:r>
            <a:r>
              <a:rPr lang="ru-RU" sz="1800" dirty="0">
                <a:hlinkClick r:id="rId5" tooltip="Нержавеющая сталь"/>
              </a:rPr>
              <a:t>нержавеющей стали</a:t>
            </a:r>
            <a:r>
              <a:rPr lang="ru-RU" sz="1800" dirty="0"/>
              <a:t>, </a:t>
            </a:r>
            <a:r>
              <a:rPr lang="ru-RU" sz="1800" dirty="0">
                <a:hlinkClick r:id="rId6" tooltip="Никель"/>
              </a:rPr>
              <a:t>никеля</a:t>
            </a:r>
            <a:r>
              <a:rPr lang="ru-RU" sz="1800" dirty="0"/>
              <a:t>, </a:t>
            </a:r>
            <a:r>
              <a:rPr lang="ru-RU" sz="1800" dirty="0">
                <a:hlinkClick r:id="rId7" tooltip="Медь"/>
              </a:rPr>
              <a:t>меди</a:t>
            </a:r>
            <a:r>
              <a:rPr lang="ru-RU" sz="1800" dirty="0"/>
              <a:t>, </a:t>
            </a:r>
            <a:r>
              <a:rPr lang="ru-RU" sz="1800" dirty="0">
                <a:hlinkClick r:id="rId8" tooltip="Бронза"/>
              </a:rPr>
              <a:t>бронзы</a:t>
            </a:r>
            <a:r>
              <a:rPr lang="ru-RU" sz="1800" dirty="0"/>
              <a:t>, </a:t>
            </a:r>
            <a:r>
              <a:rPr lang="ru-RU" sz="1800" dirty="0">
                <a:hlinkClick r:id="rId9" tooltip="Титан (элемент)"/>
              </a:rPr>
              <a:t>титана</a:t>
            </a:r>
            <a:r>
              <a:rPr lang="ru-RU" sz="1800" dirty="0"/>
              <a:t>, </a:t>
            </a:r>
            <a:r>
              <a:rPr lang="ru-RU" sz="1800" dirty="0">
                <a:hlinkClick r:id="rId10" tooltip="Цирконий"/>
              </a:rPr>
              <a:t>циркония</a:t>
            </a:r>
            <a:r>
              <a:rPr lang="ru-RU" sz="1800" dirty="0"/>
              <a:t> и других неферромагнитных металлов. Техника сварки похожа на </a:t>
            </a:r>
            <a:r>
              <a:rPr lang="ru-RU" sz="1800" dirty="0">
                <a:hlinkClick r:id="rId11" tooltip="Газовая сварка"/>
              </a:rPr>
              <a:t>газовую (автогенную) сварку</a:t>
            </a:r>
            <a:r>
              <a:rPr lang="ru-RU" sz="1800" dirty="0"/>
              <a:t>, следовательно, требует высокой квалификации </a:t>
            </a:r>
            <a:r>
              <a:rPr lang="ru-RU" sz="1800" dirty="0">
                <a:hlinkClick r:id="rId12" tooltip="Сварщик"/>
              </a:rPr>
              <a:t>сварщика</a:t>
            </a:r>
            <a:r>
              <a:rPr lang="ru-RU" sz="1800" dirty="0"/>
              <a:t>. Применением данного технологического процесса можно получить сварные швы высокого качества. Однако показатели производительности при использовании этого метода — для ручной сварки, оказываются весьма низкими и не могут соперничать со сваркой плавящимся электродом в атмосфере защитного газа, особенно с применением сварочных полуавтоматов или </a:t>
            </a:r>
            <a:r>
              <a:rPr lang="ru-RU" sz="1800" dirty="0">
                <a:hlinkClick r:id="rId13" tooltip="Промышленный робот"/>
              </a:rPr>
              <a:t>роботов</a:t>
            </a:r>
            <a:r>
              <a:rPr lang="ru-RU" sz="1800" dirty="0"/>
              <a:t>.</a:t>
            </a:r>
          </a:p>
          <a:p>
            <a:r>
              <a:rPr lang="ru-RU" sz="1800" dirty="0"/>
              <a:t>Одним из главных преимуществ данной технологии является возможность сварки самых разнообразных материалов, таких как низкоуглеродистые и высоколегированные стали и мартенситных сталей, но наиболее ценным — возможность качественной сварки сплавов алюминия и магния, и помимо этого — таких металлов и сплавов, как титан, цирконий, </a:t>
            </a:r>
            <a:r>
              <a:rPr lang="ru-RU" sz="1800" dirty="0">
                <a:hlinkClick r:id="rId14" tooltip="Молибден"/>
              </a:rPr>
              <a:t>молибден</a:t>
            </a:r>
            <a:r>
              <a:rPr lang="ru-RU" sz="1800" dirty="0"/>
              <a:t>, никель, медь, бронза, </a:t>
            </a:r>
            <a:r>
              <a:rPr lang="ru-RU" sz="1800" dirty="0">
                <a:hlinkClick r:id="rId15" tooltip="Латунь"/>
              </a:rPr>
              <a:t>латунь</a:t>
            </a:r>
            <a:r>
              <a:rPr lang="ru-RU" sz="1800" dirty="0"/>
              <a:t>. Метод с успехом используется также и для сварки разнородных материалов друг с другом, например, </a:t>
            </a:r>
            <a:r>
              <a:rPr lang="ru-RU" sz="1800" dirty="0">
                <a:hlinkClick r:id="rId16" tooltip="Инструментальная сталь"/>
              </a:rPr>
              <a:t>углеродистых сталей</a:t>
            </a:r>
            <a:r>
              <a:rPr lang="ru-RU" sz="1800" dirty="0"/>
              <a:t> и </a:t>
            </a:r>
            <a:r>
              <a:rPr lang="ru-RU" sz="1800" dirty="0">
                <a:hlinkClick r:id="rId5" tooltip="Нержавеющая сталь"/>
              </a:rPr>
              <a:t>нержавеющих сталей</a:t>
            </a:r>
            <a:r>
              <a:rPr lang="ru-RU" sz="1800" dirty="0"/>
              <a:t>, меди с латунью и др. Недостаток здесь только один: при сварке углеродистых сталей имеется повышенный риск образования пор в сварных швах.</a:t>
            </a:r>
            <a:r>
              <a:rPr lang="ru-RU" sz="1800" baseline="30000" dirty="0">
                <a:hlinkClick r:id="rId17"/>
              </a:rPr>
              <a:t>[1]</a:t>
            </a:r>
            <a:endParaRPr lang="ru-RU" sz="1800" dirty="0"/>
          </a:p>
        </p:txBody>
      </p:sp>
    </p:spTree>
    <p:extLst>
      <p:ext uri="{BB962C8B-B14F-4D97-AF65-F5344CB8AC3E}">
        <p14:creationId xmlns:p14="http://schemas.microsoft.com/office/powerpoint/2010/main" val="3656825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260648"/>
            <a:ext cx="8229600" cy="5865515"/>
          </a:xfrm>
        </p:spPr>
        <p:txBody>
          <a:bodyPr>
            <a:normAutofit fontScale="85000" lnSpcReduction="20000"/>
          </a:bodyPr>
          <a:lstStyle/>
          <a:p>
            <a:r>
              <a:rPr lang="ru-RU" dirty="0"/>
              <a:t>Способ характеризуется двумя аспектами. Во-первых, в использовании неплавящихся вольфрамовых электродов. Во-вторых, в использовании </a:t>
            </a:r>
            <a:r>
              <a:rPr lang="ru-RU" dirty="0">
                <a:hlinkClick r:id="rId2" tooltip="Инертный газ"/>
              </a:rPr>
              <a:t>инертных газов</a:t>
            </a:r>
            <a:r>
              <a:rPr lang="ru-RU" dirty="0"/>
              <a:t>, которые защищают как сварочную ванну, так и собственно электрод. В некоторых случаях, кроме </a:t>
            </a:r>
            <a:r>
              <a:rPr lang="ru-RU" dirty="0">
                <a:hlinkClick r:id="rId3" tooltip="Аргон"/>
              </a:rPr>
              <a:t>аргона</a:t>
            </a:r>
            <a:r>
              <a:rPr lang="ru-RU" dirty="0"/>
              <a:t> или </a:t>
            </a:r>
            <a:r>
              <a:rPr lang="ru-RU" dirty="0">
                <a:hlinkClick r:id="rId4" tooltip="Гелий"/>
              </a:rPr>
              <a:t>гелия</a:t>
            </a:r>
            <a:r>
              <a:rPr lang="ru-RU" dirty="0"/>
              <a:t> используется </a:t>
            </a:r>
            <a:r>
              <a:rPr lang="ru-RU" dirty="0">
                <a:hlinkClick r:id="rId5" tooltip="Водород"/>
              </a:rPr>
              <a:t>водород</a:t>
            </a:r>
            <a:r>
              <a:rPr lang="ru-RU" dirty="0"/>
              <a:t> или </a:t>
            </a:r>
            <a:r>
              <a:rPr lang="ru-RU" dirty="0">
                <a:hlinkClick r:id="rId6" tooltip="Азот"/>
              </a:rPr>
              <a:t>азот</a:t>
            </a:r>
            <a:r>
              <a:rPr lang="ru-RU" dirty="0"/>
              <a:t>.</a:t>
            </a:r>
          </a:p>
          <a:p>
            <a:r>
              <a:rPr lang="ru-RU" dirty="0"/>
              <a:t>Оригинальное название метода происходит от гелия, используемого при первых опытах сварки с помощью этого метода.</a:t>
            </a:r>
          </a:p>
          <a:p>
            <a:r>
              <a:rPr lang="ru-RU" dirty="0"/>
              <a:t>В Европе метод часто сокращенно зовётся </a:t>
            </a:r>
            <a:r>
              <a:rPr lang="ru-RU" b="1" dirty="0"/>
              <a:t>TIG</a:t>
            </a:r>
            <a:r>
              <a:rPr lang="ru-RU" dirty="0"/>
              <a:t> или </a:t>
            </a:r>
            <a:r>
              <a:rPr lang="ru-RU" b="1" dirty="0"/>
              <a:t>WIG</a:t>
            </a:r>
            <a:r>
              <a:rPr lang="ru-RU" dirty="0"/>
              <a:t>. </a:t>
            </a:r>
            <a:r>
              <a:rPr lang="ru-RU" b="1" dirty="0"/>
              <a:t>WIG</a:t>
            </a:r>
            <a:r>
              <a:rPr lang="ru-RU" dirty="0"/>
              <a:t> происходит от немецкого </a:t>
            </a:r>
            <a:r>
              <a:rPr lang="ru-RU" i="1" dirty="0" err="1"/>
              <a:t>Wolfram-Inertgasschweißen</a:t>
            </a:r>
            <a:r>
              <a:rPr lang="ru-RU" dirty="0" smtClean="0"/>
              <a:t>. </a:t>
            </a:r>
            <a:r>
              <a:rPr lang="ru-RU" i="1" dirty="0" smtClean="0"/>
              <a:t>TIG</a:t>
            </a:r>
            <a:r>
              <a:rPr lang="ru-RU" dirty="0"/>
              <a:t> является альтернативной аббревиатурой, применяемой в англоговорящих странах, где Т обозначает 'вольфрам' (</a:t>
            </a:r>
            <a:r>
              <a:rPr lang="ru-RU" i="1" dirty="0" err="1"/>
              <a:t>tungsten</a:t>
            </a:r>
            <a:r>
              <a:rPr lang="ru-RU" dirty="0"/>
              <a:t> — </a:t>
            </a:r>
            <a:r>
              <a:rPr lang="ru-RU" dirty="0">
                <a:hlinkClick r:id="rId7" tooltip="Английский язык"/>
              </a:rPr>
              <a:t>англ.</a:t>
            </a:r>
            <a:r>
              <a:rPr lang="ru-RU" dirty="0"/>
              <a:t> </a:t>
            </a:r>
            <a:r>
              <a:rPr lang="ru-RU" i="1" dirty="0"/>
              <a:t> </a:t>
            </a:r>
            <a:r>
              <a:rPr lang="ru-RU" i="1" dirty="0" err="1"/>
              <a:t>tungsten</a:t>
            </a:r>
            <a:r>
              <a:rPr lang="ru-RU" dirty="0"/>
              <a:t> — </a:t>
            </a:r>
            <a:r>
              <a:rPr lang="ru-RU" dirty="0">
                <a:hlinkClick r:id="rId8" tooltip="Вольфрам"/>
              </a:rPr>
              <a:t>Вольфрам</a:t>
            </a:r>
            <a:r>
              <a:rPr lang="ru-RU" dirty="0"/>
              <a:t>). А в </a:t>
            </a:r>
            <a:r>
              <a:rPr lang="ru-RU" dirty="0">
                <a:hlinkClick r:id="rId9" tooltip="США"/>
              </a:rPr>
              <a:t>США</a:t>
            </a:r>
            <a:r>
              <a:rPr lang="ru-RU" dirty="0"/>
              <a:t> обычно обозначается </a:t>
            </a:r>
            <a:r>
              <a:rPr lang="ru-RU" b="1" dirty="0"/>
              <a:t>GTAW</a:t>
            </a:r>
            <a:r>
              <a:rPr lang="ru-RU" dirty="0"/>
              <a:t> — аббревиатура от </a:t>
            </a:r>
            <a:r>
              <a:rPr lang="ru-RU" i="1" dirty="0" err="1"/>
              <a:t>Gas</a:t>
            </a:r>
            <a:r>
              <a:rPr lang="ru-RU" i="1" dirty="0"/>
              <a:t> </a:t>
            </a:r>
            <a:r>
              <a:rPr lang="ru-RU" i="1" dirty="0" err="1"/>
              <a:t>Tungsten</a:t>
            </a:r>
            <a:r>
              <a:rPr lang="ru-RU" i="1" dirty="0"/>
              <a:t> </a:t>
            </a:r>
            <a:r>
              <a:rPr lang="ru-RU" i="1" dirty="0" err="1"/>
              <a:t>Arc</a:t>
            </a:r>
            <a:r>
              <a:rPr lang="ru-RU" i="1" dirty="0"/>
              <a:t> </a:t>
            </a:r>
            <a:r>
              <a:rPr lang="ru-RU" i="1" dirty="0" err="1"/>
              <a:t>Welding</a:t>
            </a:r>
            <a:r>
              <a:rPr lang="ru-RU" dirty="0"/>
              <a:t>. В США — применяется стандарт AWS D10.11M/D10.11. </a:t>
            </a:r>
            <a:r>
              <a:rPr lang="ru-RU" dirty="0" smtClean="0"/>
              <a:t>Нумерация </a:t>
            </a:r>
            <a:r>
              <a:rPr lang="ru-RU" dirty="0"/>
              <a:t>метода в соответствии с ISO — 4063.</a:t>
            </a:r>
          </a:p>
          <a:p>
            <a:endParaRPr lang="ru-RU" dirty="0"/>
          </a:p>
        </p:txBody>
      </p:sp>
    </p:spTree>
    <p:extLst>
      <p:ext uri="{BB962C8B-B14F-4D97-AF65-F5344CB8AC3E}">
        <p14:creationId xmlns:p14="http://schemas.microsoft.com/office/powerpoint/2010/main" val="3402845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332656"/>
            <a:ext cx="8229600" cy="5793507"/>
          </a:xfrm>
        </p:spPr>
        <p:txBody>
          <a:bodyPr>
            <a:normAutofit fontScale="62500" lnSpcReduction="20000"/>
          </a:bodyPr>
          <a:lstStyle/>
          <a:p>
            <a:r>
              <a:rPr lang="ru-RU" dirty="0"/>
              <a:t>Первые годы после открытия дугового электрического разряда </a:t>
            </a:r>
            <a:r>
              <a:rPr lang="ru-RU" dirty="0">
                <a:hlinkClick r:id="rId2" tooltip="Дэви, Гемфри"/>
              </a:rPr>
              <a:t>Гэмфри </a:t>
            </a:r>
            <a:r>
              <a:rPr lang="ru-RU" dirty="0" smtClean="0">
                <a:hlinkClick r:id="rId2" tooltip="Дэви, Гемфри"/>
              </a:rPr>
              <a:t>Дэви</a:t>
            </a:r>
            <a:r>
              <a:rPr lang="ru-RU" dirty="0"/>
              <a:t> в 1800 году и </a:t>
            </a:r>
            <a:r>
              <a:rPr lang="ru-RU" dirty="0">
                <a:hlinkClick r:id="rId3" tooltip="Электрическая дуга"/>
              </a:rPr>
              <a:t>электрической дуги</a:t>
            </a:r>
            <a:r>
              <a:rPr lang="ru-RU" dirty="0"/>
              <a:t> </a:t>
            </a:r>
            <a:r>
              <a:rPr lang="ru-RU" dirty="0">
                <a:hlinkClick r:id="rId4" tooltip="Петров, Василий Владимирович"/>
              </a:rPr>
              <a:t>Василием Петровым</a:t>
            </a:r>
            <a:r>
              <a:rPr lang="ru-RU" dirty="0"/>
              <a:t> в 1802, технология дуговой сварки развивалась медленно.</a:t>
            </a:r>
          </a:p>
          <a:p>
            <a:r>
              <a:rPr lang="ru-RU" dirty="0"/>
              <a:t>Идею сварки неплавящимся электродом в среде защитного газа выдвинул только в 1890 году </a:t>
            </a:r>
            <a:r>
              <a:rPr lang="ru-RU" dirty="0">
                <a:hlinkClick r:id="rId5" tooltip="Чарльз Л. Коффин (страница отсутствует)"/>
              </a:rPr>
              <a:t>Чарльз Л. </a:t>
            </a:r>
            <a:r>
              <a:rPr lang="ru-RU" dirty="0" err="1" smtClean="0">
                <a:hlinkClick r:id="rId5" tooltip="Чарльз Л. Коффин (страница отсутствует)"/>
              </a:rPr>
              <a:t>Коффин</a:t>
            </a:r>
            <a:r>
              <a:rPr lang="ru-RU" dirty="0" smtClean="0"/>
              <a:t>, </a:t>
            </a:r>
            <a:r>
              <a:rPr lang="ru-RU" dirty="0"/>
              <a:t>получив на него </a:t>
            </a:r>
            <a:r>
              <a:rPr lang="ru-RU" dirty="0">
                <a:hlinkClick r:id="rId6"/>
              </a:rPr>
              <a:t>патент США 419032</a:t>
            </a:r>
            <a:endParaRPr lang="ru-RU" dirty="0"/>
          </a:p>
          <a:p>
            <a:r>
              <a:rPr lang="ru-RU" dirty="0"/>
              <a:t>Но даже и в начале XX столетия сварка неферромагнитных материалов, таких, как </a:t>
            </a:r>
            <a:r>
              <a:rPr lang="ru-RU" dirty="0">
                <a:hlinkClick r:id="rId7" tooltip="Алюминий"/>
              </a:rPr>
              <a:t>алюминий</a:t>
            </a:r>
            <a:r>
              <a:rPr lang="ru-RU" dirty="0"/>
              <a:t> и </a:t>
            </a:r>
            <a:r>
              <a:rPr lang="ru-RU" dirty="0">
                <a:hlinkClick r:id="rId8" tooltip="Магний"/>
              </a:rPr>
              <a:t>магний</a:t>
            </a:r>
            <a:r>
              <a:rPr lang="ru-RU" dirty="0"/>
              <a:t>, вызывала значительные трудности ввиду того, что эти металлы быстро вступают в реакцию с воздухом, при том образуя поры и примеси в сварных соединениях, резко ухудшающие их качество</a:t>
            </a:r>
            <a:r>
              <a:rPr lang="ru-RU" dirty="0" smtClean="0"/>
              <a:t>.</a:t>
            </a:r>
            <a:endParaRPr lang="ru-RU" dirty="0"/>
          </a:p>
          <a:p>
            <a:r>
              <a:rPr lang="ru-RU" dirty="0"/>
              <a:t>Производство качественной сварки стали и других металлов требует в процессе сварки удаления </a:t>
            </a:r>
            <a:r>
              <a:rPr lang="ru-RU" dirty="0">
                <a:hlinkClick r:id="rId9" tooltip="Водород"/>
              </a:rPr>
              <a:t>водорода</a:t>
            </a:r>
            <a:r>
              <a:rPr lang="ru-RU" dirty="0"/>
              <a:t>, </a:t>
            </a:r>
            <a:r>
              <a:rPr lang="ru-RU" dirty="0">
                <a:hlinkClick r:id="rId10" tooltip="Азот"/>
              </a:rPr>
              <a:t>азота</a:t>
            </a:r>
            <a:r>
              <a:rPr lang="ru-RU" dirty="0"/>
              <a:t> и </a:t>
            </a:r>
            <a:r>
              <a:rPr lang="ru-RU" dirty="0">
                <a:hlinkClick r:id="rId11" tooltip="Кислород"/>
              </a:rPr>
              <a:t>кислорода</a:t>
            </a:r>
            <a:r>
              <a:rPr lang="ru-RU" dirty="0"/>
              <a:t> из расплава, и, таким образом, предотвращения образования нежелательных пузырьков или пор. Для достижения качества сварных швов требуется применять либо сварочную ванну, либо дополнительные приспособления для защиты свариваемых деталей от окружающей атмосферы.</a:t>
            </a:r>
          </a:p>
          <a:p>
            <a:r>
              <a:rPr lang="ru-RU" dirty="0"/>
              <a:t>Несколько десятилетий спустя, в 1920-х годах </a:t>
            </a:r>
            <a:r>
              <a:rPr lang="ru-RU" dirty="0" err="1">
                <a:hlinkClick r:id="rId12" tooltip="Ленгмюр, Ирвинг"/>
              </a:rPr>
              <a:t>Ирвинг</a:t>
            </a:r>
            <a:r>
              <a:rPr lang="ru-RU" dirty="0">
                <a:hlinkClick r:id="rId12" tooltip="Ленгмюр, Ирвинг"/>
              </a:rPr>
              <a:t> </a:t>
            </a:r>
            <a:r>
              <a:rPr lang="ru-RU" dirty="0" err="1">
                <a:hlinkClick r:id="rId12" tooltip="Ленгмюр, Ирвинг"/>
              </a:rPr>
              <a:t>Ленгмюр</a:t>
            </a:r>
            <a:r>
              <a:rPr lang="ru-RU" dirty="0"/>
              <a:t> предложил процесс, пригодный для высокотемпературной дуговой сварки — сварку дугой, образующейся между двух </a:t>
            </a:r>
            <a:r>
              <a:rPr lang="ru-RU" dirty="0">
                <a:hlinkClick r:id="rId13" tooltip="Вольфрам"/>
              </a:rPr>
              <a:t>вольфрамовых</a:t>
            </a:r>
            <a:r>
              <a:rPr lang="ru-RU" dirty="0"/>
              <a:t> — электродов в атмосфере </a:t>
            </a:r>
            <a:r>
              <a:rPr lang="ru-RU" dirty="0">
                <a:hlinkClick r:id="rId9" tooltip="Водород"/>
              </a:rPr>
              <a:t>водорода</a:t>
            </a:r>
            <a:r>
              <a:rPr lang="ru-RU" dirty="0"/>
              <a:t>. Дуга в атмосфере водорода приводит к диссоциации и рекомбинации молекул водорода для выхода большого количества тепла. В </a:t>
            </a:r>
            <a:r>
              <a:rPr lang="ru-RU" dirty="0">
                <a:hlinkClick r:id="rId14" tooltip="1924"/>
              </a:rPr>
              <a:t>1924</a:t>
            </a:r>
            <a:r>
              <a:rPr lang="ru-RU" dirty="0"/>
              <a:t> он получил </a:t>
            </a:r>
            <a:r>
              <a:rPr lang="ru-RU" dirty="0">
                <a:hlinkClick r:id="rId15"/>
              </a:rPr>
              <a:t>патент США 1952927</a:t>
            </a:r>
            <a:endParaRPr lang="ru-RU" dirty="0"/>
          </a:p>
          <a:p>
            <a:endParaRPr lang="ru-RU" dirty="0"/>
          </a:p>
        </p:txBody>
      </p:sp>
    </p:spTree>
    <p:extLst>
      <p:ext uri="{BB962C8B-B14F-4D97-AF65-F5344CB8AC3E}">
        <p14:creationId xmlns:p14="http://schemas.microsoft.com/office/powerpoint/2010/main" val="2615984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404664"/>
            <a:ext cx="8229600" cy="5721499"/>
          </a:xfrm>
        </p:spPr>
        <p:txBody>
          <a:bodyPr>
            <a:normAutofit fontScale="77500" lnSpcReduction="20000"/>
          </a:bodyPr>
          <a:lstStyle/>
          <a:p>
            <a:r>
              <a:rPr lang="ru-RU" dirty="0"/>
              <a:t>Разработку технологии вышеописанного процесса выполнили в </a:t>
            </a:r>
            <a:r>
              <a:rPr lang="ru-RU" dirty="0">
                <a:hlinkClick r:id="rId2" tooltip="1941 год"/>
              </a:rPr>
              <a:t>1941 году</a:t>
            </a:r>
            <a:r>
              <a:rPr lang="ru-RU" dirty="0"/>
              <a:t> сотрудники корпорации </a:t>
            </a:r>
            <a:r>
              <a:rPr lang="ru-RU" dirty="0" err="1">
                <a:hlinkClick r:id="rId3" tooltip="Northrop"/>
              </a:rPr>
              <a:t>Northrop</a:t>
            </a:r>
            <a:r>
              <a:rPr lang="ru-RU" dirty="0">
                <a:hlinkClick r:id="rId3" tooltip="Northrop"/>
              </a:rPr>
              <a:t> </a:t>
            </a:r>
            <a:r>
              <a:rPr lang="ru-RU" dirty="0" err="1">
                <a:hlinkClick r:id="rId3" tooltip="Northrop"/>
              </a:rPr>
              <a:t>Aircraft</a:t>
            </a:r>
            <a:r>
              <a:rPr lang="ru-RU" dirty="0">
                <a:hlinkClick r:id="rId3" tooltip="Northrop"/>
              </a:rPr>
              <a:t> </a:t>
            </a:r>
            <a:r>
              <a:rPr lang="ru-RU" dirty="0" err="1">
                <a:hlinkClick r:id="rId3" tooltip="Northrop"/>
              </a:rPr>
              <a:t>Inc</a:t>
            </a:r>
            <a:r>
              <a:rPr lang="ru-RU" dirty="0">
                <a:hlinkClick r:id="rId3" tooltip="Northrop"/>
              </a:rPr>
              <a:t>.</a:t>
            </a:r>
            <a:r>
              <a:rPr lang="ru-RU" dirty="0"/>
              <a:t> </a:t>
            </a:r>
            <a:r>
              <a:rPr lang="ru-RU" dirty="0" err="1"/>
              <a:t>В.Павлечка</a:t>
            </a:r>
            <a:r>
              <a:rPr lang="ru-RU" dirty="0"/>
              <a:t> (</a:t>
            </a:r>
            <a:r>
              <a:rPr lang="ru-RU" dirty="0" err="1">
                <a:hlinkClick r:id="rId4" tooltip="Чешский язык"/>
              </a:rPr>
              <a:t>чеш</a:t>
            </a:r>
            <a:r>
              <a:rPr lang="ru-RU" dirty="0">
                <a:hlinkClick r:id="rId4" tooltip="Чешский язык"/>
              </a:rPr>
              <a:t>.</a:t>
            </a:r>
            <a:r>
              <a:rPr lang="ru-RU" dirty="0"/>
              <a:t> </a:t>
            </a:r>
            <a:r>
              <a:rPr lang="cs-CZ" i="1" dirty="0"/>
              <a:t>V.Pavlečka</a:t>
            </a:r>
            <a:r>
              <a:rPr lang="ru-RU" dirty="0"/>
              <a:t>) и </a:t>
            </a:r>
            <a:r>
              <a:rPr lang="ru-RU" dirty="0" err="1"/>
              <a:t>Расс</a:t>
            </a:r>
            <a:r>
              <a:rPr lang="ru-RU" dirty="0"/>
              <a:t> </a:t>
            </a:r>
            <a:r>
              <a:rPr lang="ru-RU" dirty="0" err="1"/>
              <a:t>Мередит</a:t>
            </a:r>
            <a:r>
              <a:rPr lang="ru-RU" dirty="0"/>
              <a:t> (</a:t>
            </a:r>
            <a:r>
              <a:rPr lang="ru-RU" dirty="0">
                <a:hlinkClick r:id="rId5" tooltip="Английский язык"/>
              </a:rPr>
              <a:t>англ.</a:t>
            </a:r>
            <a:r>
              <a:rPr lang="ru-RU" dirty="0"/>
              <a:t> </a:t>
            </a:r>
            <a:r>
              <a:rPr lang="ru-RU" i="1" dirty="0" err="1"/>
              <a:t>Russ</a:t>
            </a:r>
            <a:r>
              <a:rPr lang="ru-RU" i="1" dirty="0"/>
              <a:t> </a:t>
            </a:r>
            <a:r>
              <a:rPr lang="ru-RU" i="1" dirty="0" err="1"/>
              <a:t>Meredith</a:t>
            </a:r>
            <a:r>
              <a:rPr lang="ru-RU" dirty="0"/>
              <a:t>), разработавшие техпроцесс сварки неплавящимся вольфрамовым электродом, который пригоден для сварки </a:t>
            </a:r>
            <a:r>
              <a:rPr lang="ru-RU" dirty="0">
                <a:hlinkClick r:id="rId6" tooltip="Магния"/>
              </a:rPr>
              <a:t>магния</a:t>
            </a:r>
            <a:r>
              <a:rPr lang="ru-RU" dirty="0"/>
              <a:t>, </a:t>
            </a:r>
            <a:r>
              <a:rPr lang="ru-RU" dirty="0">
                <a:hlinkClick r:id="rId7" tooltip="Алюминий"/>
              </a:rPr>
              <a:t>алюминия</a:t>
            </a:r>
            <a:r>
              <a:rPr lang="ru-RU" dirty="0"/>
              <a:t> и </a:t>
            </a:r>
            <a:r>
              <a:rPr lang="ru-RU" dirty="0">
                <a:hlinkClick r:id="rId8" tooltip="Никель"/>
              </a:rPr>
              <a:t>никеля</a:t>
            </a:r>
            <a:r>
              <a:rPr lang="ru-RU" dirty="0"/>
              <a:t> в защитной атмосфере гелия. Благодаря использованию метода открылись новые возможности для сваривания материалов, используемых в </a:t>
            </a:r>
            <a:r>
              <a:rPr lang="ru-RU" dirty="0">
                <a:hlinkClick r:id="rId9" tooltip="Авиационная промышленность"/>
              </a:rPr>
              <a:t>авиационной промышленности</a:t>
            </a:r>
            <a:r>
              <a:rPr lang="ru-RU" dirty="0"/>
              <a:t>, что оказалось особенно ценным при выпуске военной техники в начале </a:t>
            </a:r>
            <a:r>
              <a:rPr lang="ru-RU" dirty="0">
                <a:hlinkClick r:id="rId10" tooltip="Вторая мировая война"/>
              </a:rPr>
              <a:t>Второй мировой войны</a:t>
            </a:r>
            <a:r>
              <a:rPr lang="ru-RU" dirty="0" smtClean="0"/>
              <a:t>.</a:t>
            </a:r>
            <a:endParaRPr lang="ru-RU" dirty="0"/>
          </a:p>
          <a:p>
            <a:r>
              <a:rPr lang="ru-RU" dirty="0"/>
              <a:t>На разработанную тогда сварочную горелку был получен </a:t>
            </a:r>
            <a:r>
              <a:rPr lang="ru-RU" dirty="0">
                <a:hlinkClick r:id="rId11"/>
              </a:rPr>
              <a:t>патент США US2274631</a:t>
            </a:r>
            <a:r>
              <a:rPr lang="ru-RU" dirty="0"/>
              <a:t>.</a:t>
            </a:r>
          </a:p>
          <a:p>
            <a:r>
              <a:rPr lang="ru-RU" dirty="0"/>
              <a:t>В конце 50-х годов XX века Нельсон Э. Андерсон (</a:t>
            </a:r>
            <a:r>
              <a:rPr lang="ru-RU" dirty="0">
                <a:hlinkClick r:id="rId5" tooltip="Английский язык"/>
              </a:rPr>
              <a:t>англ.</a:t>
            </a:r>
            <a:r>
              <a:rPr lang="ru-RU" dirty="0"/>
              <a:t> </a:t>
            </a:r>
            <a:r>
              <a:rPr lang="ru-RU" i="1" dirty="0" err="1"/>
              <a:t>Nelson</a:t>
            </a:r>
            <a:r>
              <a:rPr lang="ru-RU" i="1" dirty="0"/>
              <a:t> E. </a:t>
            </a:r>
            <a:r>
              <a:rPr lang="ru-RU" i="1" dirty="0" err="1"/>
              <a:t>Anderson</a:t>
            </a:r>
            <a:r>
              <a:rPr lang="ru-RU" dirty="0"/>
              <a:t>) запатентовал </a:t>
            </a:r>
            <a:r>
              <a:rPr lang="ru-RU" dirty="0">
                <a:hlinkClick r:id="rId12"/>
              </a:rPr>
              <a:t>метод сварки импульсным током (патент США US2784349)</a:t>
            </a:r>
            <a:r>
              <a:rPr lang="ru-RU" dirty="0"/>
              <a:t>, при котором сварочный ток представляет собою последовательность регулярно и предопределённо чередующиеся импульсов высоких и низких амплитуд. </a:t>
            </a:r>
          </a:p>
          <a:p>
            <a:endParaRPr lang="ru-RU" dirty="0"/>
          </a:p>
        </p:txBody>
      </p:sp>
    </p:spTree>
    <p:extLst>
      <p:ext uri="{BB962C8B-B14F-4D97-AF65-F5344CB8AC3E}">
        <p14:creationId xmlns:p14="http://schemas.microsoft.com/office/powerpoint/2010/main" val="2196640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404664"/>
            <a:ext cx="8229600" cy="6048672"/>
          </a:xfrm>
        </p:spPr>
        <p:txBody>
          <a:bodyPr>
            <a:normAutofit/>
          </a:bodyPr>
          <a:lstStyle/>
          <a:p>
            <a:r>
              <a:rPr lang="ru-RU" sz="1900" dirty="0"/>
              <a:t>В качестве источника постоянного тока сварочного агрегата поначалу использовался просто </a:t>
            </a:r>
            <a:r>
              <a:rPr lang="ru-RU" sz="1900" dirty="0">
                <a:hlinkClick r:id="rId2" tooltip="Селен"/>
              </a:rPr>
              <a:t>селеновый</a:t>
            </a:r>
            <a:r>
              <a:rPr lang="ru-RU" sz="1900" dirty="0"/>
              <a:t> выпрямитель.</a:t>
            </a:r>
          </a:p>
          <a:p>
            <a:r>
              <a:rPr lang="ru-RU" sz="1900" dirty="0"/>
              <a:t>Несколько позднее </a:t>
            </a:r>
            <a:r>
              <a:rPr lang="ru-RU" sz="1900" dirty="0">
                <a:hlinkClick r:id="rId3" tooltip="Сварочный трансформатор"/>
              </a:rPr>
              <a:t>сварочные трансформаторы</a:t>
            </a:r>
            <a:r>
              <a:rPr lang="ru-RU" sz="1900" dirty="0"/>
              <a:t> были модифицированы для того, чтобы сделать возможным генерацию токов высокой частоты, хорошо подходящих для сварки этим способом. Последние шаги повели за собой оптимизацию динамических характеристик сварочных источников питания, то есть регулировку сварочного тока и напряжения по </a:t>
            </a:r>
            <a:r>
              <a:rPr lang="ru-RU" sz="1900" dirty="0" smtClean="0"/>
              <a:t>времени</a:t>
            </a:r>
            <a:endParaRPr lang="ru-RU" dirty="0"/>
          </a:p>
          <a:p>
            <a:endParaRPr lang="ru-RU"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6582" y="2564904"/>
            <a:ext cx="6213486"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6669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332656"/>
            <a:ext cx="8229600" cy="5793507"/>
          </a:xfrm>
        </p:spPr>
        <p:txBody>
          <a:bodyPr>
            <a:normAutofit fontScale="70000" lnSpcReduction="20000"/>
          </a:bodyPr>
          <a:lstStyle/>
          <a:p>
            <a:r>
              <a:rPr lang="ru-RU" dirty="0"/>
              <a:t>При сварке неплавящимся электродом в атмосфере защитного газа электрическая дуга зажигается между вольфрамовым электродом и свариваемыми материалами основания, либо сварочной ванной. Возникающее тепло расплавляет кромки свариваемых деталей материала основания и вместе с ними — присадочный материал.</a:t>
            </a:r>
          </a:p>
          <a:p>
            <a:r>
              <a:rPr lang="ru-RU" dirty="0"/>
              <a:t>Этот способ при ручной сварке является относительно сложным, поскольку требует квалификации сварщика. Подобно газовой сварке, </a:t>
            </a:r>
            <a:r>
              <a:rPr lang="ru-RU" b="1" dirty="0"/>
              <a:t>GTAW</a:t>
            </a:r>
            <a:r>
              <a:rPr lang="ru-RU" dirty="0"/>
              <a:t> обычно требует работать двумя руками, поскольку в процессе сваривания сварщик одной рукой держит держатель с электродом (сварочную горелку), притом другой рукой подаёт пруток в зону </a:t>
            </a:r>
            <a:r>
              <a:rPr lang="ru-RU" dirty="0" smtClean="0"/>
              <a:t>сварки.</a:t>
            </a:r>
            <a:endParaRPr lang="ru-RU" dirty="0"/>
          </a:p>
          <a:p>
            <a:r>
              <a:rPr lang="ru-RU" dirty="0"/>
              <a:t>Важное значение также имеет поддержание короткой длины дуги при одновременном недопущении контакта между электродом и </a:t>
            </a:r>
            <a:r>
              <a:rPr lang="ru-RU" dirty="0" smtClean="0"/>
              <a:t>заготовками.</a:t>
            </a:r>
            <a:endParaRPr lang="ru-RU" dirty="0"/>
          </a:p>
          <a:p>
            <a:r>
              <a:rPr lang="ru-RU" dirty="0"/>
              <a:t>Сварочную дугу при методе, называемом </a:t>
            </a:r>
            <a:r>
              <a:rPr lang="ru-RU" b="1" dirty="0"/>
              <a:t>TIG AC</a:t>
            </a:r>
            <a:r>
              <a:rPr lang="ru-RU" dirty="0"/>
              <a:t> получают от источника, в качестве которого ныне почти всегда используется высокочастотный генератор (подобный </a:t>
            </a:r>
            <a:r>
              <a:rPr lang="ru-RU" dirty="0">
                <a:hlinkClick r:id="rId2" tooltip="Трансформатор Теслы"/>
              </a:rPr>
              <a:t>трансформатору </a:t>
            </a:r>
            <a:r>
              <a:rPr lang="ru-RU" dirty="0" err="1">
                <a:hlinkClick r:id="rId2" tooltip="Трансформатор Теслы"/>
              </a:rPr>
              <a:t>Теслы</a:t>
            </a:r>
            <a:r>
              <a:rPr lang="ru-RU" dirty="0"/>
              <a:t>), дающий </a:t>
            </a:r>
            <a:r>
              <a:rPr lang="ru-RU" dirty="0">
                <a:hlinkClick r:id="rId3" tooltip="Искровой разряд"/>
              </a:rPr>
              <a:t>электрическую искру</a:t>
            </a:r>
            <a:r>
              <a:rPr lang="ru-RU" dirty="0"/>
              <a:t>. Эта искра является проводящей средой для протекания сварочного тока в среде защитного газа и позволяет дуге зажечься в то время, как электрод отделён от свариваемых деталей расстоянием 1,5…3 </a:t>
            </a:r>
            <a:r>
              <a:rPr lang="ru-RU" dirty="0" smtClean="0">
                <a:hlinkClick r:id="rId4" tooltip="Миллиметр"/>
              </a:rPr>
              <a:t>мм</a:t>
            </a:r>
            <a:r>
              <a:rPr lang="ru-RU" dirty="0" smtClean="0"/>
              <a:t>.</a:t>
            </a:r>
            <a:endParaRPr lang="ru-RU" dirty="0"/>
          </a:p>
          <a:p>
            <a:endParaRPr lang="ru-RU" dirty="0"/>
          </a:p>
        </p:txBody>
      </p:sp>
    </p:spTree>
    <p:extLst>
      <p:ext uri="{BB962C8B-B14F-4D97-AF65-F5344CB8AC3E}">
        <p14:creationId xmlns:p14="http://schemas.microsoft.com/office/powerpoint/2010/main" val="419558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404664"/>
            <a:ext cx="8229600" cy="6120680"/>
          </a:xfrm>
        </p:spPr>
        <p:txBody>
          <a:bodyPr>
            <a:normAutofit fontScale="55000" lnSpcReduction="20000"/>
          </a:bodyPr>
          <a:lstStyle/>
          <a:p>
            <a:r>
              <a:rPr lang="ru-RU" sz="3600" dirty="0"/>
              <a:t>Как только дуга зажглась, то для того, чтоб создать сварное соединение, сварщик перемещает держатель в небольшого размера центр зоны сварки, имеющий вид окружности, размер которой зависит от размера электрода и величины тока. Поддерживая постоянное расстояние между электродом и заготовкой, сварщик затем немного отводит держатель и наклоняет его назад приблизительно на 10—15° от вертикального положения. Металл из присадочного прутка добавляется вручную к передней кромке сварного соединения по мере необходимости.</a:t>
            </a:r>
          </a:p>
          <a:p>
            <a:r>
              <a:rPr lang="ru-RU" sz="3600" dirty="0"/>
              <a:t>Сварщики часто используют также технологию быстрого чередования продвижения держателя (получения собственно шва сварного соединения) с добавлением присадочного материала. Присадочный пруток добавляется к сварному соединению каждый раз при продвижении электрода, оставаясь однако при этом всегда в среде защитного газа для предотвращения окисления его поверхности и загрязнения зоны сварки. Присадочные прутки из металлов с низкой температурой плавления, например, из алюминия, требуют, чтобы сварщик держал их на некотором расстоянии от дуги, но в то же время — в среде защитного газа. Если пруток окажется слишком близко к дуге, то он может расплавиться раньше, чем успеет вступить в контакт со сварочной ванной. По мере завершения процесса сварки, ток дуги часто постепенно уменьшают, чтобы позволить сварному шву затвердеть и предотвратить тем самым формирование трещин по </a:t>
            </a:r>
            <a:r>
              <a:rPr lang="ru-RU" sz="3600" dirty="0" smtClean="0"/>
              <a:t>краям.</a:t>
            </a:r>
            <a:endParaRPr lang="ru-RU" sz="3600" dirty="0"/>
          </a:p>
          <a:p>
            <a:endParaRPr lang="ru-RU" dirty="0"/>
          </a:p>
        </p:txBody>
      </p:sp>
    </p:spTree>
    <p:extLst>
      <p:ext uri="{BB962C8B-B14F-4D97-AF65-F5344CB8AC3E}">
        <p14:creationId xmlns:p14="http://schemas.microsoft.com/office/powerpoint/2010/main" val="372717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332656"/>
            <a:ext cx="8507288" cy="6336704"/>
          </a:xfrm>
        </p:spPr>
        <p:txBody>
          <a:bodyPr>
            <a:normAutofit/>
          </a:bodyPr>
          <a:lstStyle/>
          <a:p>
            <a:r>
              <a:rPr lang="ru-RU" sz="2600" dirty="0"/>
              <a:t>Виды неплавящихся электродов В сварочных работах используют три основных типа электродов: </a:t>
            </a:r>
            <a:r>
              <a:rPr lang="ru-RU" sz="2600" dirty="0" smtClean="0"/>
              <a:t>Угольные, Графитовые, Вольфрамовые; </a:t>
            </a:r>
            <a:r>
              <a:rPr lang="ru-RU" sz="2600" dirty="0"/>
              <a:t>Все они относятся к классу неплавящихся, однако назначение их различное. Угольные типы </a:t>
            </a:r>
            <a:r>
              <a:rPr lang="ru-RU" sz="2600" dirty="0" err="1"/>
              <a:t>расходников</a:t>
            </a:r>
            <a:r>
              <a:rPr lang="ru-RU" sz="2600" dirty="0"/>
              <a:t> применяют в основном в воздушно-дуговой резке металла, а также устранения различных дефектов на поверхности изделий. Сварочные работы с использованием угольных стержней проводят на токах силой максимум 580 Ампер. Существует </a:t>
            </a:r>
            <a:r>
              <a:rPr lang="ru-RU" sz="2400" dirty="0"/>
              <a:t>три основных разновидности электродов</a:t>
            </a:r>
            <a:r>
              <a:rPr lang="ru-RU" dirty="0"/>
              <a:t>:</a:t>
            </a:r>
          </a:p>
          <a:p>
            <a:endParaRPr lang="ru-RU"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4293096"/>
            <a:ext cx="3767063"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9728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404664"/>
            <a:ext cx="8229600" cy="5721499"/>
          </a:xfrm>
        </p:spPr>
        <p:txBody>
          <a:bodyPr>
            <a:normAutofit fontScale="62500" lnSpcReduction="20000"/>
          </a:bodyPr>
          <a:lstStyle/>
          <a:p>
            <a:r>
              <a:rPr lang="ru-RU" dirty="0"/>
              <a:t>Круглые марки для воздушно-дуговой резки (ВДК). Плоские виды для воздушно-дугового разрезания (ВДП). Круглые типы для сварки (СК). Воздушно-дуговая резка — это способ реза металла электрической дугой, когда расплавленный металл удаляется с помощью струи сжатого воздуха. В сваривании угольные электроды используют при соединениях тонкостенных конструкций из стали и цветных металлов, а также заварки браков на поверхности литых деталей. Сваривание угольными стержнями можно проводить как без присадки, так и с присадочным материалом, уложенным по линии варки или подающимся в сварочную ванну. Электроды графитового типа используют для сварки цветных металлов и их сплавов (алюминия и меди). Такой тип </a:t>
            </a:r>
            <a:r>
              <a:rPr lang="ru-RU" dirty="0" err="1"/>
              <a:t>расходников</a:t>
            </a:r>
            <a:r>
              <a:rPr lang="ru-RU" dirty="0"/>
              <a:t> более доступен, в отличие от угольных аналогов. Наиболее часто используют графитовые стержни при сварке медных проводов. Такие стержни обладают массой преимуществ: они лучше переносят температурное воздействие и имеют меньший износ, а также лучше обрабатываются (режутся). Вольфрамовые неплавящиеся электроды — это наиболее широко применяемые типы в производстве и домашних мастерских. С их помощью можно сваривать различные металлы, в том числе и с использованием защиты из газа. Вольфрамовые электроды для аргонодуговой сварки бывают различного состава и, в зависимости от этого, их делят на такие группы: </a:t>
            </a:r>
            <a:r>
              <a:rPr lang="ru-RU" dirty="0" err="1"/>
              <a:t>Лантанированные</a:t>
            </a:r>
            <a:r>
              <a:rPr lang="ru-RU" dirty="0"/>
              <a:t>. </a:t>
            </a:r>
            <a:r>
              <a:rPr lang="ru-RU" dirty="0" err="1"/>
              <a:t>Иттрированные</a:t>
            </a:r>
            <a:r>
              <a:rPr lang="ru-RU" dirty="0"/>
              <a:t>. </a:t>
            </a:r>
            <a:r>
              <a:rPr lang="ru-RU" dirty="0" err="1"/>
              <a:t>Торированные</a:t>
            </a:r>
            <a:r>
              <a:rPr lang="ru-RU" dirty="0"/>
              <a:t>. Обычные</a:t>
            </a:r>
            <a:r>
              <a:rPr lang="ru-RU" dirty="0" smtClean="0"/>
              <a:t>.</a:t>
            </a:r>
          </a:p>
          <a:p>
            <a:pPr marL="0" indent="0">
              <a:buNone/>
            </a:pPr>
            <a:r>
              <a:rPr lang="ru-RU" dirty="0" smtClean="0"/>
              <a:t> </a:t>
            </a:r>
          </a:p>
          <a:p>
            <a:endParaRPr lang="ru-RU"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4048" y="5013176"/>
            <a:ext cx="2337488" cy="147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1800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332656"/>
            <a:ext cx="8229600" cy="5793507"/>
          </a:xfrm>
        </p:spPr>
        <p:txBody>
          <a:bodyPr>
            <a:normAutofit fontScale="77500" lnSpcReduction="20000"/>
          </a:bodyPr>
          <a:lstStyle/>
          <a:p>
            <a:r>
              <a:rPr lang="ru-RU" dirty="0" smtClean="0"/>
              <a:t>Изготавливаются </a:t>
            </a:r>
            <a:r>
              <a:rPr lang="ru-RU" dirty="0"/>
              <a:t>они в виде прутка диаметром от 1 миллиметра до 4 мм. Вольфрамовый электрод очень тугоплавкий и имеет температуру плавления намного выше, чем температура самой электрической дуги, что позволяет использовать его для сварки различных типов металла (стали, но чаще алюминия, меди, нержавейки и прочих). Стрежни с добавлением тория (</a:t>
            </a:r>
            <a:r>
              <a:rPr lang="ru-RU" dirty="0" err="1"/>
              <a:t>торированные</a:t>
            </a:r>
            <a:r>
              <a:rPr lang="ru-RU" dirty="0"/>
              <a:t>) радиоактивны и, хотя величина излучения невелика, крупные промышленные предприятия их уже не используют. Использование вольфрамовых электродов Сегодня мало кто использует в домашних условиях графитовые и угольные стержни для сварки и резки, это просто нецелесообразно. А вот вольфрамовые прутки очень часто используют в бытовом хозяйстве при сварке алюминия и других цветных металлов и нержавейки. Именно такими </a:t>
            </a:r>
            <a:r>
              <a:rPr lang="ru-RU" dirty="0" err="1"/>
              <a:t>расходниками</a:t>
            </a:r>
            <a:r>
              <a:rPr lang="ru-RU" dirty="0"/>
              <a:t> происходит соединение Режимы сварки неплавящимся электродом в защитных газах определяются многими факторами: видом металла, его толщиной, защитной атмосферой и другими. В таблице собраны основные виды вольфрамовых стержней, их использование и соответствующий режим.</a:t>
            </a:r>
          </a:p>
          <a:p>
            <a:endParaRPr lang="ru-RU" dirty="0"/>
          </a:p>
        </p:txBody>
      </p:sp>
    </p:spTree>
    <p:extLst>
      <p:ext uri="{BB962C8B-B14F-4D97-AF65-F5344CB8AC3E}">
        <p14:creationId xmlns:p14="http://schemas.microsoft.com/office/powerpoint/2010/main" val="2460012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descr="Виды вольфрамовых стержней"/>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520" y="188640"/>
            <a:ext cx="8712968" cy="6336704"/>
          </a:xfrm>
          <a:prstGeom prst="rect">
            <a:avLst/>
          </a:prstGeom>
          <a:noFill/>
          <a:ln>
            <a:noFill/>
          </a:ln>
        </p:spPr>
      </p:pic>
    </p:spTree>
    <p:extLst>
      <p:ext uri="{BB962C8B-B14F-4D97-AF65-F5344CB8AC3E}">
        <p14:creationId xmlns:p14="http://schemas.microsoft.com/office/powerpoint/2010/main" val="1784935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332656"/>
            <a:ext cx="8229600" cy="5793507"/>
          </a:xfrm>
        </p:spPr>
        <p:txBody>
          <a:bodyPr>
            <a:normAutofit fontScale="25000" lnSpcReduction="20000"/>
          </a:bodyPr>
          <a:lstStyle/>
          <a:p>
            <a:r>
              <a:rPr lang="ru-RU" sz="8000" dirty="0"/>
              <a:t> Это западная классификация вольфрамовых стержней. Отечественные производители выпускают неплавящиеся электроды под обозначением ЭВЛ и ЭВИ (</a:t>
            </a:r>
            <a:r>
              <a:rPr lang="ru-RU" sz="8000" dirty="0" err="1"/>
              <a:t>лантановые</a:t>
            </a:r>
            <a:r>
              <a:rPr lang="ru-RU" sz="8000" dirty="0"/>
              <a:t> и иттриевые стержни). Также производятся прутки из чистого вольфрама ЭВЧ. Торцы также отмечают цветом в зависимости от назначения </a:t>
            </a:r>
            <a:r>
              <a:rPr lang="ru-RU" sz="8000" dirty="0" err="1"/>
              <a:t>расходника</a:t>
            </a:r>
            <a:r>
              <a:rPr lang="ru-RU" sz="8000" dirty="0"/>
              <a:t>. Сила тока и режим зависит от металла и характеристик заготовки. Так, например, алюминий вариться обязательно на переменном токе, а стали — в том или другом режимах. Нержавейку сваривают на постоянном токе, как и медные изделия. Важно также при использовании неплавящихся электродов установить полярность. Прямая полярность — кабель горелки ставят на минус, а массу на плюс, обратная — держатель на плюсе, а масса на минусе. Режим полярности определяет форму проваренного металла. При прямой полярности и постоянном токе провар глубокий и узкий, при постоянном с обратной — широкий поверхностный провар, а с переменным — овальный. Если используют стержни с маркировкой ЭВЧ (чистые), то сварку можно проводить только на переменном токе, все остальные (ЭВИ, ЭВЛ, ЭВТ) на том или ином режиме с требуемой полярностью. В процессе сварочных работ вольфрам затупляется и его нужно заточить</a:t>
            </a:r>
            <a:r>
              <a:rPr lang="ru-RU" sz="7200" dirty="0"/>
              <a:t>. </a:t>
            </a:r>
            <a:endParaRPr lang="ru-RU" dirty="0"/>
          </a:p>
        </p:txBody>
      </p:sp>
    </p:spTree>
    <p:extLst>
      <p:ext uri="{BB962C8B-B14F-4D97-AF65-F5344CB8AC3E}">
        <p14:creationId xmlns:p14="http://schemas.microsoft.com/office/powerpoint/2010/main" val="3208859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260648"/>
            <a:ext cx="8229600" cy="5865515"/>
          </a:xfrm>
        </p:spPr>
        <p:txBody>
          <a:bodyPr>
            <a:normAutofit fontScale="92500" lnSpcReduction="10000"/>
          </a:bodyPr>
          <a:lstStyle/>
          <a:p>
            <a:r>
              <a:rPr lang="ru-RU" sz="2200" dirty="0"/>
              <a:t>Угол острия выдерживают в 30 градусов при длине 2-3-х диаметров электрода. Сам кончик притупляют на 0,5 миллиметра. Несмотря на название, такие электроды все равно имеют свою степень расхода, хоть и незначительную. Например, при бесперебойной работе в течение 5 часов вольфрамовый стержень теряет около 10 мм своей длины. Чтобы сократить этот показатель, сварку нужно начинать с подачи газа, а потом поджигания дуги. Также нельзя стучать кончиком неплавящегося стержня непосредственно по заготовкам. Дугу зажигают на графите и переносят на место сварки.  </a:t>
            </a:r>
            <a:endParaRPr lang="ru-RU" sz="2200" dirty="0" smtClean="0"/>
          </a:p>
          <a:p>
            <a:r>
              <a:rPr lang="ru-RU" sz="2200" dirty="0" smtClean="0"/>
              <a:t>Типичные </a:t>
            </a:r>
            <a:r>
              <a:rPr lang="ru-RU" sz="2200" dirty="0"/>
              <a:t>параметры технологического процесса </a:t>
            </a:r>
          </a:p>
          <a:p>
            <a:pPr lvl="0"/>
            <a:r>
              <a:rPr lang="ru-RU" sz="2200" dirty="0">
                <a:hlinkClick r:id="rId2" tooltip="Сила тока"/>
              </a:rPr>
              <a:t>Сварочный ток</a:t>
            </a:r>
            <a:r>
              <a:rPr lang="ru-RU" sz="2200" dirty="0"/>
              <a:t>: 5…600 </a:t>
            </a:r>
            <a:r>
              <a:rPr lang="ru-RU" sz="2200" dirty="0">
                <a:hlinkClick r:id="rId3" tooltip="Ампер"/>
              </a:rPr>
              <a:t>A</a:t>
            </a:r>
            <a:r>
              <a:rPr lang="ru-RU" sz="2200" dirty="0"/>
              <a:t> (постоянный либо импульсный)</a:t>
            </a:r>
          </a:p>
          <a:p>
            <a:pPr lvl="0"/>
            <a:r>
              <a:rPr lang="ru-RU" sz="2200" dirty="0">
                <a:hlinkClick r:id="rId4" tooltip="Электрическое напряжение"/>
              </a:rPr>
              <a:t>Напряжение</a:t>
            </a:r>
            <a:r>
              <a:rPr lang="ru-RU" sz="2200" dirty="0"/>
              <a:t>: 10…30 </a:t>
            </a:r>
            <a:r>
              <a:rPr lang="ru-RU" sz="2200" dirty="0">
                <a:hlinkClick r:id="rId5" tooltip="Вольт"/>
              </a:rPr>
              <a:t>В</a:t>
            </a:r>
            <a:endParaRPr lang="ru-RU" sz="2200" dirty="0"/>
          </a:p>
          <a:p>
            <a:pPr lvl="0"/>
            <a:r>
              <a:rPr lang="ru-RU" sz="2200" dirty="0"/>
              <a:t>Скорость сваривания: 0,04…0,4 </a:t>
            </a:r>
            <a:r>
              <a:rPr lang="ru-RU" sz="2200" dirty="0" smtClean="0">
                <a:hlinkClick r:id="rId6" tooltip="Метр"/>
              </a:rPr>
              <a:t>м</a:t>
            </a:r>
            <a:r>
              <a:rPr lang="ru-RU" sz="2200" dirty="0" smtClean="0"/>
              <a:t>/</a:t>
            </a:r>
            <a:r>
              <a:rPr lang="ru-RU" sz="2200" dirty="0" smtClean="0">
                <a:hlinkClick r:id="rId7" tooltip="Минута"/>
              </a:rPr>
              <a:t>мин</a:t>
            </a:r>
            <a:endParaRPr lang="ru-RU" sz="2200" dirty="0"/>
          </a:p>
          <a:p>
            <a:pPr lvl="0"/>
            <a:r>
              <a:rPr lang="ru-RU" sz="2200" dirty="0"/>
              <a:t>Диаметр электрода: 0,5…8,0 </a:t>
            </a:r>
            <a:r>
              <a:rPr lang="ru-RU" sz="2200" dirty="0">
                <a:hlinkClick r:id="rId8" tooltip="Миллиметр"/>
              </a:rPr>
              <a:t>мм</a:t>
            </a:r>
            <a:endParaRPr lang="ru-RU" sz="2200" dirty="0"/>
          </a:p>
          <a:p>
            <a:pPr lvl="0"/>
            <a:r>
              <a:rPr lang="ru-RU" sz="2200" dirty="0"/>
              <a:t>Расход защитного газа: 5…20 </a:t>
            </a:r>
            <a:r>
              <a:rPr lang="ru-RU" sz="2200" dirty="0" smtClean="0">
                <a:hlinkClick r:id="rId9" tooltip="Литр"/>
              </a:rPr>
              <a:t>л</a:t>
            </a:r>
            <a:r>
              <a:rPr lang="ru-RU" sz="2200" dirty="0" smtClean="0"/>
              <a:t>/</a:t>
            </a:r>
            <a:r>
              <a:rPr lang="ru-RU" sz="2200" dirty="0" smtClean="0">
                <a:hlinkClick r:id="rId7" tooltip="Минута"/>
              </a:rPr>
              <a:t>мин</a:t>
            </a:r>
            <a:endParaRPr lang="ru-RU" sz="2200" baseline="30000" dirty="0"/>
          </a:p>
          <a:p>
            <a:pPr lvl="0"/>
            <a:r>
              <a:rPr lang="ru-RU" sz="2200" dirty="0" smtClean="0"/>
              <a:t> Частота </a:t>
            </a:r>
            <a:r>
              <a:rPr lang="ru-RU" sz="2200" dirty="0"/>
              <a:t>источника сварочного тока (для метода TIG AC): 60…200 Гц</a:t>
            </a:r>
          </a:p>
          <a:p>
            <a:pPr lvl="0"/>
            <a:r>
              <a:rPr lang="ru-RU" sz="2200" dirty="0"/>
              <a:t>Баланс источника сварочного тока (для метода TIG AC): −45 % …+ 45 % (Европа), 10 % … 90 % (США</a:t>
            </a:r>
            <a:r>
              <a:rPr lang="ru-RU" sz="2200" dirty="0" smtClean="0"/>
              <a:t>)</a:t>
            </a:r>
            <a:endParaRPr lang="ru-RU" sz="2200" dirty="0"/>
          </a:p>
          <a:p>
            <a:endParaRPr lang="ru-RU" dirty="0"/>
          </a:p>
        </p:txBody>
      </p:sp>
    </p:spTree>
    <p:extLst>
      <p:ext uri="{BB962C8B-B14F-4D97-AF65-F5344CB8AC3E}">
        <p14:creationId xmlns:p14="http://schemas.microsoft.com/office/powerpoint/2010/main" val="372406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332656"/>
            <a:ext cx="8229600" cy="5793507"/>
          </a:xfrm>
        </p:spPr>
        <p:txBody>
          <a:bodyPr>
            <a:normAutofit lnSpcReduction="10000"/>
          </a:bodyPr>
          <a:lstStyle/>
          <a:p>
            <a:r>
              <a:rPr lang="ru-RU" sz="1800" dirty="0"/>
              <a:t>Преимущества и недостатки </a:t>
            </a:r>
          </a:p>
          <a:p>
            <a:r>
              <a:rPr lang="ru-RU" sz="1800" dirty="0"/>
              <a:t>К преимуществам можно отнести:</a:t>
            </a:r>
          </a:p>
          <a:p>
            <a:pPr lvl="0"/>
            <a:r>
              <a:rPr lang="ru-RU" sz="1800" dirty="0"/>
              <a:t>Минимальные деформации в свариваемых металлах из-за маленькой зоны прогрева;</a:t>
            </a:r>
          </a:p>
          <a:p>
            <a:pPr lvl="0"/>
            <a:r>
              <a:rPr lang="ru-RU" sz="1800" dirty="0"/>
              <a:t>Высокое качество соединения, за счет защиты сварочной ванны аргоном, который вытесняет кислород;</a:t>
            </a:r>
          </a:p>
          <a:p>
            <a:pPr lvl="0"/>
            <a:r>
              <a:rPr lang="ru-RU" sz="1800" dirty="0"/>
              <a:t>Скорость выполнения работ;</a:t>
            </a:r>
          </a:p>
          <a:p>
            <a:pPr lvl="0"/>
            <a:r>
              <a:rPr lang="ru-RU" sz="1800" dirty="0"/>
              <a:t>Не требует трудозатрат на пост обработку шва;</a:t>
            </a:r>
          </a:p>
          <a:p>
            <a:pPr lvl="0"/>
            <a:r>
              <a:rPr lang="ru-RU" sz="1800" dirty="0"/>
              <a:t>Более широкий спектр свариваемых материалов по сравнению с MMA;</a:t>
            </a:r>
          </a:p>
          <a:p>
            <a:r>
              <a:rPr lang="ru-RU" sz="1800" dirty="0"/>
              <a:t>Недостатки:</a:t>
            </a:r>
          </a:p>
          <a:p>
            <a:pPr lvl="0"/>
            <a:r>
              <a:rPr lang="ru-RU" sz="1800" dirty="0"/>
              <a:t>Сложность работы на улице во время ветреной погоды. Ветер выдувает защитный газ из зоны сварки, бороться с этим можно используя заграждения либо увеличивая подачу газа, что приведет к его увеличенному расходу;</a:t>
            </a:r>
          </a:p>
          <a:p>
            <a:pPr lvl="0"/>
            <a:r>
              <a:rPr lang="ru-RU" sz="1800" dirty="0"/>
              <a:t>Требуется более качественная подготовка металлов перед сваркой в сравнении MMA;</a:t>
            </a:r>
          </a:p>
          <a:p>
            <a:pPr lvl="0"/>
            <a:r>
              <a:rPr lang="ru-RU" sz="1800" dirty="0"/>
              <a:t>Конструкция горелки делает не очень удобным сваривание деталей под острым углом;</a:t>
            </a:r>
          </a:p>
          <a:p>
            <a:r>
              <a:rPr lang="ru-RU" sz="1800" dirty="0"/>
              <a:t>После розжига вне зоны сварки остается след, который необходимо зачищать</a:t>
            </a:r>
          </a:p>
        </p:txBody>
      </p:sp>
    </p:spTree>
    <p:extLst>
      <p:ext uri="{BB962C8B-B14F-4D97-AF65-F5344CB8AC3E}">
        <p14:creationId xmlns:p14="http://schemas.microsoft.com/office/powerpoint/2010/main" val="3626464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404664"/>
            <a:ext cx="8229600" cy="6048672"/>
          </a:xfrm>
        </p:spPr>
        <p:txBody>
          <a:bodyPr>
            <a:normAutofit fontScale="70000" lnSpcReduction="20000"/>
          </a:bodyPr>
          <a:lstStyle/>
          <a:p>
            <a:r>
              <a:rPr lang="ru-RU" dirty="0"/>
              <a:t>Источник питания для GTAW</a:t>
            </a:r>
          </a:p>
          <a:p>
            <a:r>
              <a:rPr lang="ru-RU" dirty="0"/>
              <a:t>Источник питания, применяемый для </a:t>
            </a:r>
            <a:r>
              <a:rPr lang="ru-RU" b="1" dirty="0"/>
              <a:t>GTAW</a:t>
            </a:r>
            <a:r>
              <a:rPr lang="ru-RU" dirty="0"/>
              <a:t> — источник питания </a:t>
            </a:r>
            <a:r>
              <a:rPr lang="ru-RU" i="1" dirty="0"/>
              <a:t>постоянного</a:t>
            </a:r>
            <a:r>
              <a:rPr lang="ru-RU" dirty="0"/>
              <a:t> </a:t>
            </a:r>
            <a:r>
              <a:rPr lang="ru-RU" i="1" dirty="0"/>
              <a:t>тока</a:t>
            </a:r>
            <a:r>
              <a:rPr lang="ru-RU" dirty="0"/>
              <a:t>; что означает: ток (а значит и тепло, разогревающее зону сварки) сохраняется относительно постоянным, вне зависимости от длины дуги и подводимого напряжения. Это важно ввиду того, что в большинстве применений </a:t>
            </a:r>
            <a:r>
              <a:rPr lang="ru-RU" b="1" dirty="0"/>
              <a:t>GTAW</a:t>
            </a:r>
            <a:r>
              <a:rPr lang="ru-RU" dirty="0"/>
              <a:t>- как ручных, так и полуавтоматических, оператору требуется рукой держать держатель с электродом. В том случае, если бы вместо источника </a:t>
            </a:r>
            <a:r>
              <a:rPr lang="ru-RU" i="1" dirty="0"/>
              <a:t>постоянного тока</a:t>
            </a:r>
            <a:r>
              <a:rPr lang="ru-RU" dirty="0"/>
              <a:t> применялся источник </a:t>
            </a:r>
            <a:r>
              <a:rPr lang="ru-RU" i="1" dirty="0"/>
              <a:t>постоянного напряжения</a:t>
            </a:r>
            <a:r>
              <a:rPr lang="ru-RU" dirty="0"/>
              <a:t>, обеспечение приемлемой длины дуги было бы трудной задачей, ибо изменения степени нагрева, вызванное изменением сварочного тока делало бы процесс сварки намного более трудным</a:t>
            </a:r>
            <a:r>
              <a:rPr lang="ru-RU" dirty="0" smtClean="0"/>
              <a:t>.</a:t>
            </a:r>
            <a:endParaRPr lang="ru-RU" dirty="0"/>
          </a:p>
          <a:p>
            <a:r>
              <a:rPr lang="ru-RU" dirty="0"/>
              <a:t>Предпочтительная полярность источника для </a:t>
            </a:r>
            <a:r>
              <a:rPr lang="ru-RU" b="1" dirty="0"/>
              <a:t>GTAW</a:t>
            </a:r>
            <a:r>
              <a:rPr lang="ru-RU" dirty="0"/>
              <a:t> зависит в значительной степени от типа свариваемого металла. Постоянный ток при котором электрод подключается к отрицательному полюсу </a:t>
            </a:r>
            <a:r>
              <a:rPr lang="ru-RU" i="1" dirty="0"/>
              <a:t>(DCEN)</a:t>
            </a:r>
            <a:r>
              <a:rPr lang="ru-RU" dirty="0"/>
              <a:t> используется чаще всего при сварке </a:t>
            </a:r>
            <a:r>
              <a:rPr lang="ru-RU" dirty="0">
                <a:hlinkClick r:id="rId2" tooltip="Сталь"/>
              </a:rPr>
              <a:t>сталей</a:t>
            </a:r>
            <a:r>
              <a:rPr lang="ru-RU" dirty="0"/>
              <a:t>, </a:t>
            </a:r>
            <a:r>
              <a:rPr lang="ru-RU" dirty="0">
                <a:hlinkClick r:id="rId3" tooltip="Никель"/>
              </a:rPr>
              <a:t>никеля</a:t>
            </a:r>
            <a:r>
              <a:rPr lang="ru-RU" dirty="0"/>
              <a:t>, </a:t>
            </a:r>
            <a:r>
              <a:rPr lang="ru-RU" dirty="0">
                <a:hlinkClick r:id="rId4" tooltip="Титан (элемент)"/>
              </a:rPr>
              <a:t>титана</a:t>
            </a:r>
            <a:r>
              <a:rPr lang="ru-RU" dirty="0"/>
              <a:t> и других металлов. </a:t>
            </a:r>
            <a:r>
              <a:rPr lang="ru-RU" i="1" dirty="0"/>
              <a:t>DCEN</a:t>
            </a:r>
            <a:r>
              <a:rPr lang="ru-RU" dirty="0"/>
              <a:t> также часто используется и в автоматах для сварки изделий из алюминия или магния, в которых в качестве защитного газа используется гелий</a:t>
            </a:r>
            <a:r>
              <a:rPr lang="ru-RU" dirty="0" smtClean="0"/>
              <a:t>.</a:t>
            </a:r>
            <a:endParaRPr lang="ru-RU" dirty="0"/>
          </a:p>
          <a:p>
            <a:endParaRPr lang="ru-RU" dirty="0"/>
          </a:p>
        </p:txBody>
      </p:sp>
    </p:spTree>
    <p:extLst>
      <p:ext uri="{BB962C8B-B14F-4D97-AF65-F5344CB8AC3E}">
        <p14:creationId xmlns:p14="http://schemas.microsoft.com/office/powerpoint/2010/main" val="3749701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260648"/>
            <a:ext cx="8229600" cy="5865515"/>
          </a:xfrm>
        </p:spPr>
        <p:txBody>
          <a:bodyPr>
            <a:normAutofit fontScale="70000" lnSpcReduction="20000"/>
          </a:bodyPr>
          <a:lstStyle/>
          <a:p>
            <a:r>
              <a:rPr lang="ru-RU" dirty="0"/>
              <a:t>Наиболее часто применяют постоянный ток с подачей «минуса» на электрод (в англоязычной терминологии (</a:t>
            </a:r>
            <a:r>
              <a:rPr lang="ru-RU" i="1" dirty="0"/>
              <a:t>DCEN</a:t>
            </a:r>
            <a:r>
              <a:rPr lang="ru-RU" dirty="0"/>
              <a:t>). Благодаря тому, что испускаемые электроны, образующие дугу, вызывают тепловую ионизацию среды защитного газа, на отрицательном электроде вырабатывается тепло, то есть дополнительно нагревают материал свариваемых деталей. Ионизированный защитный газ течёт в направлении электрода, а не свариваемого материала, и это может дать возможность образоваться оксидам в зоне шва на свариваемых деталях</a:t>
            </a:r>
            <a:r>
              <a:rPr lang="ru-RU" dirty="0" smtClean="0"/>
              <a:t>.</a:t>
            </a:r>
            <a:endParaRPr lang="ru-RU" dirty="0"/>
          </a:p>
          <a:p>
            <a:r>
              <a:rPr lang="ru-RU" dirty="0"/>
              <a:t>Реже применяется постоянный ток с подачей «плюса» на электрод (в англоязычной терминологии </a:t>
            </a:r>
            <a:r>
              <a:rPr lang="ru-RU" i="1" dirty="0"/>
              <a:t>DCEP</a:t>
            </a:r>
            <a:r>
              <a:rPr lang="ru-RU" dirty="0"/>
              <a:t>), прежде всего для сварки мелких деталей, из-за того, что здесь материал изделия будет значительно меньше нагреваться. Вместо того, чтобы течь в изделие со стороны электрода, как в предыдущем случае (</a:t>
            </a:r>
            <a:r>
              <a:rPr lang="ru-RU" i="1" dirty="0"/>
              <a:t>DCEN</a:t>
            </a:r>
            <a:r>
              <a:rPr lang="ru-RU" dirty="0"/>
              <a:t>), электроны идут в другом направлении</a:t>
            </a:r>
            <a:r>
              <a:rPr lang="ru-RU" dirty="0" smtClean="0"/>
              <a:t>.</a:t>
            </a:r>
            <a:endParaRPr lang="ru-RU" dirty="0"/>
          </a:p>
          <a:p>
            <a:r>
              <a:rPr lang="ru-RU" dirty="0"/>
              <a:t>Чтобы обеспечить сохранение формы и предотвратить «</a:t>
            </a:r>
            <a:r>
              <a:rPr lang="ru-RU" dirty="0" err="1"/>
              <a:t>затупление</a:t>
            </a:r>
            <a:r>
              <a:rPr lang="ru-RU" dirty="0"/>
              <a:t>» электрода, в таком случае часто используют электрод большего, в отличие от предыдущего, диаметра. Поскольку электроны текут к электроду, ионизированные потоки защитного газа подаются в сторону свариваемых деталей, очищая зону сварки, удаляя окиси и другие примеси и таким образом улучшая его качество и внешний вид</a:t>
            </a:r>
            <a:r>
              <a:rPr lang="ru-RU" dirty="0" smtClean="0"/>
              <a:t>.</a:t>
            </a:r>
            <a:endParaRPr lang="ru-RU" dirty="0"/>
          </a:p>
          <a:p>
            <a:endParaRPr lang="ru-RU" dirty="0"/>
          </a:p>
        </p:txBody>
      </p:sp>
    </p:spTree>
    <p:extLst>
      <p:ext uri="{BB962C8B-B14F-4D97-AF65-F5344CB8AC3E}">
        <p14:creationId xmlns:p14="http://schemas.microsoft.com/office/powerpoint/2010/main" val="1579501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16632"/>
            <a:ext cx="8229600" cy="6408712"/>
          </a:xfrm>
        </p:spPr>
        <p:txBody>
          <a:bodyPr>
            <a:normAutofit fontScale="70000" lnSpcReduction="20000"/>
          </a:bodyPr>
          <a:lstStyle/>
          <a:p>
            <a:r>
              <a:rPr lang="ru-RU" dirty="0"/>
              <a:t>Переменный ток, широко используемый для ручной или полуавтоматической сварки алюминия и магния, как известно, состоит из двух полуволн, в течение которых электрод и свариваемые детали поочерёдно становятся «положительным» и «отрицательным» полюсами. Поток электронов при этом непрерывно изменяет направление, что препятствует в то же время перегреву </a:t>
            </a:r>
            <a:r>
              <a:rPr lang="ru-RU" dirty="0" smtClean="0"/>
              <a:t>вольфрамового электрода и поддерживает высокую температуру в материале свариваемых деталей.</a:t>
            </a:r>
            <a:endParaRPr lang="ru-RU" dirty="0"/>
          </a:p>
          <a:p>
            <a:r>
              <a:rPr lang="ru-RU" dirty="0"/>
              <a:t>Окислы с поверхности удаляются в течение той части цикла, когда на электрод подводится положительное напряжение. А наиболее глубокий нагрев свариваемых деталей будет в течение того интервала времени, когда полярность напряжения на электроде — отрицательная. Некоторые источники питания позволяют оператору использовать переменный ток асимметричной формы, с возможностью задания точного процента времени нахождения тока в каждой из полярностей, позволяя </a:t>
            </a:r>
            <a:r>
              <a:rPr lang="ru-RU" dirty="0" err="1"/>
              <a:t>т.о</a:t>
            </a:r>
            <a:r>
              <a:rPr lang="ru-RU" dirty="0"/>
              <a:t>. лучше управлять количеством подводимого тепла от источника питания и улучшая качество сварки</a:t>
            </a:r>
            <a:r>
              <a:rPr lang="ru-RU" dirty="0" smtClean="0"/>
              <a:t>.</a:t>
            </a:r>
            <a:endParaRPr lang="ru-RU" dirty="0"/>
          </a:p>
          <a:p>
            <a:r>
              <a:rPr lang="ru-RU" dirty="0"/>
              <a:t>Кроме того, оператору следует избегать </a:t>
            </a:r>
            <a:r>
              <a:rPr lang="ru-RU" dirty="0">
                <a:hlinkClick r:id="rId2" tooltip="Выпрямитель"/>
              </a:rPr>
              <a:t>выпрямления</a:t>
            </a:r>
            <a:r>
              <a:rPr lang="ru-RU" dirty="0"/>
              <a:t>, при котором дуга не сможет зажечься повторно, что может иметь место при переходе с прямой полярности («минус» на электроде), к обратной полярности («плюс» на электроде). Чтобы избежать этой проблемы, для зажигания дуги может использоваться источник питания с напряжением в форме </a:t>
            </a:r>
            <a:r>
              <a:rPr lang="ru-RU" dirty="0">
                <a:hlinkClick r:id="rId3" tooltip="Меандр (радиотехника)"/>
              </a:rPr>
              <a:t>меандра</a:t>
            </a:r>
            <a:r>
              <a:rPr lang="ru-RU" dirty="0"/>
              <a:t>, также источник напряжения высокой частоты</a:t>
            </a:r>
            <a:r>
              <a:rPr lang="ru-RU" dirty="0" smtClean="0"/>
              <a:t>.</a:t>
            </a:r>
            <a:endParaRPr lang="ru-RU" dirty="0"/>
          </a:p>
          <a:p>
            <a:endParaRPr lang="ru-RU" dirty="0"/>
          </a:p>
        </p:txBody>
      </p:sp>
    </p:spTree>
    <p:extLst>
      <p:ext uri="{BB962C8B-B14F-4D97-AF65-F5344CB8AC3E}">
        <p14:creationId xmlns:p14="http://schemas.microsoft.com/office/powerpoint/2010/main" val="3166962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332656"/>
            <a:ext cx="8229600" cy="5793507"/>
          </a:xfrm>
        </p:spPr>
        <p:txBody>
          <a:bodyPr>
            <a:normAutofit fontScale="25000" lnSpcReduction="20000"/>
          </a:bodyPr>
          <a:lstStyle/>
          <a:p>
            <a:r>
              <a:rPr lang="ru-RU" sz="7200" dirty="0" smtClean="0"/>
              <a:t>Во </a:t>
            </a:r>
            <a:r>
              <a:rPr lang="ru-RU" sz="7200" dirty="0"/>
              <a:t>многих отраслях промышленности </a:t>
            </a:r>
            <a:r>
              <a:rPr lang="ru-RU" sz="7200" b="1" dirty="0"/>
              <a:t>GTAW</a:t>
            </a:r>
            <a:r>
              <a:rPr lang="ru-RU" sz="7200" dirty="0"/>
              <a:t> используется для сварки тонких заготовок, в первую очередь из цветных металлов. Эта технология находит всё более и более широкое применение при изготовлении космических транспортных средств, и часто также применяется для сварки тонкостенных трубок малого диаметра, подобных используемым в производстве велосипедов. Кроме того, </a:t>
            </a:r>
            <a:r>
              <a:rPr lang="ru-RU" sz="7200" b="1" dirty="0"/>
              <a:t>GTAW</a:t>
            </a:r>
            <a:r>
              <a:rPr lang="ru-RU" sz="7200" dirty="0"/>
              <a:t> часто используется для создания заготовок, или же для первого прохода при сварке трубопроводов различных диаметров. Процесс также широко используют при работах по обслуживанию и ремонту, например, при ремонте инструментов и приборов, в первую очередь это относится к деталям, изготовленным из алюминия и магния. </a:t>
            </a:r>
          </a:p>
          <a:p>
            <a:r>
              <a:rPr lang="ru-RU" sz="7200" dirty="0"/>
              <a:t>Поскольку металл при данном методе не переносится напрямую электрической дугой, здесь становится доступным обширный ассортимент металлов, используемых в качестве присадочных материалов. Фактически, никакой другой процесс сварки не позволяет сварку столь широкой номенклатуры сплавов при самых разнообразных конфигурациях изделий. Сплавы металлов для присадочных прутков, такие как элементарные алюминий и хром, из-за испарения под воздействием электрической дуги могут просто улетучиться. Но этого не произойдёт в случае использования процесса </a:t>
            </a:r>
            <a:r>
              <a:rPr lang="ru-RU" sz="7200" b="1" dirty="0"/>
              <a:t>GTAW</a:t>
            </a:r>
            <a:r>
              <a:rPr lang="ru-RU" sz="7200" dirty="0"/>
              <a:t>. Поскольку изделия, полученные в результате сварки, будут иметь тот же самый или близкий химический состав, что и оригинальный основной компонент (или соответствующие основные компоненты) сплава, сварка, полученная по методу </a:t>
            </a:r>
            <a:r>
              <a:rPr lang="ru-RU" sz="7200" b="1" dirty="0"/>
              <a:t>GTAW</a:t>
            </a:r>
            <a:r>
              <a:rPr lang="ru-RU" sz="7200" dirty="0"/>
              <a:t> получается очень стойкой к коррозии и механическим повреждениям в течение длительных периодов времени, что </a:t>
            </a:r>
            <a:r>
              <a:rPr lang="ru-RU" sz="7200" dirty="0" err="1"/>
              <a:t>т.о</a:t>
            </a:r>
            <a:r>
              <a:rPr lang="ru-RU" sz="7200" dirty="0"/>
              <a:t>. делает данную технологию почти незаменимым выбором для столь ответственных операций, как заваривание контейнеров с </a:t>
            </a:r>
            <a:r>
              <a:rPr lang="ru-RU" sz="7200" dirty="0">
                <a:hlinkClick r:id="rId2" tooltip="Сухое хранилище отработанного ядерного топлива"/>
              </a:rPr>
              <a:t>отработанным ядерным топливом</a:t>
            </a:r>
            <a:r>
              <a:rPr lang="ru-RU" sz="7200" dirty="0"/>
              <a:t> перед их захоронением. </a:t>
            </a:r>
          </a:p>
          <a:p>
            <a:endParaRPr lang="ru-RU" dirty="0"/>
          </a:p>
        </p:txBody>
      </p:sp>
    </p:spTree>
    <p:extLst>
      <p:ext uri="{BB962C8B-B14F-4D97-AF65-F5344CB8AC3E}">
        <p14:creationId xmlns:p14="http://schemas.microsoft.com/office/powerpoint/2010/main" val="4131672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332656"/>
            <a:ext cx="8229600" cy="5793507"/>
          </a:xfrm>
        </p:spPr>
        <p:txBody>
          <a:bodyPr>
            <a:normAutofit fontScale="62500" lnSpcReduction="20000"/>
          </a:bodyPr>
          <a:lstStyle/>
          <a:p>
            <a:r>
              <a:rPr lang="ru-RU" dirty="0" smtClean="0">
                <a:hlinkClick r:id="rId2" tooltip="Сварщик"/>
              </a:rPr>
              <a:t>Сварщик</a:t>
            </a:r>
            <a:r>
              <a:rPr lang="ru-RU" dirty="0"/>
              <a:t> в процессе проведения работ должен пользоваться </a:t>
            </a:r>
            <a:r>
              <a:rPr lang="ru-RU" dirty="0">
                <a:hlinkClick r:id="rId3" tooltip="Костюм сварщика"/>
              </a:rPr>
              <a:t>защитной спецодеждой</a:t>
            </a:r>
            <a:r>
              <a:rPr lang="ru-RU" dirty="0"/>
              <a:t>, включая костюм сварщика, состоящий из штанов и куртки с длинными рукавами</a:t>
            </a:r>
            <a:r>
              <a:rPr lang="ru-RU" dirty="0" smtClean="0"/>
              <a:t>, </a:t>
            </a:r>
            <a:r>
              <a:rPr lang="ru-RU" dirty="0" smtClean="0">
                <a:hlinkClick r:id="rId4" tooltip="Перчатки"/>
              </a:rPr>
              <a:t>перчаток</a:t>
            </a:r>
            <a:r>
              <a:rPr lang="ru-RU" dirty="0"/>
              <a:t> и </a:t>
            </a:r>
            <a:r>
              <a:rPr lang="ru-RU" dirty="0">
                <a:hlinkClick r:id="rId5" tooltip="Сварочная маска"/>
              </a:rPr>
              <a:t>маски</a:t>
            </a:r>
            <a:r>
              <a:rPr lang="ru-RU" dirty="0"/>
              <a:t> и для защиты от жёсткого </a:t>
            </a:r>
            <a:r>
              <a:rPr lang="ru-RU" dirty="0">
                <a:hlinkClick r:id="rId6" tooltip="Ультрафиолетовое излучение"/>
              </a:rPr>
              <a:t>ультрафиолета</a:t>
            </a:r>
            <a:r>
              <a:rPr lang="ru-RU" dirty="0"/>
              <a:t>. В связи с тем, что при </a:t>
            </a:r>
            <a:r>
              <a:rPr lang="ru-RU" b="1" dirty="0"/>
              <a:t>GTAW</a:t>
            </a:r>
            <a:r>
              <a:rPr lang="ru-RU" dirty="0"/>
              <a:t> не испускается дым, который при обычной дуговой сварке является продуктами реакции флюса с кислородом воздуха и свариваемыми изделиями, то здесь при горении электрической дуги не образуется газообразных и твердых частиц (шлака); но сама дуга горит много ярче, чем при обычной дуговой сварке, подвергая оператора воздействию жёсткого ультрафиолетового излучения. Ультрафиолетовое излучение дуги может иметь различные уровни и длины волн, в отличие от солнечного ультрафиолета; но ввиду того, что сварщик присутствует непосредственно вблизи источника излучения, его интенсивность будет очень сильной.</a:t>
            </a:r>
          </a:p>
          <a:p>
            <a:r>
              <a:rPr lang="ru-RU" dirty="0"/>
              <a:t>Горящая дуга способна потенциально нанести вред здоровью, в том числе яркими вспышками повредить зрение (</a:t>
            </a:r>
            <a:r>
              <a:rPr lang="ru-RU" dirty="0" err="1">
                <a:hlinkClick r:id="rId7" tooltip="Электроофтальмия"/>
              </a:rPr>
              <a:t>электроофтальмия</a:t>
            </a:r>
            <a:r>
              <a:rPr lang="ru-RU" dirty="0"/>
              <a:t>) нанести повреждение коже, подобно сильному </a:t>
            </a:r>
            <a:r>
              <a:rPr lang="ru-RU" dirty="0">
                <a:hlinkClick r:id="rId8" tooltip="Загар"/>
              </a:rPr>
              <a:t>загару</a:t>
            </a:r>
            <a:r>
              <a:rPr lang="ru-RU" dirty="0"/>
              <a:t>. Для защиты от нежелательных воздействий </a:t>
            </a:r>
            <a:r>
              <a:rPr lang="ru-RU" dirty="0">
                <a:hlinkClick r:id="rId6" tooltip="Ультрафиолетовое излучение"/>
              </a:rPr>
              <a:t>ультрафиолета</a:t>
            </a:r>
            <a:r>
              <a:rPr lang="ru-RU" dirty="0"/>
              <a:t> сварщики надевают непрозрачные шлемы с темными стёклами, полностью покрывающие голову и шею. Современные шлемы часто снабжены </a:t>
            </a:r>
            <a:r>
              <a:rPr lang="ru-RU" dirty="0">
                <a:hlinkClick r:id="rId9" tooltip="Жидкий кристалл"/>
              </a:rPr>
              <a:t>жидкокристаллическими</a:t>
            </a:r>
            <a:r>
              <a:rPr lang="ru-RU" dirty="0"/>
              <a:t> </a:t>
            </a:r>
            <a:r>
              <a:rPr lang="ru-RU" dirty="0" err="1"/>
              <a:t>самозатемняющимися</a:t>
            </a:r>
            <a:r>
              <a:rPr lang="ru-RU" dirty="0"/>
              <a:t> (</a:t>
            </a:r>
            <a:r>
              <a:rPr lang="ru-RU" dirty="0" err="1"/>
              <a:t>фотохромными</a:t>
            </a:r>
            <a:r>
              <a:rPr lang="ru-RU" dirty="0"/>
              <a:t>) стёклами, которые </a:t>
            </a:r>
            <a:r>
              <a:rPr lang="ru-RU" dirty="0" err="1"/>
              <a:t>самозатемняются</a:t>
            </a:r>
            <a:r>
              <a:rPr lang="ru-RU" dirty="0"/>
              <a:t> под воздействием яркого света сварочной дуги. Кроме того, для защиты находящихся неподалёку рабочих и других людей от ультрафиолетового излучения сварочной дуги часто используются прозрачные сварочные экраны (щитки), изготовленные из </a:t>
            </a:r>
            <a:r>
              <a:rPr lang="ru-RU" dirty="0">
                <a:hlinkClick r:id="rId10" tooltip="Поливинилхлорид"/>
              </a:rPr>
              <a:t>поливинилхлоридной</a:t>
            </a:r>
            <a:r>
              <a:rPr lang="ru-RU" dirty="0"/>
              <a:t> плёнки</a:t>
            </a:r>
            <a:r>
              <a:rPr lang="ru-RU" dirty="0" smtClean="0"/>
              <a:t>.</a:t>
            </a:r>
            <a:endParaRPr lang="ru-RU" dirty="0"/>
          </a:p>
          <a:p>
            <a:endParaRPr lang="ru-RU" dirty="0"/>
          </a:p>
        </p:txBody>
      </p:sp>
    </p:spTree>
    <p:extLst>
      <p:ext uri="{BB962C8B-B14F-4D97-AF65-F5344CB8AC3E}">
        <p14:creationId xmlns:p14="http://schemas.microsoft.com/office/powerpoint/2010/main" val="460002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332656"/>
            <a:ext cx="8229600" cy="5793507"/>
          </a:xfrm>
        </p:spPr>
        <p:txBody>
          <a:bodyPr>
            <a:normAutofit fontScale="77500" lnSpcReduction="20000"/>
          </a:bodyPr>
          <a:lstStyle/>
          <a:p>
            <a:r>
              <a:rPr lang="ru-RU" dirty="0"/>
              <a:t>Сварщику также часто приходится иметь дело с опасными газами и </a:t>
            </a:r>
            <a:r>
              <a:rPr lang="ru-RU" dirty="0" err="1" smtClean="0">
                <a:hlinkClick r:id="rId2" tooltip="Предельно допустимая концентрация"/>
              </a:rPr>
              <a:t>макрочастицами</a:t>
            </a:r>
            <a:r>
              <a:rPr lang="ru-RU" dirty="0" smtClean="0"/>
              <a:t>. </a:t>
            </a:r>
            <a:r>
              <a:rPr lang="ru-RU" dirty="0"/>
              <a:t>Несмотря на то, что в процессе сварки не испускается дыма, яркая дуга в процессе </a:t>
            </a:r>
            <a:r>
              <a:rPr lang="ru-RU" b="1" dirty="0"/>
              <a:t>GTAW</a:t>
            </a:r>
            <a:r>
              <a:rPr lang="ru-RU" dirty="0"/>
              <a:t> может пробить окружающий воздушный промежуток, образуя </a:t>
            </a:r>
            <a:r>
              <a:rPr lang="ru-RU" dirty="0">
                <a:hlinkClick r:id="rId3" tooltip="Озон"/>
              </a:rPr>
              <a:t>озон</a:t>
            </a:r>
            <a:r>
              <a:rPr lang="ru-RU" dirty="0"/>
              <a:t> и оксиды азота. Озон и оксиды азота реагируют с тканью легких, из-за чего во влажной среде происходит реакция образования азотной кислоты, а также горения озона. Хотя воздействия перечисленных процессов и умеренны, однако их продолжительное воздействие, а также неоднократное периодическое воздействие могут вызвать эмфизему и отек легких, что может привести к преждевременной смерти. Поэтому необходимо контролировать параметры воздуха в помещении, где производятся работы. Точно так же дуга, благодаря её высокой температуре, может вызвать образование ядовитых газов и токсичных соединений из материалов, применяемых в целях очистки и обезжиривания места сварки. Поэтому вблизи места сварки нельзя производить операции по очистке с использованием этих агентов, а также требуется надлежащим образом обеспечить необходимую вентиляцию для защиты сварщика</a:t>
            </a:r>
            <a:r>
              <a:rPr lang="ru-RU" dirty="0" smtClean="0"/>
              <a:t>.</a:t>
            </a:r>
            <a:endParaRPr lang="ru-RU" dirty="0"/>
          </a:p>
          <a:p>
            <a:endParaRPr lang="ru-RU" dirty="0"/>
          </a:p>
        </p:txBody>
      </p:sp>
    </p:spTree>
    <p:extLst>
      <p:ext uri="{BB962C8B-B14F-4D97-AF65-F5344CB8AC3E}">
        <p14:creationId xmlns:p14="http://schemas.microsoft.com/office/powerpoint/2010/main" val="567855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User\Downloads\2017-10-26 10-22-3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1273137" y="1273385"/>
            <a:ext cx="6857754" cy="43114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User\Downloads\2017-10-26 10-23-4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3298863" y="1012863"/>
            <a:ext cx="6857753" cy="4832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687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User\Downloads\2019-10-01 12-25-46 (1).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3999" cy="6957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81651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Апекс">
  <a:themeElements>
    <a:clrScheme name="Апекс">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Апекс">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Апекс">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62</TotalTime>
  <Words>1327</Words>
  <Application>Microsoft Office PowerPoint</Application>
  <PresentationFormat>Экран (4:3)</PresentationFormat>
  <Paragraphs>73</Paragraphs>
  <Slides>23</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23</vt:i4>
      </vt:variant>
    </vt:vector>
  </HeadingPairs>
  <TitlesOfParts>
    <vt:vector size="24" baseType="lpstr">
      <vt:lpstr>Апекс</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Владос савченко</cp:lastModifiedBy>
  <cp:revision>47</cp:revision>
  <dcterms:created xsi:type="dcterms:W3CDTF">2020-11-18T08:50:47Z</dcterms:created>
  <dcterms:modified xsi:type="dcterms:W3CDTF">2024-05-14T13:53:40Z</dcterms:modified>
</cp:coreProperties>
</file>